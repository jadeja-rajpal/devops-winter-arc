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81adb8c-eae9-a020-794d-915f9720b140}">
          <p14:sldIdLst>
            <p14:sldId id="256"/>
            <p14:sldId id="257"/>
            <p14:sldId id="258"/>
            <p14:sldId id="259"/>
            <p14:sldId id="260"/>
            <p14:sldId id="261"/>
            <p14:sldId id="262"/>
          </p14:sldIdLst>
        </p14:section>
        <p14:section name="Day 1" id="{0aa937b5-bf71-f87a-56bc-1aea62efad53}">
          <p14:sldIdLst>
            <p14:sldId id="263"/>
            <p14:sldId id="264"/>
            <p14:sldId id="265"/>
            <p14:sldId id="266"/>
            <p14:sldId id="267"/>
            <p14:sldId id="268"/>
            <p14:sldId id="269"/>
            <p14:sldId id="270"/>
          </p14:sldIdLst>
        </p14:section>
        <p14:section name="Day 2" id="{7bc55823-ab9c-982d-1ea6-5f643441233f}">
          <p14:sldIdLst>
            <p14:sldId id="271"/>
            <p14:sldId id="272"/>
            <p14:sldId id="273"/>
            <p14:sldId id="274"/>
            <p14:sldId id="275"/>
            <p14:sldId id="276"/>
            <p14:sldId id="277"/>
            <p14:sldId id="278"/>
          </p14:sldIdLst>
        </p14:section>
        <p14:section name="Day 3" id="{a275505b-1c98-5c75-ef37-aa4d0bd1da83}">
          <p14:sldIdLst>
            <p14:sldId id="279"/>
            <p14:sldId id="280"/>
            <p14:sldId id="281"/>
            <p14:sldId id="282"/>
            <p14:sldId id="283"/>
            <p14:sldId id="284"/>
            <p14:sldId id="285"/>
            <p14:sldId id="286"/>
          </p14:sldIdLst>
        </p14:section>
        <p14:section name="Day 4" id="{4b448302-5ed0-0e32-5190-d8a4674ff50f}">
          <p14:sldIdLst>
            <p14:sldId id="287"/>
            <p14:sldId id="288"/>
            <p14:sldId id="289"/>
            <p14:sldId id="290"/>
            <p14:sldId id="291"/>
            <p14:sldId id="292"/>
            <p14:sldId id="293"/>
            <p14:sldId id="294"/>
          </p14:sldIdLst>
        </p14:section>
        <p14:section name="Day 5" id="{2f5d0e75-7055-ed98-f89d-cbf6f8522aaa}">
          <p14:sldIdLst>
            <p14:sldId id="295"/>
            <p14:sldId id="296"/>
            <p14:sldId id="297"/>
            <p14:sldId id="298"/>
            <p14:sldId id="299"/>
            <p14:sldId id="300"/>
            <p14:sldId id="301"/>
            <p14:sldId id="302"/>
          </p14:sldIdLst>
        </p14:section>
        <p14:section name="Day 6" id="{b603543a-1c96-96e6-ebd2-4681af334b9c}">
          <p14:sldIdLst>
            <p14:sldId id="303"/>
            <p14:sldId id="304"/>
            <p14:sldId id="305"/>
            <p14:sldId id="306"/>
            <p14:sldId id="307"/>
            <p14:sldId id="308"/>
            <p14:sldId id="309"/>
            <p14:sldId id="310"/>
          </p14:sldIdLst>
        </p14:section>
        <p14:section name="Day 7" id="{39146d9b-183d-f237-0a05-9a29cc88e113}">
          <p14:sldIdLst>
            <p14:sldId id="311"/>
            <p14:sldId id="312"/>
            <p14:sldId id="313"/>
            <p14:sldId id="314"/>
            <p14:sldId id="315"/>
            <p14:sldId id="316"/>
            <p14:sldId id="317"/>
            <p14:sldId id="318"/>
          </p14:sldIdLst>
        </p14:section>
        <p14:section name="Wrap-up" id="{98b05f49-0601-ce11-ae0f-769785db8b7c}">
          <p14:sldIdLst>
            <p14:sldId id="319"/>
            <p14:sldId id="320"/>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of the 90-day Winter Arc. Week 2 was Docker; kind runs every Kubernetes node as a Docker container, so Week 2 is the prerequisite.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day has the same eight slides: opener, concepts, diagram, commands, manifests, hands-on task, checklist and hints, interview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ends with one small task and a GitHub deliverable. Ingress is intentionally left out of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Kubernetes Fundamentals &amp; kind. By the end of today you can explain how a Kubernetes cluster is built, create a 3-node kind cluster, and run, inspect and delete a Pod with kubectl.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kind: command not found? Move the binary to /usr/local/bin and chmod +x it. | Cluster create fails? Check Docker is running (docker ps) and about 4 GB RAM is free. | Pod stuck? kubectl describe pod web and read the Events at the bottom. | Wrong cluster? kubectl config use-context kind-winter-arc.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Deployments &amp; Rollouts. By the end of today you can run an app with several replicas, watch Kubernetes heal it, ship a new version without downtime, and roll back a bad release.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rollout status never ends? The new Pods cannot start. Press Ctrl+C, then undo. | ImagePullBackOff? kubectl describe pod shows the pull error in Events. | Want your Week 2 image? kind load docker-image my-site:v1 --name winter-arc, then set imagePullPolicy: IfNotPresent. | Deployment rejected? Selector labels must equal the Pod template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Services &amp; Networking. By the end of today you can give Pods a stable address, call one app from another by name, and open an app from your laptop through a NodePort.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Connection refused? targetPort must be the port the container really listens on (8080 here). | NodePort not opening? Check kind-config has extraPortMappings for 30080 and you created the cluster with it. | No endpoints? Compare the selector in kubectl get svc -o wide with kubectl get pods --show-labels. | EXTERNAL-IP &lt;pending&gt;? Normal for LoadBalancer on kind: there is no cloud to hand out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Config, Secrets &amp; Namespaces. By the end of today you can keep configuration out of your image, inject it as env vars and files, handle Secrets with care, and separate environments with namespaces.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CreateContainerConfigError? A referenced ConfigMap or Secret key is missing or in another namespace. | Forgot -n? Objects went to default. Find them with kubectl get all -A | grep web. | Page not updating? Mounted files take up to about 60 s, and subPath mounts never update. | Decode a Secret: kubectl get secret db-secret -n dev -o jsonpath='{.data.password}' | base64 -d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Storage &amp; StatefulSets. By the end of today you can give a Pod storage that outlives it, explain PV, PVC and StorageClass, and run a database as a StatefulSet.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PVC Pending? kind uses WaitForFirstConsumer: it binds only after a Pod uses it. Check the Pod is scheduled. | Postgres CrashLoopBackOff? kubectl logs pg-0. A missing pg-secret is the usual cause. | exec fails right after delete? Wait first: kubectl wait --for=condition=Ready pod/pg-0. | Deleting the kind cluster deletes all PV data. The “disk” lives inside the node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Health, Resources &amp; Autoscaling. By the end of today you can tell Kubernetes how to check your app is healthy, set resource requests and limits, and autoscale a Deployment under load.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HPA shows &lt;unknown&gt;? metrics-server is not ready, or the Pod has no CPU request. You need both. | metrics-server not Ready? Add --kubelet-insecure-tls, wait a minute, check kubectl -n kube-system get pods. | Pods stuck Pending when scaling? Requests are larger than the free node CPU. Lower them or maxReplicas. | Scale-down is slow? The default 5-minute stabilisation window is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7: Security, RBAC &amp; Troubleshooting. By the end of today you can give an account least-privilege access, run Pods as non-root, and debug the most common Pod failures in a repeatable order. Plan about 3–4 hrs: 30% concepts, 70%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command yourself. Read the middle column first, then the use-case column. In an interview, the use-case column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Pod Pending forever? Events say “Insufficient memory”: the request is bigger than any node. | CrashLoopBackOff? kubectl logs --previous shows the last crash. Exit code 1 means the command failed. | ImagePullBackOff with a local image? kind load docker-image, then imagePullPolicy: IfNotPresent. | Forbidden? RBAC is deny by default. Add only the verbs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question out loud in 20 to 30 seconds before reading the answer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5943600" cy="118872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YOPE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56692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51560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005840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28232"/>
            <a:ext cx="5486400" cy="274320"/>
          </a:xfrm>
          <a:prstGeom prst="rect">
            <a:avLst/>
          </a:prstGeom>
          <a:noFill/>
          <a:ln/>
        </p:spPr>
        <p:txBody>
          <a:bodyPr wrap="square" lIns="0" tIns="0" rIns="0" bIns="0" rtlCol="0" anchor="ctr"/>
          <a:lstStyle/>
          <a:p>
            <a:pPr indent="0" marL="0">
              <a:buNone/>
            </a:pPr>
            <a:r>
              <a:rPr lang="en-US" sz="1000" dirty="0">
                <a:solidFill>
                  <a:schemeClr val="tx1"/>
                </a:solidFill>
              </a:rPr>
              <a:t>DevOps Winter Arc · Week 3: Kubernetes (kind)</a:t>
            </a:r>
            <a:endParaRPr lang="en-US" sz="10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5.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5.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5.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5.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3.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5.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3.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5.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5.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3.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5.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5.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5.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3.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5.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5.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5.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3.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5.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5.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5.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5.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14400"/>
            <a:ext cx="6400800" cy="274320"/>
          </a:xfrm>
          <a:prstGeom prst="rect">
            <a:avLst/>
          </a:prstGeom>
          <a:noFill/>
          <a:ln/>
        </p:spPr>
        <p:txBody>
          <a:bodyPr wrap="square" lIns="0" tIns="0" rIns="0" bIns="0" rtlCol="0" anchor="t"/>
          <a:lstStyle/>
          <a:p>
            <a:pPr indent="0" marL="0">
              <a:buNone/>
            </a:pPr>
            <a:r>
              <a:rPr lang="en-US" sz="1400" b="1" spc="300" kern="0" dirty="0">
                <a:solidFill>
                  <a:schemeClr val="accent6"/>
                </a:solidFill>
              </a:rPr>
              <a:t>DEVOPS WINTER ARC  ·  90 DAYS CHALLENGE</a:t>
            </a:r>
            <a:endParaRPr lang="en-US" sz="1400" dirty="0"/>
          </a:p>
        </p:txBody>
      </p:sp>
      <p:sp>
        <p:nvSpPr>
          <p:cNvPr id="3" name="Text 1"/>
          <p:cNvSpPr txBox="1"/>
          <p:nvPr/>
        </p:nvSpPr>
        <p:spPr>
          <a:xfrm>
            <a:off x="731520" y="1325880"/>
            <a:ext cx="3657600" cy="411480"/>
          </a:xfrm>
          <a:prstGeom prst="rect">
            <a:avLst/>
          </a:prstGeom>
          <a:noFill/>
          <a:ln/>
        </p:spPr>
        <p:txBody>
          <a:bodyPr wrap="square" lIns="0" tIns="0" rIns="0" bIns="0" rtlCol="0" anchor="t"/>
          <a:lstStyle/>
          <a:p>
            <a:pPr indent="0" marL="0">
              <a:buNone/>
            </a:pPr>
            <a:r>
              <a:rPr lang="en-US" sz="2400" b="1" spc="400" kern="0" dirty="0">
                <a:solidFill>
                  <a:schemeClr val="accent2"/>
                </a:solidFill>
              </a:rPr>
              <a:t>WEEK 3</a:t>
            </a:r>
            <a:endParaRPr lang="en-US" sz="2400" dirty="0"/>
          </a:p>
        </p:txBody>
      </p:sp>
      <p:sp>
        <p:nvSpPr>
          <p:cNvPr id="4" name="Text 0"/>
          <p:cNvSpPr/>
          <p:nvPr>
            <p:ph idx="100" type="title" hasCustomPrompt="1"/>
          </p:nvPr>
        </p:nvSpPr>
        <p:spPr>
          <a:xfrm>
            <a:off x="731520" y="1783080"/>
            <a:ext cx="5943600" cy="1188720"/>
          </a:xfrm>
          <a:prstGeom prst="rect">
            <a:avLst/>
          </a:prstGeom>
          <a:noFill/>
          <a:ln/>
        </p:spPr>
        <p:txBody>
          <a:bodyPr wrap="square" lIns="0" tIns="0" rIns="0" bIns="0" rtlCol="0" anchor="t"/>
          <a:lstStyle/>
          <a:p>
            <a:pPr algn="l" indent="0" marL="0">
              <a:buNone/>
            </a:pPr>
            <a:r>
              <a:rPr lang="en-US" sz="7200" b="1" dirty="0">
                <a:solidFill>
                  <a:schemeClr val="bg1"/>
                </a:solidFill>
              </a:rPr>
              <a:t>Kubernetes</a:t>
            </a:r>
            <a:endParaRPr lang="en-US" sz="7200" dirty="0"/>
          </a:p>
        </p:txBody>
      </p:sp>
      <p:sp>
        <p:nvSpPr>
          <p:cNvPr id="5" name="Text 3"/>
          <p:cNvSpPr txBox="1"/>
          <p:nvPr/>
        </p:nvSpPr>
        <p:spPr>
          <a:xfrm>
            <a:off x="731520" y="3063240"/>
            <a:ext cx="5943600" cy="822960"/>
          </a:xfrm>
          <a:prstGeom prst="rect">
            <a:avLst/>
          </a:prstGeom>
          <a:noFill/>
          <a:ln/>
        </p:spPr>
        <p:txBody>
          <a:bodyPr wrap="square" lIns="0" tIns="0" rIns="0" bIns="0" rtlCol="0" anchor="t"/>
          <a:lstStyle/>
          <a:p>
            <a:pPr indent="0" marL="0">
              <a:buNone/>
            </a:pPr>
            <a:r>
              <a:rPr lang="en-US" sz="2400" i="1" dirty="0">
                <a:solidFill>
                  <a:schemeClr val="bg2"/>
                </a:solidFill>
              </a:rPr>
              <a:t>Your first cluster to autoscaling, hands-on with kind</a:t>
            </a:r>
            <a:endParaRPr lang="en-US" sz="2400" dirty="0"/>
          </a:p>
        </p:txBody>
      </p:sp>
      <p:sp>
        <p:nvSpPr>
          <p:cNvPr id="6" name="Text 4"/>
          <p:cNvSpPr txBox="1"/>
          <p:nvPr/>
        </p:nvSpPr>
        <p:spPr>
          <a:xfrm>
            <a:off x="731520" y="4069080"/>
            <a:ext cx="6035040" cy="365760"/>
          </a:xfrm>
          <a:prstGeom prst="rect">
            <a:avLst/>
          </a:prstGeom>
          <a:noFill/>
          <a:ln/>
        </p:spPr>
        <p:txBody>
          <a:bodyPr wrap="square" lIns="0" tIns="0" rIns="0" bIns="0" rtlCol="0" anchor="t"/>
          <a:lstStyle/>
          <a:p>
            <a:pPr indent="0" marL="0">
              <a:buNone/>
            </a:pPr>
            <a:r>
              <a:rPr lang="en-US" sz="1600" dirty="0">
                <a:solidFill>
                  <a:schemeClr val="accent6"/>
                </a:solidFill>
              </a:rPr>
              <a:t>Days 1 – 7  ·  7 hands-on tasks  ·  30% concepts + 70% hands-on</a:t>
            </a:r>
            <a:endParaRPr lang="en-US" sz="1600" dirty="0"/>
          </a:p>
        </p:txBody>
      </p:sp>
      <p:sp>
        <p:nvSpPr>
          <p:cNvPr id="7" name="Text 5"/>
          <p:cNvSpPr txBox="1"/>
          <p:nvPr/>
        </p:nvSpPr>
        <p:spPr>
          <a:xfrm>
            <a:off x="731520" y="5029200"/>
            <a:ext cx="6035040" cy="411480"/>
          </a:xfrm>
          <a:prstGeom prst="rect">
            <a:avLst/>
          </a:prstGeom>
          <a:noFill/>
          <a:ln/>
        </p:spPr>
        <p:txBody>
          <a:bodyPr wrap="square" lIns="0" tIns="0" rIns="0" bIns="0" rtlCol="0" anchor="t"/>
          <a:lstStyle/>
          <a:p>
            <a:pPr indent="0" marL="0">
              <a:buNone/>
            </a:pPr>
            <a:r>
              <a:rPr lang="en-US" sz="2000" b="1" dirty="0">
                <a:solidFill>
                  <a:schemeClr val="accent2"/>
                </a:solidFill>
              </a:rPr>
              <a:t>Learn → Build → Break → Fix → Explain</a:t>
            </a:r>
            <a:endParaRPr lang="en-US" sz="2000" dirty="0"/>
          </a:p>
        </p:txBody>
      </p:sp>
      <p:sp>
        <p:nvSpPr>
          <p:cNvPr id="8" name="Text 6"/>
          <p:cNvSpPr txBox="1"/>
          <p:nvPr/>
        </p:nvSpPr>
        <p:spPr>
          <a:xfrm>
            <a:off x="731520" y="5577840"/>
            <a:ext cx="6035040" cy="365760"/>
          </a:xfrm>
          <a:prstGeom prst="rect">
            <a:avLst/>
          </a:prstGeom>
          <a:noFill/>
          <a:ln/>
        </p:spPr>
        <p:txBody>
          <a:bodyPr wrap="square" lIns="0" tIns="0" rIns="0" bIns="0" rtlCol="0" anchor="t"/>
          <a:lstStyle/>
          <a:p>
            <a:pPr indent="0" marL="0">
              <a:buNone/>
            </a:pPr>
            <a:r>
              <a:rPr lang="en-US" sz="1600" dirty="0">
                <a:solidFill>
                  <a:schemeClr val="bg1"/>
                </a:solidFill>
              </a:rPr>
              <a:t>youtube.com/@Devops_jadeja</a:t>
            </a:r>
            <a:endParaRPr lang="en-US" sz="1600" dirty="0"/>
          </a:p>
        </p:txBody>
      </p:sp>
      <p:sp>
        <p:nvSpPr>
          <p:cNvPr id="9" name="terminal winter-arc — bash"/>
          <p:cNvSpPr/>
          <p:nvPr/>
        </p:nvSpPr>
        <p:spPr>
          <a:xfrm>
            <a:off x="6720840" y="1234440"/>
            <a:ext cx="4937760" cy="4206240"/>
          </a:xfrm>
          <a:prstGeom prst="roundRect">
            <a:avLst>
              <a:gd name="adj" fmla="val 1304"/>
            </a:avLst>
          </a:prstGeom>
          <a:solidFill>
            <a:schemeClr val="tx2"/>
          </a:solidFill>
          <a:ln w="9525">
            <a:solidFill>
              <a:schemeClr val="accent1"/>
            </a:solidFill>
            <a:prstDash val="solid"/>
          </a:ln>
        </p:spPr>
      </p:sp>
      <p:sp>
        <p:nvSpPr>
          <p:cNvPr id="10" name="dot"/>
          <p:cNvSpPr/>
          <p:nvPr/>
        </p:nvSpPr>
        <p:spPr>
          <a:xfrm>
            <a:off x="6922008" y="1389888"/>
            <a:ext cx="100584" cy="100584"/>
          </a:xfrm>
          <a:prstGeom prst="ellipse">
            <a:avLst/>
          </a:prstGeom>
          <a:solidFill>
            <a:schemeClr val="accent4"/>
          </a:solidFill>
          <a:ln w="12700">
            <a:solidFill>
              <a:schemeClr val="accent4"/>
            </a:solidFill>
            <a:prstDash val="solid"/>
          </a:ln>
        </p:spPr>
      </p:sp>
      <p:sp>
        <p:nvSpPr>
          <p:cNvPr id="11" name="dot"/>
          <p:cNvSpPr/>
          <p:nvPr/>
        </p:nvSpPr>
        <p:spPr>
          <a:xfrm>
            <a:off x="7104888" y="1389888"/>
            <a:ext cx="100584" cy="100584"/>
          </a:xfrm>
          <a:prstGeom prst="ellipse">
            <a:avLst/>
          </a:prstGeom>
          <a:solidFill>
            <a:schemeClr val="accent2"/>
          </a:solidFill>
          <a:ln w="12700">
            <a:solidFill>
              <a:schemeClr val="accent2"/>
            </a:solidFill>
            <a:prstDash val="solid"/>
          </a:ln>
        </p:spPr>
      </p:sp>
      <p:sp>
        <p:nvSpPr>
          <p:cNvPr id="12" name="dot"/>
          <p:cNvSpPr/>
          <p:nvPr/>
        </p:nvSpPr>
        <p:spPr>
          <a:xfrm>
            <a:off x="7287768" y="1389888"/>
            <a:ext cx="100584" cy="100584"/>
          </a:xfrm>
          <a:prstGeom prst="ellipse">
            <a:avLst/>
          </a:prstGeom>
          <a:solidFill>
            <a:schemeClr val="accent3"/>
          </a:solidFill>
          <a:ln w="12700">
            <a:solidFill>
              <a:schemeClr val="accent3"/>
            </a:solidFill>
            <a:prstDash val="solid"/>
          </a:ln>
        </p:spPr>
      </p:sp>
      <p:sp>
        <p:nvSpPr>
          <p:cNvPr id="13" name="Text 11"/>
          <p:cNvSpPr txBox="1"/>
          <p:nvPr/>
        </p:nvSpPr>
        <p:spPr>
          <a:xfrm>
            <a:off x="7589520" y="1325880"/>
            <a:ext cx="3840480"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winter-arc — bash</a:t>
            </a:r>
            <a:endParaRPr lang="en-US" sz="1100" dirty="0"/>
          </a:p>
        </p:txBody>
      </p:sp>
      <p:sp>
        <p:nvSpPr>
          <p:cNvPr id="14" name="terminal text"/>
          <p:cNvSpPr txBox="1"/>
          <p:nvPr/>
        </p:nvSpPr>
        <p:spPr>
          <a:xfrm>
            <a:off x="6922008" y="1691640"/>
            <a:ext cx="4535424" cy="3657600"/>
          </a:xfrm>
          <a:prstGeom prst="rect">
            <a:avLst/>
          </a:prstGeom>
          <a:noFill/>
          <a:ln/>
        </p:spPr>
        <p:txBody>
          <a:bodyPr wrap="square" lIns="0" tIns="0" rIns="0" bIns="0" rtlCol="0" anchor="t"/>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kind create cluster --name winter-arc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--config kind-config.yaml</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nodes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NAME                       STATUS   ROLES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winter-arc-control-plane   Ready    control-plane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winter-arc-worker          Ready    &lt;none&gt;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winter-arc-worker2         Ready    &lt;none&gt;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deployment web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--image=nginx:1.27 --replicas=3</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set image deploy/web nginx=nginx:1.28</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rollout undo deploy/web</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hpa -w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WEEK 3 AT A GLANCE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Zero to autoscaling in 7 days</a:t>
            </a:r>
            <a:endParaRPr lang="en-US" sz="3400" dirty="0"/>
          </a:p>
        </p:txBody>
      </p:sp>
      <p:sp>
        <p:nvSpPr>
          <p:cNvPr id="4" name="stat card days"/>
          <p:cNvSpPr/>
          <p:nvPr/>
        </p:nvSpPr>
        <p:spPr>
          <a:xfrm>
            <a:off x="548640" y="1463040"/>
            <a:ext cx="2011680" cy="1600200"/>
          </a:xfrm>
          <a:prstGeom prst="roundRect">
            <a:avLst>
              <a:gd name="adj" fmla="val 4571"/>
            </a:avLst>
          </a:prstGeom>
          <a:solidFill>
            <a:schemeClr val="accent1">
              <a:alpha val="14000"/>
            </a:schemeClr>
          </a:solidFill>
          <a:ln w="9525">
            <a:solidFill>
              <a:schemeClr val="accent1"/>
            </a:solidFill>
            <a:prstDash val="solid"/>
          </a:ln>
        </p:spPr>
      </p:sp>
      <p:sp>
        <p:nvSpPr>
          <p:cNvPr id="5" name="Text 3"/>
          <p:cNvSpPr txBox="1"/>
          <p:nvPr/>
        </p:nvSpPr>
        <p:spPr>
          <a:xfrm>
            <a:off x="548640" y="1572768"/>
            <a:ext cx="2011680" cy="868680"/>
          </a:xfrm>
          <a:prstGeom prst="rect">
            <a:avLst/>
          </a:prstGeom>
          <a:noFill/>
          <a:ln/>
        </p:spPr>
        <p:txBody>
          <a:bodyPr wrap="square" lIns="0" tIns="0" rIns="0" bIns="0" rtlCol="0" anchor="ctr"/>
          <a:lstStyle/>
          <a:p>
            <a:pPr algn="ctr" indent="0" marL="0">
              <a:buNone/>
            </a:pPr>
            <a:r>
              <a:rPr lang="en-US" sz="5400" b="1" dirty="0">
                <a:solidFill>
                  <a:schemeClr val="accent1"/>
                </a:solidFill>
              </a:rPr>
              <a:t>7</a:t>
            </a:r>
            <a:endParaRPr lang="en-US" sz="5400" dirty="0"/>
          </a:p>
        </p:txBody>
      </p:sp>
      <p:sp>
        <p:nvSpPr>
          <p:cNvPr id="6" name="Text 4"/>
          <p:cNvSpPr txBox="1"/>
          <p:nvPr/>
        </p:nvSpPr>
        <p:spPr>
          <a:xfrm>
            <a:off x="548640" y="2468880"/>
            <a:ext cx="2011680" cy="411480"/>
          </a:xfrm>
          <a:prstGeom prst="rect">
            <a:avLst/>
          </a:prstGeom>
          <a:noFill/>
          <a:ln/>
        </p:spPr>
        <p:txBody>
          <a:bodyPr wrap="square" lIns="0" tIns="0" rIns="0" bIns="0" rtlCol="0" anchor="t"/>
          <a:lstStyle/>
          <a:p>
            <a:pPr algn="ctr" indent="0" marL="0">
              <a:buNone/>
            </a:pPr>
            <a:r>
              <a:rPr lang="en-US" sz="1600" dirty="0">
                <a:solidFill>
                  <a:schemeClr val="tx1"/>
                </a:solidFill>
              </a:rPr>
              <a:t>days</a:t>
            </a:r>
            <a:endParaRPr lang="en-US" sz="1600" dirty="0"/>
          </a:p>
        </p:txBody>
      </p:sp>
      <p:sp>
        <p:nvSpPr>
          <p:cNvPr id="7" name="stat card pillars"/>
          <p:cNvSpPr/>
          <p:nvPr/>
        </p:nvSpPr>
        <p:spPr>
          <a:xfrm>
            <a:off x="2816352" y="1463040"/>
            <a:ext cx="2011680" cy="1600200"/>
          </a:xfrm>
          <a:prstGeom prst="roundRect">
            <a:avLst>
              <a:gd name="adj" fmla="val 4571"/>
            </a:avLst>
          </a:prstGeom>
          <a:solidFill>
            <a:schemeClr val="accent1">
              <a:alpha val="14000"/>
            </a:schemeClr>
          </a:solidFill>
          <a:ln w="9525">
            <a:solidFill>
              <a:schemeClr val="accent1"/>
            </a:solidFill>
            <a:prstDash val="solid"/>
          </a:ln>
        </p:spPr>
      </p:sp>
      <p:sp>
        <p:nvSpPr>
          <p:cNvPr id="8" name="Text 6"/>
          <p:cNvSpPr txBox="1"/>
          <p:nvPr/>
        </p:nvSpPr>
        <p:spPr>
          <a:xfrm>
            <a:off x="2816352" y="1572768"/>
            <a:ext cx="2011680" cy="868680"/>
          </a:xfrm>
          <a:prstGeom prst="rect">
            <a:avLst/>
          </a:prstGeom>
          <a:noFill/>
          <a:ln/>
        </p:spPr>
        <p:txBody>
          <a:bodyPr wrap="square" lIns="0" tIns="0" rIns="0" bIns="0" rtlCol="0" anchor="ctr"/>
          <a:lstStyle/>
          <a:p>
            <a:pPr algn="ctr" indent="0" marL="0">
              <a:buNone/>
            </a:pPr>
            <a:r>
              <a:rPr lang="en-US" sz="5400" b="1" dirty="0">
                <a:solidFill>
                  <a:schemeClr val="accent1"/>
                </a:solidFill>
              </a:rPr>
              <a:t>7</a:t>
            </a:r>
            <a:endParaRPr lang="en-US" sz="5400" dirty="0"/>
          </a:p>
        </p:txBody>
      </p:sp>
      <p:sp>
        <p:nvSpPr>
          <p:cNvPr id="9" name="Text 7"/>
          <p:cNvSpPr txBox="1"/>
          <p:nvPr/>
        </p:nvSpPr>
        <p:spPr>
          <a:xfrm>
            <a:off x="2816352" y="2468880"/>
            <a:ext cx="2011680" cy="411480"/>
          </a:xfrm>
          <a:prstGeom prst="rect">
            <a:avLst/>
          </a:prstGeom>
          <a:noFill/>
          <a:ln/>
        </p:spPr>
        <p:txBody>
          <a:bodyPr wrap="square" lIns="0" tIns="0" rIns="0" bIns="0" rtlCol="0" anchor="t"/>
          <a:lstStyle/>
          <a:p>
            <a:pPr algn="ctr" indent="0" marL="0">
              <a:buNone/>
            </a:pPr>
            <a:r>
              <a:rPr lang="en-US" sz="1600" dirty="0">
                <a:solidFill>
                  <a:schemeClr val="tx1"/>
                </a:solidFill>
              </a:rPr>
              <a:t>pillars</a:t>
            </a:r>
            <a:endParaRPr lang="en-US" sz="1600" dirty="0"/>
          </a:p>
        </p:txBody>
      </p:sp>
      <p:sp>
        <p:nvSpPr>
          <p:cNvPr id="10" name="stat card commands explained"/>
          <p:cNvSpPr/>
          <p:nvPr/>
        </p:nvSpPr>
        <p:spPr>
          <a:xfrm>
            <a:off x="5084064" y="1463040"/>
            <a:ext cx="2011680" cy="1600200"/>
          </a:xfrm>
          <a:prstGeom prst="roundRect">
            <a:avLst>
              <a:gd name="adj" fmla="val 4571"/>
            </a:avLst>
          </a:prstGeom>
          <a:solidFill>
            <a:schemeClr val="accent1">
              <a:alpha val="14000"/>
            </a:schemeClr>
          </a:solidFill>
          <a:ln w="9525">
            <a:solidFill>
              <a:schemeClr val="accent1"/>
            </a:solidFill>
            <a:prstDash val="solid"/>
          </a:ln>
        </p:spPr>
      </p:sp>
      <p:sp>
        <p:nvSpPr>
          <p:cNvPr id="11" name="Text 9"/>
          <p:cNvSpPr txBox="1"/>
          <p:nvPr/>
        </p:nvSpPr>
        <p:spPr>
          <a:xfrm>
            <a:off x="5084064" y="1572768"/>
            <a:ext cx="2011680" cy="868680"/>
          </a:xfrm>
          <a:prstGeom prst="rect">
            <a:avLst/>
          </a:prstGeom>
          <a:noFill/>
          <a:ln/>
        </p:spPr>
        <p:txBody>
          <a:bodyPr wrap="square" lIns="0" tIns="0" rIns="0" bIns="0" rtlCol="0" anchor="ctr"/>
          <a:lstStyle/>
          <a:p>
            <a:pPr algn="ctr" indent="0" marL="0">
              <a:buNone/>
            </a:pPr>
            <a:r>
              <a:rPr lang="en-US" sz="5400" b="1" dirty="0">
                <a:solidFill>
                  <a:schemeClr val="accent1"/>
                </a:solidFill>
              </a:rPr>
              <a:t>56</a:t>
            </a:r>
            <a:endParaRPr lang="en-US" sz="5400" dirty="0"/>
          </a:p>
        </p:txBody>
      </p:sp>
      <p:sp>
        <p:nvSpPr>
          <p:cNvPr id="12" name="Text 10"/>
          <p:cNvSpPr txBox="1"/>
          <p:nvPr/>
        </p:nvSpPr>
        <p:spPr>
          <a:xfrm>
            <a:off x="5084064" y="2468880"/>
            <a:ext cx="2011680" cy="411480"/>
          </a:xfrm>
          <a:prstGeom prst="rect">
            <a:avLst/>
          </a:prstGeom>
          <a:noFill/>
          <a:ln/>
        </p:spPr>
        <p:txBody>
          <a:bodyPr wrap="square" lIns="0" tIns="0" rIns="0" bIns="0" rtlCol="0" anchor="t"/>
          <a:lstStyle/>
          <a:p>
            <a:pPr algn="ctr" indent="0" marL="0">
              <a:buNone/>
            </a:pPr>
            <a:r>
              <a:rPr lang="en-US" sz="1600" dirty="0">
                <a:solidFill>
                  <a:schemeClr val="tx1"/>
                </a:solidFill>
              </a:rPr>
              <a:t>commands explained</a:t>
            </a:r>
            <a:endParaRPr lang="en-US" sz="1600" dirty="0"/>
          </a:p>
        </p:txBody>
      </p:sp>
      <p:sp>
        <p:nvSpPr>
          <p:cNvPr id="13" name="stat card small tasks"/>
          <p:cNvSpPr/>
          <p:nvPr/>
        </p:nvSpPr>
        <p:spPr>
          <a:xfrm>
            <a:off x="7351776" y="1463040"/>
            <a:ext cx="2011680" cy="1600200"/>
          </a:xfrm>
          <a:prstGeom prst="roundRect">
            <a:avLst>
              <a:gd name="adj" fmla="val 4571"/>
            </a:avLst>
          </a:prstGeom>
          <a:solidFill>
            <a:schemeClr val="accent1">
              <a:alpha val="14000"/>
            </a:schemeClr>
          </a:solidFill>
          <a:ln w="9525">
            <a:solidFill>
              <a:schemeClr val="accent1"/>
            </a:solidFill>
            <a:prstDash val="solid"/>
          </a:ln>
        </p:spPr>
      </p:sp>
      <p:sp>
        <p:nvSpPr>
          <p:cNvPr id="14" name="Text 12"/>
          <p:cNvSpPr txBox="1"/>
          <p:nvPr/>
        </p:nvSpPr>
        <p:spPr>
          <a:xfrm>
            <a:off x="7351776" y="1572768"/>
            <a:ext cx="2011680" cy="868680"/>
          </a:xfrm>
          <a:prstGeom prst="rect">
            <a:avLst/>
          </a:prstGeom>
          <a:noFill/>
          <a:ln/>
        </p:spPr>
        <p:txBody>
          <a:bodyPr wrap="square" lIns="0" tIns="0" rIns="0" bIns="0" rtlCol="0" anchor="ctr"/>
          <a:lstStyle/>
          <a:p>
            <a:pPr algn="ctr" indent="0" marL="0">
              <a:buNone/>
            </a:pPr>
            <a:r>
              <a:rPr lang="en-US" sz="5400" b="1" dirty="0">
                <a:solidFill>
                  <a:schemeClr val="accent1"/>
                </a:solidFill>
              </a:rPr>
              <a:t>7</a:t>
            </a:r>
            <a:endParaRPr lang="en-US" sz="5400" dirty="0"/>
          </a:p>
        </p:txBody>
      </p:sp>
      <p:sp>
        <p:nvSpPr>
          <p:cNvPr id="15" name="Text 13"/>
          <p:cNvSpPr txBox="1"/>
          <p:nvPr/>
        </p:nvSpPr>
        <p:spPr>
          <a:xfrm>
            <a:off x="7351776" y="2468880"/>
            <a:ext cx="2011680" cy="411480"/>
          </a:xfrm>
          <a:prstGeom prst="rect">
            <a:avLst/>
          </a:prstGeom>
          <a:noFill/>
          <a:ln/>
        </p:spPr>
        <p:txBody>
          <a:bodyPr wrap="square" lIns="0" tIns="0" rIns="0" bIns="0" rtlCol="0" anchor="t"/>
          <a:lstStyle/>
          <a:p>
            <a:pPr algn="ctr" indent="0" marL="0">
              <a:buNone/>
            </a:pPr>
            <a:r>
              <a:rPr lang="en-US" sz="1600" dirty="0">
                <a:solidFill>
                  <a:schemeClr val="tx1"/>
                </a:solidFill>
              </a:rPr>
              <a:t>small tasks</a:t>
            </a:r>
            <a:endParaRPr lang="en-US" sz="1600" dirty="0"/>
          </a:p>
        </p:txBody>
      </p:sp>
      <p:sp>
        <p:nvSpPr>
          <p:cNvPr id="16" name="stat card hands-on"/>
          <p:cNvSpPr/>
          <p:nvPr/>
        </p:nvSpPr>
        <p:spPr>
          <a:xfrm>
            <a:off x="9619488" y="1463040"/>
            <a:ext cx="2011680" cy="1600200"/>
          </a:xfrm>
          <a:prstGeom prst="roundRect">
            <a:avLst>
              <a:gd name="adj" fmla="val 4571"/>
            </a:avLst>
          </a:prstGeom>
          <a:solidFill>
            <a:schemeClr val="accent1">
              <a:alpha val="14000"/>
            </a:schemeClr>
          </a:solidFill>
          <a:ln w="9525">
            <a:solidFill>
              <a:schemeClr val="accent1"/>
            </a:solidFill>
            <a:prstDash val="solid"/>
          </a:ln>
        </p:spPr>
      </p:sp>
      <p:sp>
        <p:nvSpPr>
          <p:cNvPr id="17" name="Text 15"/>
          <p:cNvSpPr txBox="1"/>
          <p:nvPr/>
        </p:nvSpPr>
        <p:spPr>
          <a:xfrm>
            <a:off x="9619488" y="1572768"/>
            <a:ext cx="2011680" cy="868680"/>
          </a:xfrm>
          <a:prstGeom prst="rect">
            <a:avLst/>
          </a:prstGeom>
          <a:noFill/>
          <a:ln/>
        </p:spPr>
        <p:txBody>
          <a:bodyPr wrap="square" lIns="0" tIns="0" rIns="0" bIns="0" rtlCol="0" anchor="ctr"/>
          <a:lstStyle/>
          <a:p>
            <a:pPr algn="ctr" indent="0" marL="0">
              <a:buNone/>
            </a:pPr>
            <a:r>
              <a:rPr lang="en-US" sz="5400" b="1" dirty="0">
                <a:solidFill>
                  <a:schemeClr val="accent1"/>
                </a:solidFill>
              </a:rPr>
              <a:t>70%</a:t>
            </a:r>
            <a:endParaRPr lang="en-US" sz="5400" dirty="0"/>
          </a:p>
        </p:txBody>
      </p:sp>
      <p:sp>
        <p:nvSpPr>
          <p:cNvPr id="18" name="Text 16"/>
          <p:cNvSpPr txBox="1"/>
          <p:nvPr/>
        </p:nvSpPr>
        <p:spPr>
          <a:xfrm>
            <a:off x="9619488" y="2468880"/>
            <a:ext cx="2011680" cy="411480"/>
          </a:xfrm>
          <a:prstGeom prst="rect">
            <a:avLst/>
          </a:prstGeom>
          <a:noFill/>
          <a:ln/>
        </p:spPr>
        <p:txBody>
          <a:bodyPr wrap="square" lIns="0" tIns="0" rIns="0" bIns="0" rtlCol="0" anchor="t"/>
          <a:lstStyle/>
          <a:p>
            <a:pPr algn="ctr" indent="0" marL="0">
              <a:buNone/>
            </a:pPr>
            <a:r>
              <a:rPr lang="en-US" sz="1600" dirty="0">
                <a:solidFill>
                  <a:schemeClr val="tx1"/>
                </a:solidFill>
              </a:rPr>
              <a:t>hands-on</a:t>
            </a:r>
            <a:endParaRPr lang="en-US" sz="1600" dirty="0"/>
          </a:p>
        </p:txBody>
      </p:sp>
      <p:sp>
        <p:nvSpPr>
          <p:cNvPr id="19" name="watch banner"/>
          <p:cNvSpPr/>
          <p:nvPr/>
        </p:nvSpPr>
        <p:spPr>
          <a:xfrm>
            <a:off x="548640" y="3429000"/>
            <a:ext cx="11094415" cy="1234440"/>
          </a:xfrm>
          <a:prstGeom prst="roundRect">
            <a:avLst>
              <a:gd name="adj" fmla="val 5926"/>
            </a:avLst>
          </a:prstGeom>
          <a:solidFill>
            <a:schemeClr val="accent2">
              <a:alpha val="22000"/>
            </a:schemeClr>
          </a:solidFill>
          <a:ln w="9525">
            <a:solidFill>
              <a:schemeClr val="accent2"/>
            </a:solidFill>
            <a:prstDash val="solid"/>
          </a:ln>
        </p:spPr>
      </p:sp>
      <p:sp>
        <p:nvSpPr>
          <p:cNvPr id="20" name="play icon"/>
          <p:cNvSpPr/>
          <p:nvPr/>
        </p:nvSpPr>
        <p:spPr>
          <a:xfrm>
            <a:off x="822960" y="3703320"/>
            <a:ext cx="685800" cy="685800"/>
          </a:xfrm>
          <a:prstGeom prst="ellipse">
            <a:avLst/>
          </a:prstGeom>
          <a:solidFill>
            <a:schemeClr val="tx2"/>
          </a:solidFill>
          <a:ln w="12700">
            <a:solidFill>
              <a:schemeClr val="tx2"/>
            </a:solidFill>
            <a:prstDash val="solid"/>
          </a:ln>
        </p:spPr>
      </p:sp>
      <p:pic>
        <p:nvPicPr>
          <p:cNvPr id="21" name="icon FaPlayCircle" descr="FaPlayCircle">    </p:cNvPr>
          <p:cNvPicPr>
            <a:picLocks noChangeAspect="1"/>
          </p:cNvPicPr>
          <p:nvPr/>
        </p:nvPicPr>
        <p:blipFill>
          <a:blip r:embed="rId1"/>
          <a:stretch>
            <a:fillRect/>
          </a:stretch>
        </p:blipFill>
        <p:spPr>
          <a:xfrm>
            <a:off x="1001268" y="3881628"/>
            <a:ext cx="329184" cy="329184"/>
          </a:xfrm>
          <a:prstGeom prst="rect">
            <a:avLst/>
          </a:prstGeom>
        </p:spPr>
      </p:pic>
      <p:sp>
        <p:nvSpPr>
          <p:cNvPr id="22" name="Text 19"/>
          <p:cNvSpPr txBox="1"/>
          <p:nvPr/>
        </p:nvSpPr>
        <p:spPr>
          <a:xfrm>
            <a:off x="1783080" y="3584448"/>
            <a:ext cx="9692640" cy="365760"/>
          </a:xfrm>
          <a:prstGeom prst="rect">
            <a:avLst/>
          </a:prstGeom>
          <a:noFill/>
          <a:ln/>
        </p:spPr>
        <p:txBody>
          <a:bodyPr wrap="square" lIns="0" tIns="0" rIns="0" bIns="0" rtlCol="0" anchor="t"/>
          <a:lstStyle/>
          <a:p>
            <a:pPr indent="0" marL="0">
              <a:buNone/>
            </a:pPr>
            <a:r>
              <a:rPr lang="en-US" sz="2000" b="1" dirty="0">
                <a:solidFill>
                  <a:schemeClr val="tx2"/>
                </a:solidFill>
              </a:rPr>
              <a:t>Start here: watch the videos first</a:t>
            </a:r>
            <a:endParaRPr lang="en-US" sz="2000" dirty="0"/>
          </a:p>
        </p:txBody>
      </p:sp>
      <p:sp>
        <p:nvSpPr>
          <p:cNvPr id="23" name="Text 20"/>
          <p:cNvSpPr txBox="1"/>
          <p:nvPr/>
        </p:nvSpPr>
        <p:spPr>
          <a:xfrm>
            <a:off x="1783080" y="4005072"/>
            <a:ext cx="9692640" cy="594360"/>
          </a:xfrm>
          <a:prstGeom prst="rect">
            <a:avLst/>
          </a:prstGeom>
          <a:noFill/>
          <a:ln/>
        </p:spPr>
        <p:txBody>
          <a:bodyPr wrap="square" lIns="0" tIns="0" rIns="0" bIns="0" rtlCol="0" anchor="t"/>
          <a:lstStyle/>
          <a:p>
            <a:pPr indent="0" marL="0">
              <a:buNone/>
            </a:pPr>
            <a:r>
              <a:rPr lang="en-US" sz="1500" dirty="0">
                <a:solidFill>
                  <a:schemeClr val="tx1"/>
                </a:solidFill>
              </a:rPr>
              <a:t>Before each day, watch the matching video on youtube.com/@Devops_jadeja. It explains most of the concepts used in this deck, so the commands and tasks make much more sense.</a:t>
            </a:r>
            <a:endParaRPr lang="en-US" sz="1500" dirty="0"/>
          </a:p>
        </p:txBody>
      </p:sp>
      <p:sp>
        <p:nvSpPr>
          <p:cNvPr id="24" name="Text 21"/>
          <p:cNvSpPr txBox="1"/>
          <p:nvPr/>
        </p:nvSpPr>
        <p:spPr>
          <a:xfrm>
            <a:off x="548640" y="5074920"/>
            <a:ext cx="1828800" cy="731520"/>
          </a:xfrm>
          <a:prstGeom prst="roundRect">
            <a:avLst>
              <a:gd name="adj" fmla="val 10000"/>
            </a:avLst>
          </a:prstGeom>
          <a:solidFill>
            <a:schemeClr val="tx2"/>
          </a:solidFill>
          <a:ln w="12700">
            <a:solidFill>
              <a:schemeClr val="tx2"/>
            </a:solidFill>
          </a:ln>
        </p:spPr>
        <p:txBody>
          <a:bodyPr wrap="square" lIns="50800" tIns="101600" rIns="101600" bIns="50800" rtlCol="0" anchor="ctr"/>
          <a:lstStyle/>
          <a:p>
            <a:pPr algn="ctr" indent="0" marL="0">
              <a:buNone/>
            </a:pPr>
            <a:r>
              <a:rPr lang="en-US" sz="2000" b="1" dirty="0">
                <a:solidFill>
                  <a:schemeClr val="bg1"/>
                </a:solidFill>
              </a:rPr>
              <a:t>Learn</a:t>
            </a:r>
            <a:endParaRPr lang="en-US" sz="2000" dirty="0"/>
          </a:p>
        </p:txBody>
      </p:sp>
      <p:sp>
        <p:nvSpPr>
          <p:cNvPr id="25" name="arrow"/>
          <p:cNvSpPr/>
          <p:nvPr/>
        </p:nvSpPr>
        <p:spPr>
          <a:xfrm>
            <a:off x="2423160" y="5440680"/>
            <a:ext cx="393192" cy="0"/>
          </a:xfrm>
          <a:prstGeom prst="line">
            <a:avLst/>
          </a:prstGeom>
          <a:noFill/>
          <a:ln w="28575">
            <a:solidFill>
              <a:schemeClr val="accent1"/>
            </a:solidFill>
            <a:prstDash val="solid"/>
            <a:tailEnd type="triangle"/>
          </a:ln>
        </p:spPr>
      </p:sp>
      <p:sp>
        <p:nvSpPr>
          <p:cNvPr id="26" name="Text 23"/>
          <p:cNvSpPr txBox="1"/>
          <p:nvPr/>
        </p:nvSpPr>
        <p:spPr>
          <a:xfrm>
            <a:off x="2862072" y="5074920"/>
            <a:ext cx="1828800" cy="731520"/>
          </a:xfrm>
          <a:prstGeom prst="roundRect">
            <a:avLst>
              <a:gd name="adj" fmla="val 10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2000" b="1" dirty="0">
                <a:solidFill>
                  <a:schemeClr val="tx2"/>
                </a:solidFill>
              </a:rPr>
              <a:t>Build</a:t>
            </a:r>
            <a:endParaRPr lang="en-US" sz="2000" dirty="0"/>
          </a:p>
        </p:txBody>
      </p:sp>
      <p:sp>
        <p:nvSpPr>
          <p:cNvPr id="27" name="arrow"/>
          <p:cNvSpPr/>
          <p:nvPr/>
        </p:nvSpPr>
        <p:spPr>
          <a:xfrm>
            <a:off x="4736592" y="5440680"/>
            <a:ext cx="393192" cy="0"/>
          </a:xfrm>
          <a:prstGeom prst="line">
            <a:avLst/>
          </a:prstGeom>
          <a:noFill/>
          <a:ln w="28575">
            <a:solidFill>
              <a:schemeClr val="accent1"/>
            </a:solidFill>
            <a:prstDash val="solid"/>
            <a:tailEnd type="triangle"/>
          </a:ln>
        </p:spPr>
      </p:sp>
      <p:sp>
        <p:nvSpPr>
          <p:cNvPr id="28" name="Text 25"/>
          <p:cNvSpPr txBox="1"/>
          <p:nvPr/>
        </p:nvSpPr>
        <p:spPr>
          <a:xfrm>
            <a:off x="5175504" y="5074920"/>
            <a:ext cx="1828800" cy="731520"/>
          </a:xfrm>
          <a:prstGeom prst="roundRect">
            <a:avLst>
              <a:gd name="adj" fmla="val 10000"/>
            </a:avLst>
          </a:prstGeom>
          <a:solidFill>
            <a:schemeClr val="tx2"/>
          </a:solidFill>
          <a:ln w="12700">
            <a:solidFill>
              <a:schemeClr val="tx2"/>
            </a:solidFill>
          </a:ln>
        </p:spPr>
        <p:txBody>
          <a:bodyPr wrap="square" lIns="50800" tIns="101600" rIns="101600" bIns="50800" rtlCol="0" anchor="ctr"/>
          <a:lstStyle/>
          <a:p>
            <a:pPr algn="ctr" indent="0" marL="0">
              <a:buNone/>
            </a:pPr>
            <a:r>
              <a:rPr lang="en-US" sz="2000" b="1" dirty="0">
                <a:solidFill>
                  <a:schemeClr val="bg1"/>
                </a:solidFill>
              </a:rPr>
              <a:t>Break</a:t>
            </a:r>
            <a:endParaRPr lang="en-US" sz="2000" dirty="0"/>
          </a:p>
        </p:txBody>
      </p:sp>
      <p:sp>
        <p:nvSpPr>
          <p:cNvPr id="29" name="arrow"/>
          <p:cNvSpPr/>
          <p:nvPr/>
        </p:nvSpPr>
        <p:spPr>
          <a:xfrm>
            <a:off x="7050024" y="5440680"/>
            <a:ext cx="393192" cy="0"/>
          </a:xfrm>
          <a:prstGeom prst="line">
            <a:avLst/>
          </a:prstGeom>
          <a:noFill/>
          <a:ln w="28575">
            <a:solidFill>
              <a:schemeClr val="accent1"/>
            </a:solidFill>
            <a:prstDash val="solid"/>
            <a:tailEnd type="triangle"/>
          </a:ln>
        </p:spPr>
      </p:sp>
      <p:sp>
        <p:nvSpPr>
          <p:cNvPr id="30" name="Text 27"/>
          <p:cNvSpPr txBox="1"/>
          <p:nvPr/>
        </p:nvSpPr>
        <p:spPr>
          <a:xfrm>
            <a:off x="7488936" y="5074920"/>
            <a:ext cx="1828800" cy="731520"/>
          </a:xfrm>
          <a:prstGeom prst="roundRect">
            <a:avLst>
              <a:gd name="adj" fmla="val 10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2000" b="1" dirty="0">
                <a:solidFill>
                  <a:schemeClr val="tx2"/>
                </a:solidFill>
              </a:rPr>
              <a:t>Fix</a:t>
            </a:r>
            <a:endParaRPr lang="en-US" sz="2000" dirty="0"/>
          </a:p>
        </p:txBody>
      </p:sp>
      <p:sp>
        <p:nvSpPr>
          <p:cNvPr id="31" name="arrow"/>
          <p:cNvSpPr/>
          <p:nvPr/>
        </p:nvSpPr>
        <p:spPr>
          <a:xfrm>
            <a:off x="9363456" y="5440680"/>
            <a:ext cx="393192" cy="0"/>
          </a:xfrm>
          <a:prstGeom prst="line">
            <a:avLst/>
          </a:prstGeom>
          <a:noFill/>
          <a:ln w="28575">
            <a:solidFill>
              <a:schemeClr val="accent1"/>
            </a:solidFill>
            <a:prstDash val="solid"/>
            <a:tailEnd type="triangle"/>
          </a:ln>
        </p:spPr>
      </p:sp>
      <p:sp>
        <p:nvSpPr>
          <p:cNvPr id="32" name="Text 29"/>
          <p:cNvSpPr txBox="1"/>
          <p:nvPr/>
        </p:nvSpPr>
        <p:spPr>
          <a:xfrm>
            <a:off x="9802368" y="5074920"/>
            <a:ext cx="1828800" cy="731520"/>
          </a:xfrm>
          <a:prstGeom prst="roundRect">
            <a:avLst>
              <a:gd name="adj" fmla="val 10000"/>
            </a:avLst>
          </a:prstGeom>
          <a:solidFill>
            <a:schemeClr val="tx2"/>
          </a:solidFill>
          <a:ln w="12700">
            <a:solidFill>
              <a:schemeClr val="tx2"/>
            </a:solidFill>
          </a:ln>
        </p:spPr>
        <p:txBody>
          <a:bodyPr wrap="square" lIns="50800" tIns="101600" rIns="101600" bIns="50800" rtlCol="0" anchor="ctr"/>
          <a:lstStyle/>
          <a:p>
            <a:pPr algn="ctr" indent="0" marL="0">
              <a:buNone/>
            </a:pPr>
            <a:r>
              <a:rPr lang="en-US" sz="2000" b="1" dirty="0">
                <a:solidFill>
                  <a:schemeClr val="bg1"/>
                </a:solidFill>
              </a:rPr>
              <a:t>Explain</a:t>
            </a:r>
            <a:endParaRPr lang="en-US" sz="20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HOW TO USE THIS DECK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Four steps for every day</a:t>
            </a:r>
            <a:endParaRPr lang="en-US" sz="3400" dirty="0"/>
          </a:p>
        </p:txBody>
      </p:sp>
      <p:sp>
        <p:nvSpPr>
          <p:cNvPr id="4" name="card 1 · Watch"/>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5"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6" name="icon FaPlayCircle" descr="FaPlayCircle">    </p:cNvPr>
          <p:cNvPicPr>
            <a:picLocks noChangeAspect="1"/>
          </p:cNvPicPr>
          <p:nvPr/>
        </p:nvPicPr>
        <p:blipFill>
          <a:blip r:embed="rId1"/>
          <a:stretch>
            <a:fillRect/>
          </a:stretch>
        </p:blipFill>
        <p:spPr>
          <a:xfrm>
            <a:off x="919886" y="1761134"/>
            <a:ext cx="263347" cy="263347"/>
          </a:xfrm>
          <a:prstGeom prst="rect">
            <a:avLst/>
          </a:prstGeom>
        </p:spPr>
      </p:pic>
      <p:sp>
        <p:nvSpPr>
          <p:cNvPr id="7" name="Text 4"/>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1 · Watch</a:t>
            </a:r>
            <a:endParaRPr lang="en-US" sz="1900" dirty="0"/>
          </a:p>
        </p:txBody>
      </p:sp>
      <p:sp>
        <p:nvSpPr>
          <p:cNvPr id="8" name="Text 5"/>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Watch the day’s video on the channel. </a:t>
            </a:r>
            <a:pPr indent="0" marL="0">
              <a:spcAft>
                <a:spcPts val="600"/>
              </a:spcAft>
              <a:buNone/>
            </a:pPr>
            <a:r>
              <a:rPr lang="en-US" sz="1500" b="1" dirty="0">
                <a:solidFill>
                  <a:schemeClr val="tx1"/>
                </a:solidFill>
              </a:rPr>
              <a:t>30% of your time is concepts.</a:t>
            </a:r>
            <a:endParaRPr lang="en-US" sz="1500" dirty="0"/>
          </a:p>
          <a:p>
            <a:pPr indent="0" marL="0">
              <a:spcAft>
                <a:spcPts val="600"/>
              </a:spcAft>
              <a:buNone/>
            </a:pPr>
            <a:r>
              <a:rPr lang="en-US" sz="1500" dirty="0">
                <a:solidFill>
                  <a:schemeClr val="tx1"/>
                </a:solidFill>
              </a:rPr>
              <a:t>Then skim the concept slides and the diagram.</a:t>
            </a:r>
            <a:endParaRPr lang="en-US" sz="1500" dirty="0"/>
          </a:p>
        </p:txBody>
      </p:sp>
      <p:sp>
        <p:nvSpPr>
          <p:cNvPr id="9" name="card 2 · Read"/>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0"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1" name="icon FaBookOpen" descr="FaBookOpen">    </p:cNvPr>
          <p:cNvPicPr>
            <a:picLocks noChangeAspect="1"/>
          </p:cNvPicPr>
          <p:nvPr/>
        </p:nvPicPr>
        <p:blipFill>
          <a:blip r:embed="rId2"/>
          <a:stretch>
            <a:fillRect/>
          </a:stretch>
        </p:blipFill>
        <p:spPr>
          <a:xfrm>
            <a:off x="6570878" y="1761134"/>
            <a:ext cx="263347" cy="263347"/>
          </a:xfrm>
          <a:prstGeom prst="rect">
            <a:avLst/>
          </a:prstGeom>
        </p:spPr>
      </p:pic>
      <p:sp>
        <p:nvSpPr>
          <p:cNvPr id="12" name="Text 8"/>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2 · Read</a:t>
            </a:r>
            <a:endParaRPr lang="en-US" sz="1900" dirty="0"/>
          </a:p>
        </p:txBody>
      </p:sp>
      <p:sp>
        <p:nvSpPr>
          <p:cNvPr id="13" name="Text 9"/>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Skim the command table and read the “why” column.</a:t>
            </a:r>
            <a:endParaRPr lang="en-US" sz="1500" dirty="0"/>
          </a:p>
          <a:p>
            <a:pPr indent="0" marL="0">
              <a:spcAft>
                <a:spcPts val="600"/>
              </a:spcAft>
              <a:buNone/>
            </a:pPr>
            <a:r>
              <a:rPr lang="en-US" sz="1500" dirty="0">
                <a:solidFill>
                  <a:schemeClr val="tx1"/>
                </a:solidFill>
              </a:rPr>
              <a:t>Read the manifests line by line. Know what each field does.</a:t>
            </a:r>
            <a:endParaRPr lang="en-US" sz="1500" dirty="0"/>
          </a:p>
        </p:txBody>
      </p:sp>
      <p:sp>
        <p:nvSpPr>
          <p:cNvPr id="14" name="card 3 · Build"/>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5"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6" name="icon FaHammer" descr="FaHammer">    </p:cNvPr>
          <p:cNvPicPr>
            <a:picLocks noChangeAspect="1"/>
          </p:cNvPicPr>
          <p:nvPr/>
        </p:nvPicPr>
        <p:blipFill>
          <a:blip r:embed="rId3"/>
          <a:stretch>
            <a:fillRect/>
          </a:stretch>
        </p:blipFill>
        <p:spPr>
          <a:xfrm>
            <a:off x="919886" y="4275734"/>
            <a:ext cx="263347" cy="263347"/>
          </a:xfrm>
          <a:prstGeom prst="rect">
            <a:avLst/>
          </a:prstGeom>
        </p:spPr>
      </p:pic>
      <p:sp>
        <p:nvSpPr>
          <p:cNvPr id="17" name="Text 12"/>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3 · Build</a:t>
            </a:r>
            <a:endParaRPr lang="en-US" sz="1900" dirty="0"/>
          </a:p>
        </p:txBody>
      </p:sp>
      <p:sp>
        <p:nvSpPr>
          <p:cNvPr id="18" name="Text 13"/>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Do the hands-on task on your kind cluster. </a:t>
            </a:r>
            <a:pPr indent="0" marL="0">
              <a:spcAft>
                <a:spcPts val="600"/>
              </a:spcAft>
              <a:buNone/>
            </a:pPr>
            <a:r>
              <a:rPr lang="en-US" sz="1500" b="1" dirty="0">
                <a:solidFill>
                  <a:schemeClr val="tx1"/>
                </a:solidFill>
              </a:rPr>
              <a:t>Type every command yourself.</a:t>
            </a:r>
            <a:pPr indent="0" marL="0">
              <a:spcAft>
                <a:spcPts val="600"/>
              </a:spcAft>
              <a:buNone/>
            </a:pPr>
            <a:r>
              <a:rPr lang="en-US" sz="1500" dirty="0">
                <a:solidFill>
                  <a:schemeClr val="tx1"/>
                </a:solidFill>
              </a:rPr>
              <a:t> Do not paste blindly.</a:t>
            </a:r>
            <a:endParaRPr lang="en-US" sz="1500" dirty="0"/>
          </a:p>
          <a:p>
            <a:pPr indent="0" marL="0">
              <a:spcAft>
                <a:spcPts val="600"/>
              </a:spcAft>
              <a:buNone/>
            </a:pPr>
            <a:r>
              <a:rPr lang="en-US" sz="1500" dirty="0">
                <a:solidFill>
                  <a:schemeClr val="tx1"/>
                </a:solidFill>
              </a:rPr>
              <a:t>Commit to GitHub at the end of the day.</a:t>
            </a:r>
            <a:endParaRPr lang="en-US" sz="1500" dirty="0"/>
          </a:p>
        </p:txBody>
      </p:sp>
      <p:sp>
        <p:nvSpPr>
          <p:cNvPr id="19" name="card 4 · Break &amp; explain"/>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0"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1" name="icon FaBug" descr="FaBug">    </p:cNvPr>
          <p:cNvPicPr>
            <a:picLocks noChangeAspect="1"/>
          </p:cNvPicPr>
          <p:nvPr/>
        </p:nvPicPr>
        <p:blipFill>
          <a:blip r:embed="rId4"/>
          <a:stretch>
            <a:fillRect/>
          </a:stretch>
        </p:blipFill>
        <p:spPr>
          <a:xfrm>
            <a:off x="6570878" y="4275734"/>
            <a:ext cx="263347" cy="263347"/>
          </a:xfrm>
          <a:prstGeom prst="rect">
            <a:avLst/>
          </a:prstGeom>
        </p:spPr>
      </p:pic>
      <p:sp>
        <p:nvSpPr>
          <p:cNvPr id="22" name="Text 16"/>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4 · Break &amp; explain</a:t>
            </a:r>
            <a:endParaRPr lang="en-US" sz="1900" dirty="0"/>
          </a:p>
        </p:txBody>
      </p:sp>
      <p:sp>
        <p:nvSpPr>
          <p:cNvPr id="23" name="Text 17"/>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Break it on purpose, fix it, then answer the interview questions out loud.</a:t>
            </a:r>
            <a:endParaRPr lang="en-US" sz="1500" dirty="0"/>
          </a:p>
          <a:p>
            <a:pPr indent="0" marL="0">
              <a:spcAft>
                <a:spcPts val="600"/>
              </a:spcAft>
              <a:buNone/>
            </a:pPr>
            <a:r>
              <a:rPr lang="en-US" sz="1500" dirty="0">
                <a:solidFill>
                  <a:schemeClr val="tx1"/>
                </a:solidFill>
              </a:rPr>
              <a:t>If you can teach it, you know it.</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THE 7-DAY ROUTE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From first cluster to autoscaling</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868680"/>
                <a:gridCol w="3017520"/>
                <a:gridCol w="4160520"/>
                <a:gridCol w="3044952"/>
              </a:tblGrid>
              <a:tr h="411480">
                <a:tc>
                  <a:txBody>
                    <a:bodyPr/>
                    <a:lstStyle/>
                    <a:p>
                      <a:pPr indent="0" marL="0">
                        <a:buNone/>
                      </a:pPr>
                      <a:r>
                        <a:rPr lang="en-US" sz="1400" b="1" dirty="0">
                          <a:solidFill>
                            <a:schemeClr val="bg1"/>
                          </a:solidFill>
                        </a:rPr>
                        <a:t>Day</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Pillar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You will learn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Deliverable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85216">
                <a:tc>
                  <a:txBody>
                    <a:bodyPr/>
                    <a:lstStyle/>
                    <a:p>
                      <a:pPr indent="0" marL="0">
                        <a:buNone/>
                      </a:pPr>
                      <a:r>
                        <a:rPr lang="en-US" sz="1400" b="1" dirty="0">
                          <a:solidFill>
                            <a:schemeClr val="accent1"/>
                          </a:solidFill>
                        </a:rPr>
                        <a:t>Day 1</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Kubernetes Fundamentals &amp; kind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Architecture · kind · kubectl · Pods · YAML</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3-node cluster running your own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85216">
                <a:tc>
                  <a:txBody>
                    <a:bodyPr/>
                    <a:lstStyle/>
                    <a:p>
                      <a:pPr indent="0" marL="0">
                        <a:buNone/>
                      </a:pPr>
                      <a:r>
                        <a:rPr lang="en-US" sz="1400" b="1" dirty="0">
                          <a:solidFill>
                            <a:schemeClr val="accent1"/>
                          </a:solidFill>
                        </a:rPr>
                        <a:t>Day 2</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Deployments &amp; Rollouts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Deployments · ReplicaSets · Labels · Rolling updates · Rollbacks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self-healing app you updated and rolled back</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85216">
                <a:tc>
                  <a:txBody>
                    <a:bodyPr/>
                    <a:lstStyle/>
                    <a:p>
                      <a:pPr indent="0" marL="0">
                        <a:buNone/>
                      </a:pPr>
                      <a:r>
                        <a:rPr lang="en-US" sz="1400" b="1" dirty="0">
                          <a:solidFill>
                            <a:schemeClr val="accent1"/>
                          </a:solidFill>
                        </a:rPr>
                        <a:t>Day 3</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Services &amp; Networking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ClusterIP · NodePort · DNS · Endpoints · port-forward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An app reachable by name and from your laptop</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85216">
                <a:tc>
                  <a:txBody>
                    <a:bodyPr/>
                    <a:lstStyle/>
                    <a:p>
                      <a:pPr indent="0" marL="0">
                        <a:buNone/>
                      </a:pPr>
                      <a:r>
                        <a:rPr lang="en-US" sz="1400" b="1" dirty="0">
                          <a:solidFill>
                            <a:schemeClr val="accent1"/>
                          </a:solidFill>
                        </a:rPr>
                        <a:t>Day 4</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Config, Secrets &amp; Namespaces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ConfigMaps · Secrets · Env vars · Volume mounts · Namespaces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image in dev and prod with different config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85216">
                <a:tc>
                  <a:txBody>
                    <a:bodyPr/>
                    <a:lstStyle/>
                    <a:p>
                      <a:pPr indent="0" marL="0">
                        <a:buNone/>
                      </a:pPr>
                      <a:r>
                        <a:rPr lang="en-US" sz="1400" b="1" dirty="0">
                          <a:solidFill>
                            <a:schemeClr val="accent1"/>
                          </a:solidFill>
                        </a:rPr>
                        <a:t>Day 5</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Storage &amp; StatefulSets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PV · PVC · StorageClass · StatefulSets · Headless Service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Postgres DB whose data survives Pod deletion</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85216">
                <a:tc>
                  <a:txBody>
                    <a:bodyPr/>
                    <a:lstStyle/>
                    <a:p>
                      <a:pPr indent="0" marL="0">
                        <a:buNone/>
                      </a:pPr>
                      <a:r>
                        <a:rPr lang="en-US" sz="1400" b="1" dirty="0">
                          <a:solidFill>
                            <a:schemeClr val="accent1"/>
                          </a:solidFill>
                        </a:rPr>
                        <a:t>Day 6</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Health, Resources &amp; Autoscaling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Probes · Requests &amp; limits · QoS · metrics-server · HPA</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 app that heals itself and scales under load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85216">
                <a:tc>
                  <a:txBody>
                    <a:bodyPr/>
                    <a:lstStyle/>
                    <a:p>
                      <a:pPr indent="0" marL="0">
                        <a:buNone/>
                      </a:pPr>
                      <a:r>
                        <a:rPr lang="en-US" sz="1400" b="1" dirty="0">
                          <a:solidFill>
                            <a:schemeClr val="accent1"/>
                          </a:solidFill>
                        </a:rPr>
                        <a:t>Day 7</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Security, RBAC &amp; Troubleshooting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RBAC · ServiceAccounts · securityContext · Pod Security · Debugging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locked-down app and 3 broken Pods you fixed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THE PROGRESSION</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One question per day</a:t>
            </a:r>
            <a:endParaRPr lang="en-US" sz="3400" dirty="0"/>
          </a:p>
        </p:txBody>
      </p:sp>
      <p:sp>
        <p:nvSpPr>
          <p:cNvPr id="4" name="progression panel"/>
          <p:cNvSpPr/>
          <p:nvPr/>
        </p:nvSpPr>
        <p:spPr>
          <a:xfrm>
            <a:off x="548640" y="1371600"/>
            <a:ext cx="11094415" cy="4846320"/>
          </a:xfrm>
          <a:prstGeom prst="roundRect">
            <a:avLst>
              <a:gd name="adj" fmla="val 1132"/>
            </a:avLst>
          </a:prstGeom>
          <a:solidFill>
            <a:schemeClr val="tx2"/>
          </a:solidFill>
          <a:ln w="9525">
            <a:solidFill>
              <a:schemeClr val="accent1"/>
            </a:solidFill>
            <a:prstDash val="solid"/>
          </a:ln>
        </p:spPr>
      </p:sp>
      <p:sp>
        <p:nvSpPr>
          <p:cNvPr id="5" name="day circle"/>
          <p:cNvSpPr/>
          <p:nvPr/>
        </p:nvSpPr>
        <p:spPr>
          <a:xfrm>
            <a:off x="868680" y="1572768"/>
            <a:ext cx="475488" cy="475488"/>
          </a:xfrm>
          <a:prstGeom prst="ellipse">
            <a:avLst/>
          </a:prstGeom>
          <a:solidFill>
            <a:schemeClr val="accent2"/>
          </a:solidFill>
          <a:ln w="12700">
            <a:solidFill>
              <a:schemeClr val="accent2"/>
            </a:solidFill>
            <a:prstDash val="solid"/>
          </a:ln>
        </p:spPr>
      </p:sp>
      <p:sp>
        <p:nvSpPr>
          <p:cNvPr id="6" name="Text 4"/>
          <p:cNvSpPr txBox="1"/>
          <p:nvPr/>
        </p:nvSpPr>
        <p:spPr>
          <a:xfrm>
            <a:off x="868680" y="157276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7" name="Text 5"/>
          <p:cNvSpPr txBox="1"/>
          <p:nvPr/>
        </p:nvSpPr>
        <p:spPr>
          <a:xfrm>
            <a:off x="1554480" y="157276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I build a cluster and run a Pod?</a:t>
            </a:r>
            <a:endParaRPr lang="en-US" sz="2000" dirty="0"/>
          </a:p>
        </p:txBody>
      </p:sp>
      <p:sp>
        <p:nvSpPr>
          <p:cNvPr id="8" name="Text 6"/>
          <p:cNvSpPr txBox="1"/>
          <p:nvPr/>
        </p:nvSpPr>
        <p:spPr>
          <a:xfrm>
            <a:off x="7772400" y="157276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Kubernetes Fundamentals &amp; kind</a:t>
            </a:r>
            <a:endParaRPr lang="en-US" sz="1400" dirty="0"/>
          </a:p>
        </p:txBody>
      </p:sp>
      <p:sp>
        <p:nvSpPr>
          <p:cNvPr id="9" name="day circle"/>
          <p:cNvSpPr/>
          <p:nvPr/>
        </p:nvSpPr>
        <p:spPr>
          <a:xfrm>
            <a:off x="868680" y="2212848"/>
            <a:ext cx="475488" cy="475488"/>
          </a:xfrm>
          <a:prstGeom prst="ellipse">
            <a:avLst/>
          </a:prstGeom>
          <a:solidFill>
            <a:schemeClr val="accent2"/>
          </a:solidFill>
          <a:ln w="12700">
            <a:solidFill>
              <a:schemeClr val="accent2"/>
            </a:solidFill>
            <a:prstDash val="solid"/>
          </a:ln>
        </p:spPr>
      </p:sp>
      <p:sp>
        <p:nvSpPr>
          <p:cNvPr id="10" name="Text 8"/>
          <p:cNvSpPr txBox="1"/>
          <p:nvPr/>
        </p:nvSpPr>
        <p:spPr>
          <a:xfrm>
            <a:off x="868680" y="221284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1" name="Text 9"/>
          <p:cNvSpPr txBox="1"/>
          <p:nvPr/>
        </p:nvSpPr>
        <p:spPr>
          <a:xfrm>
            <a:off x="1554480" y="221284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I keep it running, update it and roll it back?</a:t>
            </a:r>
            <a:endParaRPr lang="en-US" sz="2000" dirty="0"/>
          </a:p>
        </p:txBody>
      </p:sp>
      <p:sp>
        <p:nvSpPr>
          <p:cNvPr id="12" name="Text 10"/>
          <p:cNvSpPr txBox="1"/>
          <p:nvPr/>
        </p:nvSpPr>
        <p:spPr>
          <a:xfrm>
            <a:off x="7772400" y="221284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Deployments &amp; Rollouts</a:t>
            </a:r>
            <a:endParaRPr lang="en-US" sz="1400" dirty="0"/>
          </a:p>
        </p:txBody>
      </p:sp>
      <p:sp>
        <p:nvSpPr>
          <p:cNvPr id="13" name="day circle"/>
          <p:cNvSpPr/>
          <p:nvPr/>
        </p:nvSpPr>
        <p:spPr>
          <a:xfrm>
            <a:off x="868680" y="2852928"/>
            <a:ext cx="475488" cy="475488"/>
          </a:xfrm>
          <a:prstGeom prst="ellipse">
            <a:avLst/>
          </a:prstGeom>
          <a:solidFill>
            <a:schemeClr val="accent2"/>
          </a:solidFill>
          <a:ln w="12700">
            <a:solidFill>
              <a:schemeClr val="accent2"/>
            </a:solidFill>
            <a:prstDash val="solid"/>
          </a:ln>
        </p:spPr>
      </p:sp>
      <p:sp>
        <p:nvSpPr>
          <p:cNvPr id="14" name="Text 12"/>
          <p:cNvSpPr txBox="1"/>
          <p:nvPr/>
        </p:nvSpPr>
        <p:spPr>
          <a:xfrm>
            <a:off x="868680" y="285292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5" name="Text 13"/>
          <p:cNvSpPr txBox="1"/>
          <p:nvPr/>
        </p:nvSpPr>
        <p:spPr>
          <a:xfrm>
            <a:off x="1554480" y="285292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apps find and call each other?</a:t>
            </a:r>
            <a:endParaRPr lang="en-US" sz="2000" dirty="0"/>
          </a:p>
        </p:txBody>
      </p:sp>
      <p:sp>
        <p:nvSpPr>
          <p:cNvPr id="16" name="Text 14"/>
          <p:cNvSpPr txBox="1"/>
          <p:nvPr/>
        </p:nvSpPr>
        <p:spPr>
          <a:xfrm>
            <a:off x="7772400" y="285292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Services &amp; Networking</a:t>
            </a:r>
            <a:endParaRPr lang="en-US" sz="1400" dirty="0"/>
          </a:p>
        </p:txBody>
      </p:sp>
      <p:sp>
        <p:nvSpPr>
          <p:cNvPr id="17" name="day circle"/>
          <p:cNvSpPr/>
          <p:nvPr/>
        </p:nvSpPr>
        <p:spPr>
          <a:xfrm>
            <a:off x="868680" y="3493008"/>
            <a:ext cx="475488" cy="475488"/>
          </a:xfrm>
          <a:prstGeom prst="ellipse">
            <a:avLst/>
          </a:prstGeom>
          <a:solidFill>
            <a:schemeClr val="accent2"/>
          </a:solidFill>
          <a:ln w="12700">
            <a:solidFill>
              <a:schemeClr val="accent2"/>
            </a:solidFill>
            <a:prstDash val="solid"/>
          </a:ln>
        </p:spPr>
      </p:sp>
      <p:sp>
        <p:nvSpPr>
          <p:cNvPr id="18" name="Text 16"/>
          <p:cNvSpPr txBox="1"/>
          <p:nvPr/>
        </p:nvSpPr>
        <p:spPr>
          <a:xfrm>
            <a:off x="868680" y="349300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4</a:t>
            </a:r>
            <a:endParaRPr lang="en-US" sz="2000" dirty="0"/>
          </a:p>
        </p:txBody>
      </p:sp>
      <p:sp>
        <p:nvSpPr>
          <p:cNvPr id="19" name="Text 17"/>
          <p:cNvSpPr txBox="1"/>
          <p:nvPr/>
        </p:nvSpPr>
        <p:spPr>
          <a:xfrm>
            <a:off x="1554480" y="349300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I keep config and secrets out of the image?</a:t>
            </a:r>
            <a:endParaRPr lang="en-US" sz="2000" dirty="0"/>
          </a:p>
        </p:txBody>
      </p:sp>
      <p:sp>
        <p:nvSpPr>
          <p:cNvPr id="20" name="Text 18"/>
          <p:cNvSpPr txBox="1"/>
          <p:nvPr/>
        </p:nvSpPr>
        <p:spPr>
          <a:xfrm>
            <a:off x="7772400" y="349300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Config, Secrets &amp; Namespaces</a:t>
            </a:r>
            <a:endParaRPr lang="en-US" sz="1400" dirty="0"/>
          </a:p>
        </p:txBody>
      </p:sp>
      <p:sp>
        <p:nvSpPr>
          <p:cNvPr id="21" name="day circle"/>
          <p:cNvSpPr/>
          <p:nvPr/>
        </p:nvSpPr>
        <p:spPr>
          <a:xfrm>
            <a:off x="868680" y="4133088"/>
            <a:ext cx="475488" cy="475488"/>
          </a:xfrm>
          <a:prstGeom prst="ellipse">
            <a:avLst/>
          </a:prstGeom>
          <a:solidFill>
            <a:schemeClr val="accent2"/>
          </a:solidFill>
          <a:ln w="12700">
            <a:solidFill>
              <a:schemeClr val="accent2"/>
            </a:solidFill>
            <a:prstDash val="solid"/>
          </a:ln>
        </p:spPr>
      </p:sp>
      <p:sp>
        <p:nvSpPr>
          <p:cNvPr id="22" name="Text 20"/>
          <p:cNvSpPr txBox="1"/>
          <p:nvPr/>
        </p:nvSpPr>
        <p:spPr>
          <a:xfrm>
            <a:off x="868680" y="413308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5</a:t>
            </a:r>
            <a:endParaRPr lang="en-US" sz="2000" dirty="0"/>
          </a:p>
        </p:txBody>
      </p:sp>
      <p:sp>
        <p:nvSpPr>
          <p:cNvPr id="23" name="Text 21"/>
          <p:cNvSpPr txBox="1"/>
          <p:nvPr/>
        </p:nvSpPr>
        <p:spPr>
          <a:xfrm>
            <a:off x="1554480" y="413308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my data survive a Pod dying?</a:t>
            </a:r>
            <a:endParaRPr lang="en-US" sz="2000" dirty="0"/>
          </a:p>
        </p:txBody>
      </p:sp>
      <p:sp>
        <p:nvSpPr>
          <p:cNvPr id="24" name="Text 22"/>
          <p:cNvSpPr txBox="1"/>
          <p:nvPr/>
        </p:nvSpPr>
        <p:spPr>
          <a:xfrm>
            <a:off x="7772400" y="413308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Storage &amp; StatefulSets</a:t>
            </a:r>
            <a:endParaRPr lang="en-US" sz="1400" dirty="0"/>
          </a:p>
        </p:txBody>
      </p:sp>
      <p:sp>
        <p:nvSpPr>
          <p:cNvPr id="25" name="day circle"/>
          <p:cNvSpPr/>
          <p:nvPr/>
        </p:nvSpPr>
        <p:spPr>
          <a:xfrm>
            <a:off x="868680" y="4773168"/>
            <a:ext cx="475488" cy="475488"/>
          </a:xfrm>
          <a:prstGeom prst="ellipse">
            <a:avLst/>
          </a:prstGeom>
          <a:solidFill>
            <a:schemeClr val="accent2"/>
          </a:solidFill>
          <a:ln w="12700">
            <a:solidFill>
              <a:schemeClr val="accent2"/>
            </a:solidFill>
            <a:prstDash val="solid"/>
          </a:ln>
        </p:spPr>
      </p:sp>
      <p:sp>
        <p:nvSpPr>
          <p:cNvPr id="26" name="Text 24"/>
          <p:cNvSpPr txBox="1"/>
          <p:nvPr/>
        </p:nvSpPr>
        <p:spPr>
          <a:xfrm>
            <a:off x="868680" y="477316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6</a:t>
            </a:r>
            <a:endParaRPr lang="en-US" sz="2000" dirty="0"/>
          </a:p>
        </p:txBody>
      </p:sp>
      <p:sp>
        <p:nvSpPr>
          <p:cNvPr id="27" name="Text 25"/>
          <p:cNvSpPr txBox="1"/>
          <p:nvPr/>
        </p:nvSpPr>
        <p:spPr>
          <a:xfrm>
            <a:off x="1554480" y="477316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it heal and scale by itself?</a:t>
            </a:r>
            <a:endParaRPr lang="en-US" sz="2000" dirty="0"/>
          </a:p>
        </p:txBody>
      </p:sp>
      <p:sp>
        <p:nvSpPr>
          <p:cNvPr id="28" name="Text 26"/>
          <p:cNvSpPr txBox="1"/>
          <p:nvPr/>
        </p:nvSpPr>
        <p:spPr>
          <a:xfrm>
            <a:off x="7772400" y="477316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Health, Resources &amp; Autoscaling</a:t>
            </a:r>
            <a:endParaRPr lang="en-US" sz="1400" dirty="0"/>
          </a:p>
        </p:txBody>
      </p:sp>
      <p:sp>
        <p:nvSpPr>
          <p:cNvPr id="29" name="day circle"/>
          <p:cNvSpPr/>
          <p:nvPr/>
        </p:nvSpPr>
        <p:spPr>
          <a:xfrm>
            <a:off x="868680" y="5413248"/>
            <a:ext cx="475488" cy="475488"/>
          </a:xfrm>
          <a:prstGeom prst="ellipse">
            <a:avLst/>
          </a:prstGeom>
          <a:solidFill>
            <a:schemeClr val="accent2"/>
          </a:solidFill>
          <a:ln w="12700">
            <a:solidFill>
              <a:schemeClr val="accent2"/>
            </a:solidFill>
            <a:prstDash val="solid"/>
          </a:ln>
        </p:spPr>
      </p:sp>
      <p:sp>
        <p:nvSpPr>
          <p:cNvPr id="30" name="Text 28"/>
          <p:cNvSpPr txBox="1"/>
          <p:nvPr/>
        </p:nvSpPr>
        <p:spPr>
          <a:xfrm>
            <a:off x="868680" y="5413248"/>
            <a:ext cx="475488" cy="475488"/>
          </a:xfrm>
          <a:prstGeom prst="rect">
            <a:avLst/>
          </a:prstGeom>
          <a:noFill/>
          <a:ln/>
        </p:spPr>
        <p:txBody>
          <a:bodyPr wrap="square" lIns="0" tIns="0" rIns="0" bIns="0" rtlCol="0" anchor="ctr"/>
          <a:lstStyle/>
          <a:p>
            <a:pPr algn="ctr" indent="0" marL="0">
              <a:buNone/>
            </a:pPr>
            <a:r>
              <a:rPr lang="en-US" sz="2000" b="1" dirty="0">
                <a:solidFill>
                  <a:schemeClr val="tx2"/>
                </a:solidFill>
              </a:rPr>
              <a:t>7</a:t>
            </a:r>
            <a:endParaRPr lang="en-US" sz="2000" dirty="0"/>
          </a:p>
        </p:txBody>
      </p:sp>
      <p:sp>
        <p:nvSpPr>
          <p:cNvPr id="31" name="Text 29"/>
          <p:cNvSpPr txBox="1"/>
          <p:nvPr/>
        </p:nvSpPr>
        <p:spPr>
          <a:xfrm>
            <a:off x="1554480" y="5413248"/>
            <a:ext cx="6126480" cy="475488"/>
          </a:xfrm>
          <a:prstGeom prst="rect">
            <a:avLst/>
          </a:prstGeom>
          <a:noFill/>
          <a:ln/>
        </p:spPr>
        <p:txBody>
          <a:bodyPr wrap="square" lIns="0" tIns="0" rIns="0" bIns="0" rtlCol="0" anchor="ctr"/>
          <a:lstStyle/>
          <a:p>
            <a:pPr indent="0" marL="0">
              <a:buNone/>
            </a:pPr>
            <a:r>
              <a:rPr lang="en-US" sz="2000" dirty="0">
                <a:solidFill>
                  <a:schemeClr val="bg1"/>
                </a:solidFill>
              </a:rPr>
              <a:t>Can I lock it down, and fix it when it breaks?</a:t>
            </a:r>
            <a:endParaRPr lang="en-US" sz="2000" dirty="0"/>
          </a:p>
        </p:txBody>
      </p:sp>
      <p:sp>
        <p:nvSpPr>
          <p:cNvPr id="32" name="Text 30"/>
          <p:cNvSpPr txBox="1"/>
          <p:nvPr/>
        </p:nvSpPr>
        <p:spPr>
          <a:xfrm>
            <a:off x="7772400" y="5413248"/>
            <a:ext cx="3474720" cy="475488"/>
          </a:xfrm>
          <a:prstGeom prst="rect">
            <a:avLst/>
          </a:prstGeom>
          <a:noFill/>
          <a:ln/>
        </p:spPr>
        <p:txBody>
          <a:bodyPr wrap="square" lIns="0" tIns="0" rIns="0" bIns="0" rtlCol="0" anchor="ctr"/>
          <a:lstStyle/>
          <a:p>
            <a:pPr algn="r" indent="0" marL="0">
              <a:buNone/>
            </a:pPr>
            <a:r>
              <a:rPr lang="en-US" sz="1400" dirty="0">
                <a:solidFill>
                  <a:schemeClr val="accent6"/>
                </a:solidFill>
              </a:rPr>
              <a:t>Security, RBAC &amp; Troubleshooting</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BEFORE YOU START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What you need</a:t>
            </a:r>
            <a:endParaRPr lang="en-US" sz="3400" dirty="0"/>
          </a:p>
        </p:txBody>
      </p:sp>
      <p:sp>
        <p:nvSpPr>
          <p:cNvPr id="4" name="check"/>
          <p:cNvSpPr/>
          <p:nvPr/>
        </p:nvSpPr>
        <p:spPr>
          <a:xfrm>
            <a:off x="548640" y="1463040"/>
            <a:ext cx="384048" cy="384048"/>
          </a:xfrm>
          <a:prstGeom prst="ellipse">
            <a:avLst/>
          </a:prstGeom>
          <a:solidFill>
            <a:schemeClr val="accent3"/>
          </a:solidFill>
          <a:ln w="12700">
            <a:solidFill>
              <a:schemeClr val="accent3"/>
            </a:solidFill>
            <a:prstDash val="solid"/>
          </a:ln>
        </p:spPr>
      </p:sp>
      <p:pic>
        <p:nvPicPr>
          <p:cNvPr id="5" name="icon FaCheck" descr="FaCheck">    </p:cNvPr>
          <p:cNvPicPr>
            <a:picLocks noChangeAspect="1"/>
          </p:cNvPicPr>
          <p:nvPr/>
        </p:nvPicPr>
        <p:blipFill>
          <a:blip r:embed="rId1"/>
          <a:stretch>
            <a:fillRect/>
          </a:stretch>
        </p:blipFill>
        <p:spPr>
          <a:xfrm>
            <a:off x="648492" y="1562892"/>
            <a:ext cx="184343" cy="184343"/>
          </a:xfrm>
          <a:prstGeom prst="rect">
            <a:avLst/>
          </a:prstGeom>
        </p:spPr>
      </p:pic>
      <p:sp>
        <p:nvSpPr>
          <p:cNvPr id="6" name="Text 3"/>
          <p:cNvSpPr txBox="1"/>
          <p:nvPr/>
        </p:nvSpPr>
        <p:spPr>
          <a:xfrm>
            <a:off x="1115568" y="1417320"/>
            <a:ext cx="5120640" cy="658368"/>
          </a:xfrm>
          <a:prstGeom prst="rect">
            <a:avLst/>
          </a:prstGeom>
          <a:noFill/>
          <a:ln/>
        </p:spPr>
        <p:txBody>
          <a:bodyPr wrap="square" lIns="0" tIns="0" rIns="0" bIns="0" rtlCol="0" anchor="ctr"/>
          <a:lstStyle/>
          <a:p>
            <a:pPr indent="0" marL="0">
              <a:buNone/>
            </a:pPr>
            <a:r>
              <a:rPr lang="en-US" sz="1500" b="1" dirty="0">
                <a:solidFill>
                  <a:schemeClr val="tx2"/>
                </a:solidFill>
              </a:rPr>
              <a:t>A Linux VM or laptop: </a:t>
            </a:r>
            <a:pPr indent="0" marL="0">
              <a:buNone/>
            </a:pPr>
            <a:r>
              <a:rPr lang="en-US" sz="1500" dirty="0">
                <a:solidFill>
                  <a:schemeClr val="tx1"/>
                </a:solidFill>
              </a:rPr>
              <a:t>Ubuntu 22.04/24.04 with 2–4 vCPU and 8 GB RAM, or Docker Desktop.</a:t>
            </a:r>
            <a:endParaRPr lang="en-US" sz="1500" dirty="0"/>
          </a:p>
        </p:txBody>
      </p:sp>
      <p:sp>
        <p:nvSpPr>
          <p:cNvPr id="7" name="check"/>
          <p:cNvSpPr/>
          <p:nvPr/>
        </p:nvSpPr>
        <p:spPr>
          <a:xfrm>
            <a:off x="548640" y="2176272"/>
            <a:ext cx="384048" cy="384048"/>
          </a:xfrm>
          <a:prstGeom prst="ellipse">
            <a:avLst/>
          </a:prstGeom>
          <a:solidFill>
            <a:schemeClr val="accent3"/>
          </a:solidFill>
          <a:ln w="12700">
            <a:solidFill>
              <a:schemeClr val="accent3"/>
            </a:solidFill>
            <a:prstDash val="solid"/>
          </a:ln>
        </p:spPr>
      </p:sp>
      <p:pic>
        <p:nvPicPr>
          <p:cNvPr id="8" name="icon FaCheck" descr="FaCheck">    </p:cNvPr>
          <p:cNvPicPr>
            <a:picLocks noChangeAspect="1"/>
          </p:cNvPicPr>
          <p:nvPr/>
        </p:nvPicPr>
        <p:blipFill>
          <a:blip r:embed="rId2"/>
          <a:stretch>
            <a:fillRect/>
          </a:stretch>
        </p:blipFill>
        <p:spPr>
          <a:xfrm>
            <a:off x="648492" y="2276124"/>
            <a:ext cx="184343" cy="184343"/>
          </a:xfrm>
          <a:prstGeom prst="rect">
            <a:avLst/>
          </a:prstGeom>
        </p:spPr>
      </p:pic>
      <p:sp>
        <p:nvSpPr>
          <p:cNvPr id="9" name="Text 5"/>
          <p:cNvSpPr txBox="1"/>
          <p:nvPr/>
        </p:nvSpPr>
        <p:spPr>
          <a:xfrm>
            <a:off x="1115568" y="2130552"/>
            <a:ext cx="5120640" cy="658368"/>
          </a:xfrm>
          <a:prstGeom prst="rect">
            <a:avLst/>
          </a:prstGeom>
          <a:noFill/>
          <a:ln/>
        </p:spPr>
        <p:txBody>
          <a:bodyPr wrap="square" lIns="0" tIns="0" rIns="0" bIns="0" rtlCol="0" anchor="ctr"/>
          <a:lstStyle/>
          <a:p>
            <a:pPr indent="0" marL="0">
              <a:buNone/>
            </a:pPr>
            <a:r>
              <a:rPr lang="en-US" sz="1500" b="1" dirty="0">
                <a:solidFill>
                  <a:schemeClr val="tx2"/>
                </a:solidFill>
              </a:rPr>
              <a:t>Docker Engine running: </a:t>
            </a:r>
            <a:pPr indent="0" marL="0">
              <a:buNone/>
            </a:pPr>
            <a:r>
              <a:rPr lang="en-US" sz="1500" dirty="0">
                <a:solidFill>
                  <a:schemeClr val="tx1"/>
                </a:solidFill>
              </a:rPr>
              <a:t>from Week 2. kind runs every node as a Docker container.</a:t>
            </a:r>
            <a:endParaRPr lang="en-US" sz="1500" dirty="0"/>
          </a:p>
        </p:txBody>
      </p:sp>
      <p:sp>
        <p:nvSpPr>
          <p:cNvPr id="10" name="check"/>
          <p:cNvSpPr/>
          <p:nvPr/>
        </p:nvSpPr>
        <p:spPr>
          <a:xfrm>
            <a:off x="548640" y="2889504"/>
            <a:ext cx="384048" cy="384048"/>
          </a:xfrm>
          <a:prstGeom prst="ellipse">
            <a:avLst/>
          </a:prstGeom>
          <a:solidFill>
            <a:schemeClr val="accent3"/>
          </a:solidFill>
          <a:ln w="12700">
            <a:solidFill>
              <a:schemeClr val="accent3"/>
            </a:solidFill>
            <a:prstDash val="solid"/>
          </a:ln>
        </p:spPr>
      </p:sp>
      <p:pic>
        <p:nvPicPr>
          <p:cNvPr id="11" name="icon FaCheck" descr="FaCheck">    </p:cNvPr>
          <p:cNvPicPr>
            <a:picLocks noChangeAspect="1"/>
          </p:cNvPicPr>
          <p:nvPr/>
        </p:nvPicPr>
        <p:blipFill>
          <a:blip r:embed="rId3"/>
          <a:stretch>
            <a:fillRect/>
          </a:stretch>
        </p:blipFill>
        <p:spPr>
          <a:xfrm>
            <a:off x="648492" y="2989356"/>
            <a:ext cx="184343" cy="184343"/>
          </a:xfrm>
          <a:prstGeom prst="rect">
            <a:avLst/>
          </a:prstGeom>
        </p:spPr>
      </p:pic>
      <p:sp>
        <p:nvSpPr>
          <p:cNvPr id="12" name="Text 7"/>
          <p:cNvSpPr txBox="1"/>
          <p:nvPr/>
        </p:nvSpPr>
        <p:spPr>
          <a:xfrm>
            <a:off x="1115568" y="2843784"/>
            <a:ext cx="5120640" cy="658368"/>
          </a:xfrm>
          <a:prstGeom prst="rect">
            <a:avLst/>
          </a:prstGeom>
          <a:noFill/>
          <a:ln/>
        </p:spPr>
        <p:txBody>
          <a:bodyPr wrap="square" lIns="0" tIns="0" rIns="0" bIns="0" rtlCol="0" anchor="ctr"/>
          <a:lstStyle/>
          <a:p>
            <a:pPr indent="0" marL="0">
              <a:buNone/>
            </a:pPr>
            <a:r>
              <a:rPr lang="en-US" sz="1500" b="1" dirty="0">
                <a:solidFill>
                  <a:schemeClr val="tx2"/>
                </a:solidFill>
              </a:rPr>
              <a:t>kubectl and kind installed: </a:t>
            </a:r>
            <a:pPr indent="0" marL="0">
              <a:buNone/>
            </a:pPr>
            <a:r>
              <a:rPr lang="en-US" sz="1500" dirty="0">
                <a:solidFill>
                  <a:schemeClr val="tx1"/>
                </a:solidFill>
              </a:rPr>
              <a:t>commands on the right; check kind.sigs.k8s.io for the latest version.</a:t>
            </a:r>
            <a:endParaRPr lang="en-US" sz="1500" dirty="0"/>
          </a:p>
        </p:txBody>
      </p:sp>
      <p:sp>
        <p:nvSpPr>
          <p:cNvPr id="13" name="check"/>
          <p:cNvSpPr/>
          <p:nvPr/>
        </p:nvSpPr>
        <p:spPr>
          <a:xfrm>
            <a:off x="548640" y="3602736"/>
            <a:ext cx="384048" cy="384048"/>
          </a:xfrm>
          <a:prstGeom prst="ellipse">
            <a:avLst/>
          </a:prstGeom>
          <a:solidFill>
            <a:schemeClr val="accent3"/>
          </a:solidFill>
          <a:ln w="12700">
            <a:solidFill>
              <a:schemeClr val="accent3"/>
            </a:solidFill>
            <a:prstDash val="solid"/>
          </a:ln>
        </p:spPr>
      </p:sp>
      <p:pic>
        <p:nvPicPr>
          <p:cNvPr id="14" name="icon FaCheck" descr="FaCheck">    </p:cNvPr>
          <p:cNvPicPr>
            <a:picLocks noChangeAspect="1"/>
          </p:cNvPicPr>
          <p:nvPr/>
        </p:nvPicPr>
        <p:blipFill>
          <a:blip r:embed="rId4"/>
          <a:stretch>
            <a:fillRect/>
          </a:stretch>
        </p:blipFill>
        <p:spPr>
          <a:xfrm>
            <a:off x="648492" y="3702588"/>
            <a:ext cx="184343" cy="184343"/>
          </a:xfrm>
          <a:prstGeom prst="rect">
            <a:avLst/>
          </a:prstGeom>
        </p:spPr>
      </p:pic>
      <p:sp>
        <p:nvSpPr>
          <p:cNvPr id="15" name="Text 9"/>
          <p:cNvSpPr txBox="1"/>
          <p:nvPr/>
        </p:nvSpPr>
        <p:spPr>
          <a:xfrm>
            <a:off x="1115568" y="3557016"/>
            <a:ext cx="5120640" cy="658368"/>
          </a:xfrm>
          <a:prstGeom prst="rect">
            <a:avLst/>
          </a:prstGeom>
          <a:noFill/>
          <a:ln/>
        </p:spPr>
        <p:txBody>
          <a:bodyPr wrap="square" lIns="0" tIns="0" rIns="0" bIns="0" rtlCol="0" anchor="ctr"/>
          <a:lstStyle/>
          <a:p>
            <a:pPr indent="0" marL="0">
              <a:buNone/>
            </a:pPr>
            <a:r>
              <a:rPr lang="en-US" sz="1500" b="1" dirty="0">
                <a:solidFill>
                  <a:schemeClr val="tx2"/>
                </a:solidFill>
              </a:rPr>
              <a:t>Week 1–2 skills: </a:t>
            </a:r>
            <a:pPr indent="0" marL="0">
              <a:buNone/>
            </a:pPr>
            <a:r>
              <a:rPr lang="en-US" sz="1500" dirty="0">
                <a:solidFill>
                  <a:schemeClr val="tx1"/>
                </a:solidFill>
              </a:rPr>
              <a:t>Linux commands, curl, YAML basics, Docker images.</a:t>
            </a:r>
            <a:endParaRPr lang="en-US" sz="1500" dirty="0"/>
          </a:p>
        </p:txBody>
      </p:sp>
      <p:sp>
        <p:nvSpPr>
          <p:cNvPr id="16" name="check"/>
          <p:cNvSpPr/>
          <p:nvPr/>
        </p:nvSpPr>
        <p:spPr>
          <a:xfrm>
            <a:off x="548640" y="4315968"/>
            <a:ext cx="384048" cy="384048"/>
          </a:xfrm>
          <a:prstGeom prst="ellipse">
            <a:avLst/>
          </a:prstGeom>
          <a:solidFill>
            <a:schemeClr val="accent3"/>
          </a:solidFill>
          <a:ln w="12700">
            <a:solidFill>
              <a:schemeClr val="accent3"/>
            </a:solidFill>
            <a:prstDash val="solid"/>
          </a:ln>
        </p:spPr>
      </p:sp>
      <p:pic>
        <p:nvPicPr>
          <p:cNvPr id="17" name="icon FaCheck" descr="FaCheck">    </p:cNvPr>
          <p:cNvPicPr>
            <a:picLocks noChangeAspect="1"/>
          </p:cNvPicPr>
          <p:nvPr/>
        </p:nvPicPr>
        <p:blipFill>
          <a:blip r:embed="rId5"/>
          <a:stretch>
            <a:fillRect/>
          </a:stretch>
        </p:blipFill>
        <p:spPr>
          <a:xfrm>
            <a:off x="648492" y="4415820"/>
            <a:ext cx="184343" cy="184343"/>
          </a:xfrm>
          <a:prstGeom prst="rect">
            <a:avLst/>
          </a:prstGeom>
        </p:spPr>
      </p:pic>
      <p:sp>
        <p:nvSpPr>
          <p:cNvPr id="18" name="Text 11"/>
          <p:cNvSpPr txBox="1"/>
          <p:nvPr/>
        </p:nvSpPr>
        <p:spPr>
          <a:xfrm>
            <a:off x="1115568" y="4270248"/>
            <a:ext cx="5120640" cy="658368"/>
          </a:xfrm>
          <a:prstGeom prst="rect">
            <a:avLst/>
          </a:prstGeom>
          <a:noFill/>
          <a:ln/>
        </p:spPr>
        <p:txBody>
          <a:bodyPr wrap="square" lIns="0" tIns="0" rIns="0" bIns="0" rtlCol="0" anchor="ctr"/>
          <a:lstStyle/>
          <a:p>
            <a:pPr indent="0" marL="0">
              <a:buNone/>
            </a:pPr>
            <a:r>
              <a:rPr lang="en-US" sz="1500" b="1" dirty="0">
                <a:solidFill>
                  <a:schemeClr val="tx2"/>
                </a:solidFill>
              </a:rPr>
              <a:t>A GitHub account: </a:t>
            </a:r>
            <a:pPr indent="0" marL="0">
              <a:buNone/>
            </a:pPr>
            <a:r>
              <a:rPr lang="en-US" sz="1500" dirty="0">
                <a:solidFill>
                  <a:schemeClr val="tx1"/>
                </a:solidFill>
              </a:rPr>
              <a:t>commit your folder at the end of every day.</a:t>
            </a:r>
            <a:endParaRPr lang="en-US" sz="1500" dirty="0"/>
          </a:p>
        </p:txBody>
      </p:sp>
      <p:sp>
        <p:nvSpPr>
          <p:cNvPr id="19" name="terminal install and verify"/>
          <p:cNvSpPr/>
          <p:nvPr/>
        </p:nvSpPr>
        <p:spPr>
          <a:xfrm>
            <a:off x="6400800" y="1417320"/>
            <a:ext cx="5239512" cy="3429000"/>
          </a:xfrm>
          <a:prstGeom prst="roundRect">
            <a:avLst>
              <a:gd name="adj" fmla="val 1600"/>
            </a:avLst>
          </a:prstGeom>
          <a:solidFill>
            <a:schemeClr val="tx2"/>
          </a:solidFill>
          <a:ln w="9525">
            <a:solidFill>
              <a:schemeClr val="accent1"/>
            </a:solidFill>
            <a:prstDash val="solid"/>
          </a:ln>
        </p:spPr>
      </p:sp>
      <p:sp>
        <p:nvSpPr>
          <p:cNvPr id="20" name="dot"/>
          <p:cNvSpPr/>
          <p:nvPr/>
        </p:nvSpPr>
        <p:spPr>
          <a:xfrm>
            <a:off x="6601968" y="1572768"/>
            <a:ext cx="100584" cy="100584"/>
          </a:xfrm>
          <a:prstGeom prst="ellipse">
            <a:avLst/>
          </a:prstGeom>
          <a:solidFill>
            <a:schemeClr val="accent4"/>
          </a:solidFill>
          <a:ln w="12700">
            <a:solidFill>
              <a:schemeClr val="accent4"/>
            </a:solidFill>
            <a:prstDash val="solid"/>
          </a:ln>
        </p:spPr>
      </p:sp>
      <p:sp>
        <p:nvSpPr>
          <p:cNvPr id="21" name="dot"/>
          <p:cNvSpPr/>
          <p:nvPr/>
        </p:nvSpPr>
        <p:spPr>
          <a:xfrm>
            <a:off x="6784848" y="1572768"/>
            <a:ext cx="100584" cy="100584"/>
          </a:xfrm>
          <a:prstGeom prst="ellipse">
            <a:avLst/>
          </a:prstGeom>
          <a:solidFill>
            <a:schemeClr val="accent2"/>
          </a:solidFill>
          <a:ln w="12700">
            <a:solidFill>
              <a:schemeClr val="accent2"/>
            </a:solidFill>
            <a:prstDash val="solid"/>
          </a:ln>
        </p:spPr>
      </p:sp>
      <p:sp>
        <p:nvSpPr>
          <p:cNvPr id="22" name="dot"/>
          <p:cNvSpPr/>
          <p:nvPr/>
        </p:nvSpPr>
        <p:spPr>
          <a:xfrm>
            <a:off x="6967728" y="1572768"/>
            <a:ext cx="100584" cy="100584"/>
          </a:xfrm>
          <a:prstGeom prst="ellipse">
            <a:avLst/>
          </a:prstGeom>
          <a:solidFill>
            <a:schemeClr val="accent3"/>
          </a:solidFill>
          <a:ln w="12700">
            <a:solidFill>
              <a:schemeClr val="accent3"/>
            </a:solidFill>
            <a:prstDash val="solid"/>
          </a:ln>
        </p:spPr>
      </p:sp>
      <p:sp>
        <p:nvSpPr>
          <p:cNvPr id="23" name="Text 16"/>
          <p:cNvSpPr txBox="1"/>
          <p:nvPr/>
        </p:nvSpPr>
        <p:spPr>
          <a:xfrm>
            <a:off x="7269480" y="1508760"/>
            <a:ext cx="4142232"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install and verify</a:t>
            </a:r>
            <a:endParaRPr lang="en-US" sz="1100" dirty="0"/>
          </a:p>
        </p:txBody>
      </p:sp>
      <p:sp>
        <p:nvSpPr>
          <p:cNvPr id="24" name="terminal text"/>
          <p:cNvSpPr txBox="1"/>
          <p:nvPr/>
        </p:nvSpPr>
        <p:spPr>
          <a:xfrm>
            <a:off x="6601968" y="1874520"/>
            <a:ext cx="4837176" cy="288036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 kind (Linux x86_64) - check the latest release</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 $(uname -m) = x86_64 ] &amp;&amp;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curl -Lo ./kind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https://kind.sigs.k8s.io/dl/v0.33.0/kind-linux-amd64</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chmod +x ./kind</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sudo mv ./kind /usr/local/bin/kind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kubectl: follow kubernetes.io/docs/tasks/tools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kind version</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version --client</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docker ps</a:t>
            </a:r>
            <a:endParaRPr lang="en-US" sz="1100" dirty="0"/>
          </a:p>
        </p:txBody>
      </p:sp>
      <p:sp>
        <p:nvSpPr>
          <p:cNvPr id="25" name="heads-up"/>
          <p:cNvSpPr/>
          <p:nvPr/>
        </p:nvSpPr>
        <p:spPr>
          <a:xfrm>
            <a:off x="548640" y="5120640"/>
            <a:ext cx="11094415" cy="1005840"/>
          </a:xfrm>
          <a:prstGeom prst="roundRect">
            <a:avLst>
              <a:gd name="adj" fmla="val 7273"/>
            </a:avLst>
          </a:prstGeom>
          <a:solidFill>
            <a:schemeClr val="accent4">
              <a:alpha val="20000"/>
            </a:schemeClr>
          </a:solidFill>
          <a:ln w="9525">
            <a:solidFill>
              <a:schemeClr val="accent4"/>
            </a:solidFill>
            <a:prstDash val="solid"/>
          </a:ln>
        </p:spPr>
      </p:sp>
      <p:sp>
        <p:nvSpPr>
          <p:cNvPr id="26" name="warn icon"/>
          <p:cNvSpPr/>
          <p:nvPr/>
        </p:nvSpPr>
        <p:spPr>
          <a:xfrm>
            <a:off x="777240" y="5376672"/>
            <a:ext cx="502920" cy="502920"/>
          </a:xfrm>
          <a:prstGeom prst="ellipse">
            <a:avLst/>
          </a:prstGeom>
          <a:solidFill>
            <a:schemeClr val="accent4"/>
          </a:solidFill>
          <a:ln w="12700">
            <a:solidFill>
              <a:schemeClr val="accent4"/>
            </a:solidFill>
            <a:prstDash val="solid"/>
          </a:ln>
        </p:spPr>
      </p:sp>
      <p:pic>
        <p:nvPicPr>
          <p:cNvPr id="27" name="icon FaExclamationTriangle" descr="FaExclamationTriangle">    </p:cNvPr>
          <p:cNvPicPr>
            <a:picLocks noChangeAspect="1"/>
          </p:cNvPicPr>
          <p:nvPr/>
        </p:nvPicPr>
        <p:blipFill>
          <a:blip r:embed="rId6"/>
          <a:stretch>
            <a:fillRect/>
          </a:stretch>
        </p:blipFill>
        <p:spPr>
          <a:xfrm>
            <a:off x="907999" y="5507431"/>
            <a:ext cx="241402" cy="241402"/>
          </a:xfrm>
          <a:prstGeom prst="rect">
            <a:avLst/>
          </a:prstGeom>
        </p:spPr>
      </p:pic>
      <p:sp>
        <p:nvSpPr>
          <p:cNvPr id="28" name="Text 20"/>
          <p:cNvSpPr txBox="1"/>
          <p:nvPr/>
        </p:nvSpPr>
        <p:spPr>
          <a:xfrm>
            <a:off x="1463040" y="5193792"/>
            <a:ext cx="2743200" cy="274320"/>
          </a:xfrm>
          <a:prstGeom prst="rect">
            <a:avLst/>
          </a:prstGeom>
          <a:noFill/>
          <a:ln/>
        </p:spPr>
        <p:txBody>
          <a:bodyPr wrap="square" lIns="0" tIns="0" rIns="0" bIns="0" rtlCol="0" anchor="t"/>
          <a:lstStyle/>
          <a:p>
            <a:pPr indent="0" marL="0">
              <a:buNone/>
            </a:pPr>
            <a:r>
              <a:rPr lang="en-US" sz="1600" b="1" dirty="0">
                <a:solidFill>
                  <a:schemeClr val="tx2"/>
                </a:solidFill>
              </a:rPr>
              <a:t>Heads-up</a:t>
            </a:r>
            <a:endParaRPr lang="en-US" sz="1600" dirty="0"/>
          </a:p>
        </p:txBody>
      </p:sp>
      <p:sp>
        <p:nvSpPr>
          <p:cNvPr id="29" name="Text 21"/>
          <p:cNvSpPr txBox="1"/>
          <p:nvPr/>
        </p:nvSpPr>
        <p:spPr>
          <a:xfrm>
            <a:off x="1463040" y="5486400"/>
            <a:ext cx="9966960" cy="566928"/>
          </a:xfrm>
          <a:prstGeom prst="rect">
            <a:avLst/>
          </a:prstGeom>
          <a:noFill/>
          <a:ln/>
        </p:spPr>
        <p:txBody>
          <a:bodyPr wrap="square" lIns="0" tIns="0" rIns="0" bIns="0" rtlCol="0" anchor="t"/>
          <a:lstStyle/>
          <a:p>
            <a:pPr indent="0" marL="0">
              <a:buNone/>
            </a:pPr>
            <a:r>
              <a:rPr lang="en-US" sz="1400" dirty="0">
                <a:solidFill>
                  <a:schemeClr val="tx1"/>
                </a:solidFill>
              </a:rPr>
              <a:t>Commands and manifests are examples to learn from. Image and tool versions change, so check the current release if something fails to pull. kind is for learning and CI, never for production.</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YOUR LAB</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One kind cluster for the whole week</a:t>
            </a:r>
            <a:endParaRPr lang="en-US" sz="3400" dirty="0"/>
          </a:p>
        </p:txBody>
      </p:sp>
      <p:sp>
        <p:nvSpPr>
          <p:cNvPr id="4" name="terminal kind-config.yaml"/>
          <p:cNvSpPr/>
          <p:nvPr/>
        </p:nvSpPr>
        <p:spPr>
          <a:xfrm>
            <a:off x="548640" y="1417320"/>
            <a:ext cx="5120640" cy="2697480"/>
          </a:xfrm>
          <a:prstGeom prst="roundRect">
            <a:avLst>
              <a:gd name="adj" fmla="val 2034"/>
            </a:avLst>
          </a:prstGeom>
          <a:solidFill>
            <a:schemeClr val="tx2"/>
          </a:solidFill>
          <a:ln w="9525">
            <a:solidFill>
              <a:schemeClr val="accent1"/>
            </a:solidFill>
            <a:prstDash val="solid"/>
          </a:ln>
        </p:spPr>
      </p:sp>
      <p:sp>
        <p:nvSpPr>
          <p:cNvPr id="5" name="dot"/>
          <p:cNvSpPr/>
          <p:nvPr/>
        </p:nvSpPr>
        <p:spPr>
          <a:xfrm>
            <a:off x="749808" y="1572768"/>
            <a:ext cx="100584" cy="100584"/>
          </a:xfrm>
          <a:prstGeom prst="ellipse">
            <a:avLst/>
          </a:prstGeom>
          <a:solidFill>
            <a:schemeClr val="accent4"/>
          </a:solidFill>
          <a:ln w="12700">
            <a:solidFill>
              <a:schemeClr val="accent4"/>
            </a:solidFill>
            <a:prstDash val="solid"/>
          </a:ln>
        </p:spPr>
      </p:sp>
      <p:sp>
        <p:nvSpPr>
          <p:cNvPr id="6" name="dot"/>
          <p:cNvSpPr/>
          <p:nvPr/>
        </p:nvSpPr>
        <p:spPr>
          <a:xfrm>
            <a:off x="932688" y="1572768"/>
            <a:ext cx="100584" cy="100584"/>
          </a:xfrm>
          <a:prstGeom prst="ellipse">
            <a:avLst/>
          </a:prstGeom>
          <a:solidFill>
            <a:schemeClr val="accent2"/>
          </a:solidFill>
          <a:ln w="12700">
            <a:solidFill>
              <a:schemeClr val="accent2"/>
            </a:solidFill>
            <a:prstDash val="solid"/>
          </a:ln>
        </p:spPr>
      </p:sp>
      <p:sp>
        <p:nvSpPr>
          <p:cNvPr id="7" name="dot"/>
          <p:cNvSpPr/>
          <p:nvPr/>
        </p:nvSpPr>
        <p:spPr>
          <a:xfrm>
            <a:off x="1115568" y="1572768"/>
            <a:ext cx="100584" cy="100584"/>
          </a:xfrm>
          <a:prstGeom prst="ellipse">
            <a:avLst/>
          </a:prstGeom>
          <a:solidFill>
            <a:schemeClr val="accent3"/>
          </a:solidFill>
          <a:ln w="12700">
            <a:solidFill>
              <a:schemeClr val="accent3"/>
            </a:solidFill>
            <a:prstDash val="solid"/>
          </a:ln>
        </p:spPr>
      </p:sp>
      <p:sp>
        <p:nvSpPr>
          <p:cNvPr id="8" name="Text 6"/>
          <p:cNvSpPr txBox="1"/>
          <p:nvPr/>
        </p:nvSpPr>
        <p:spPr>
          <a:xfrm>
            <a:off x="1417320" y="1508760"/>
            <a:ext cx="4023360"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kind-config.yaml</a:t>
            </a:r>
            <a:endParaRPr lang="en-US" sz="1100" dirty="0"/>
          </a:p>
        </p:txBody>
      </p:sp>
      <p:sp>
        <p:nvSpPr>
          <p:cNvPr id="9" name="terminal text"/>
          <p:cNvSpPr txBox="1"/>
          <p:nvPr/>
        </p:nvSpPr>
        <p:spPr>
          <a:xfrm>
            <a:off x="749808" y="1874520"/>
            <a:ext cx="4718304" cy="214884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 kind-config.yaml  (used all week)</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kind:</a:t>
            </a:r>
            <a:pPr indent="0" marL="0">
              <a:buNone/>
            </a:pPr>
            <a:r>
              <a:rPr lang="en-US" sz="1200" dirty="0">
                <a:solidFill>
                  <a:schemeClr val="bg1"/>
                </a:solidFill>
                <a:latin typeface="Courier New" pitchFamily="34" charset="0"/>
                <a:ea typeface="Courier New" pitchFamily="34" charset="-122"/>
                <a:cs typeface="Courier New" pitchFamily="34" charset="-120"/>
              </a:rPr>
              <a:t> Cluster</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apiVersion:</a:t>
            </a:r>
            <a:pPr indent="0" marL="0">
              <a:buNone/>
            </a:pPr>
            <a:r>
              <a:rPr lang="en-US" sz="1200" dirty="0">
                <a:solidFill>
                  <a:schemeClr val="bg1"/>
                </a:solidFill>
                <a:latin typeface="Courier New" pitchFamily="34" charset="0"/>
                <a:ea typeface="Courier New" pitchFamily="34" charset="-122"/>
                <a:cs typeface="Courier New" pitchFamily="34" charset="-120"/>
              </a:rPr>
              <a:t> kind.x-k8s.io/v1alpha4</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nodes:</a:t>
            </a:r>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role:</a:t>
            </a:r>
            <a:pPr indent="0" marL="0">
              <a:buNone/>
            </a:pPr>
            <a:r>
              <a:rPr lang="en-US" sz="1200" dirty="0">
                <a:solidFill>
                  <a:schemeClr val="bg1"/>
                </a:solidFill>
                <a:latin typeface="Courier New" pitchFamily="34" charset="0"/>
                <a:ea typeface="Courier New" pitchFamily="34" charset="-122"/>
                <a:cs typeface="Courier New" pitchFamily="34" charset="-120"/>
              </a:rPr>
              <a:t> control-plane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role:</a:t>
            </a:r>
            <a:pPr indent="0" marL="0">
              <a:buNone/>
            </a:pPr>
            <a:r>
              <a:rPr lang="en-US" sz="1200" dirty="0">
                <a:solidFill>
                  <a:schemeClr val="bg1"/>
                </a:solidFill>
                <a:latin typeface="Courier New" pitchFamily="34" charset="0"/>
                <a:ea typeface="Courier New" pitchFamily="34" charset="-122"/>
                <a:cs typeface="Courier New" pitchFamily="34" charset="-120"/>
              </a:rPr>
              <a:t> worker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extraPortMappings: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containerPort:</a:t>
            </a:r>
            <a:pPr indent="0" marL="0">
              <a:buNone/>
            </a:pPr>
            <a:r>
              <a:rPr lang="en-US" sz="1200" dirty="0">
                <a:solidFill>
                  <a:schemeClr val="bg1"/>
                </a:solidFill>
                <a:latin typeface="Courier New" pitchFamily="34" charset="0"/>
                <a:ea typeface="Courier New" pitchFamily="34" charset="-122"/>
                <a:cs typeface="Courier New" pitchFamily="34" charset="-120"/>
              </a:rPr>
              <a:t> 30080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hostPort: 30080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protocol: TCP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role:</a:t>
            </a:r>
            <a:pPr indent="0" marL="0">
              <a:buNone/>
            </a:pPr>
            <a:r>
              <a:rPr lang="en-US" sz="1200" dirty="0">
                <a:solidFill>
                  <a:schemeClr val="bg1"/>
                </a:solidFill>
                <a:latin typeface="Courier New" pitchFamily="34" charset="0"/>
                <a:ea typeface="Courier New" pitchFamily="34" charset="-122"/>
                <a:cs typeface="Courier New" pitchFamily="34" charset="-120"/>
              </a:rPr>
              <a:t> worker</a:t>
            </a:r>
            <a:endParaRPr lang="en-US" sz="1200" dirty="0"/>
          </a:p>
        </p:txBody>
      </p:sp>
      <p:sp>
        <p:nvSpPr>
          <p:cNvPr id="10" name="scope note"/>
          <p:cNvSpPr/>
          <p:nvPr/>
        </p:nvSpPr>
        <p:spPr>
          <a:xfrm>
            <a:off x="548640" y="4389120"/>
            <a:ext cx="5120640" cy="1828800"/>
          </a:xfrm>
          <a:prstGeom prst="roundRect">
            <a:avLst>
              <a:gd name="adj" fmla="val 4000"/>
            </a:avLst>
          </a:prstGeom>
          <a:solidFill>
            <a:schemeClr val="accent4">
              <a:alpha val="18000"/>
            </a:schemeClr>
          </a:solidFill>
          <a:ln w="9525">
            <a:solidFill>
              <a:schemeClr val="accent4"/>
            </a:solidFill>
            <a:prstDash val="solid"/>
          </a:ln>
        </p:spPr>
      </p:sp>
      <p:sp>
        <p:nvSpPr>
          <p:cNvPr id="11" name="Text 9"/>
          <p:cNvSpPr txBox="1"/>
          <p:nvPr/>
        </p:nvSpPr>
        <p:spPr>
          <a:xfrm>
            <a:off x="777240" y="4526280"/>
            <a:ext cx="4663440" cy="274320"/>
          </a:xfrm>
          <a:prstGeom prst="rect">
            <a:avLst/>
          </a:prstGeom>
          <a:noFill/>
          <a:ln/>
        </p:spPr>
        <p:txBody>
          <a:bodyPr wrap="square" lIns="0" tIns="0" rIns="0" bIns="0" rtlCol="0" anchor="t"/>
          <a:lstStyle/>
          <a:p>
            <a:pPr indent="0" marL="0">
              <a:buNone/>
            </a:pPr>
            <a:r>
              <a:rPr lang="en-US" sz="1500" b="1" dirty="0">
                <a:solidFill>
                  <a:schemeClr val="tx2"/>
                </a:solidFill>
              </a:rPr>
              <a:t>Not this week, on purpose</a:t>
            </a:r>
            <a:endParaRPr lang="en-US" sz="1500" dirty="0"/>
          </a:p>
        </p:txBody>
      </p:sp>
      <p:sp>
        <p:nvSpPr>
          <p:cNvPr id="12" name="Text 10"/>
          <p:cNvSpPr txBox="1"/>
          <p:nvPr/>
        </p:nvSpPr>
        <p:spPr>
          <a:xfrm>
            <a:off x="777240" y="4892040"/>
            <a:ext cx="4663440" cy="1097280"/>
          </a:xfrm>
          <a:prstGeom prst="rect">
            <a:avLst/>
          </a:prstGeom>
          <a:noFill/>
          <a:ln/>
        </p:spPr>
        <p:txBody>
          <a:bodyPr wrap="square" lIns="0" tIns="0" rIns="0" bIns="0" rtlCol="0" anchor="t"/>
          <a:lstStyle/>
          <a:p>
            <a:pPr indent="0" marL="0">
              <a:buNone/>
            </a:pPr>
            <a:r>
              <a:rPr lang="en-US" sz="1600" dirty="0">
                <a:solidFill>
                  <a:schemeClr val="tx1"/>
                </a:solidFill>
              </a:rPr>
              <a:t>Ingress, Helm, GitOps and NetworkPolicy come later. This week stays on core Kubernetes objects, so each one is clear.</a:t>
            </a:r>
            <a:endParaRPr lang="en-US" sz="1600" dirty="0"/>
          </a:p>
        </p:txBody>
      </p:sp>
      <p:sp>
        <p:nvSpPr>
          <p:cNvPr id="13" name="lab card 1 control plane + 2 workers"/>
          <p:cNvSpPr/>
          <p:nvPr/>
        </p:nvSpPr>
        <p:spPr>
          <a:xfrm>
            <a:off x="5989320" y="1417320"/>
            <a:ext cx="5650992" cy="1417320"/>
          </a:xfrm>
          <a:prstGeom prst="roundRect">
            <a:avLst>
              <a:gd name="adj" fmla="val 5161"/>
            </a:avLst>
          </a:prstGeom>
          <a:solidFill>
            <a:schemeClr val="accent1">
              <a:alpha val="12000"/>
            </a:schemeClr>
          </a:solidFill>
          <a:ln w="9525">
            <a:solidFill>
              <a:schemeClr val="accent1"/>
            </a:solidFill>
            <a:prstDash val="solid"/>
          </a:ln>
        </p:spPr>
      </p:sp>
      <p:sp>
        <p:nvSpPr>
          <p:cNvPr id="14" name="lab icon"/>
          <p:cNvSpPr/>
          <p:nvPr/>
        </p:nvSpPr>
        <p:spPr>
          <a:xfrm>
            <a:off x="6217920" y="1673352"/>
            <a:ext cx="548640" cy="548640"/>
          </a:xfrm>
          <a:prstGeom prst="ellipse">
            <a:avLst/>
          </a:prstGeom>
          <a:solidFill>
            <a:schemeClr val="accent1"/>
          </a:solidFill>
          <a:ln w="12700">
            <a:solidFill>
              <a:schemeClr val="accent1"/>
            </a:solidFill>
            <a:prstDash val="solid"/>
          </a:ln>
        </p:spPr>
      </p:sp>
      <p:pic>
        <p:nvPicPr>
          <p:cNvPr id="15" name="icon FaServer" descr="FaServer">    </p:cNvPr>
          <p:cNvPicPr>
            <a:picLocks noChangeAspect="1"/>
          </p:cNvPicPr>
          <p:nvPr/>
        </p:nvPicPr>
        <p:blipFill>
          <a:blip r:embed="rId1"/>
          <a:stretch>
            <a:fillRect/>
          </a:stretch>
        </p:blipFill>
        <p:spPr>
          <a:xfrm>
            <a:off x="6360566" y="1815998"/>
            <a:ext cx="263347" cy="263347"/>
          </a:xfrm>
          <a:prstGeom prst="rect">
            <a:avLst/>
          </a:prstGeom>
        </p:spPr>
      </p:pic>
      <p:sp>
        <p:nvSpPr>
          <p:cNvPr id="16" name="Text 13"/>
          <p:cNvSpPr txBox="1"/>
          <p:nvPr/>
        </p:nvSpPr>
        <p:spPr>
          <a:xfrm>
            <a:off x="6949440" y="1581912"/>
            <a:ext cx="4526280" cy="320040"/>
          </a:xfrm>
          <a:prstGeom prst="rect">
            <a:avLst/>
          </a:prstGeom>
          <a:noFill/>
          <a:ln/>
        </p:spPr>
        <p:txBody>
          <a:bodyPr wrap="square" lIns="0" tIns="0" rIns="0" bIns="0" rtlCol="0" anchor="t"/>
          <a:lstStyle/>
          <a:p>
            <a:pPr indent="0" marL="0">
              <a:buNone/>
            </a:pPr>
            <a:r>
              <a:rPr lang="en-US" sz="1700" b="1" dirty="0">
                <a:solidFill>
                  <a:schemeClr val="tx2"/>
                </a:solidFill>
              </a:rPr>
              <a:t>1 control plane + 2 workers</a:t>
            </a:r>
            <a:endParaRPr lang="en-US" sz="1700" dirty="0"/>
          </a:p>
        </p:txBody>
      </p:sp>
      <p:sp>
        <p:nvSpPr>
          <p:cNvPr id="17" name="Text 14"/>
          <p:cNvSpPr txBox="1"/>
          <p:nvPr/>
        </p:nvSpPr>
        <p:spPr>
          <a:xfrm>
            <a:off x="6949440" y="1947672"/>
            <a:ext cx="4526280" cy="822960"/>
          </a:xfrm>
          <a:prstGeom prst="rect">
            <a:avLst/>
          </a:prstGeom>
          <a:noFill/>
          <a:ln/>
        </p:spPr>
        <p:txBody>
          <a:bodyPr wrap="square" lIns="0" tIns="0" rIns="0" bIns="0" rtlCol="0" anchor="t"/>
          <a:lstStyle/>
          <a:p>
            <a:pPr indent="0" marL="0">
              <a:buNone/>
            </a:pPr>
            <a:r>
              <a:rPr lang="en-US" sz="1400" dirty="0">
                <a:solidFill>
                  <a:schemeClr val="tx1"/>
                </a:solidFill>
              </a:rPr>
              <a:t>Like a real cluster. The control plane is tainted, so your Pods land on the workers.</a:t>
            </a:r>
            <a:endParaRPr lang="en-US" sz="1400" dirty="0"/>
          </a:p>
        </p:txBody>
      </p:sp>
      <p:sp>
        <p:nvSpPr>
          <p:cNvPr id="18" name="lab card extraPortMappings"/>
          <p:cNvSpPr/>
          <p:nvPr/>
        </p:nvSpPr>
        <p:spPr>
          <a:xfrm>
            <a:off x="5989320" y="3044952"/>
            <a:ext cx="5650992" cy="1417320"/>
          </a:xfrm>
          <a:prstGeom prst="roundRect">
            <a:avLst>
              <a:gd name="adj" fmla="val 5161"/>
            </a:avLst>
          </a:prstGeom>
          <a:solidFill>
            <a:schemeClr val="accent3">
              <a:alpha val="12000"/>
            </a:schemeClr>
          </a:solidFill>
          <a:ln w="9525">
            <a:solidFill>
              <a:schemeClr val="accent3"/>
            </a:solidFill>
            <a:prstDash val="solid"/>
          </a:ln>
        </p:spPr>
      </p:sp>
      <p:sp>
        <p:nvSpPr>
          <p:cNvPr id="19" name="lab icon"/>
          <p:cNvSpPr/>
          <p:nvPr/>
        </p:nvSpPr>
        <p:spPr>
          <a:xfrm>
            <a:off x="6217920" y="3300984"/>
            <a:ext cx="548640" cy="548640"/>
          </a:xfrm>
          <a:prstGeom prst="ellipse">
            <a:avLst/>
          </a:prstGeom>
          <a:solidFill>
            <a:schemeClr val="accent3"/>
          </a:solidFill>
          <a:ln w="12700">
            <a:solidFill>
              <a:schemeClr val="accent3"/>
            </a:solidFill>
            <a:prstDash val="solid"/>
          </a:ln>
        </p:spPr>
      </p:sp>
      <p:pic>
        <p:nvPicPr>
          <p:cNvPr id="20" name="icon FaNetworkWired" descr="FaNetworkWired">    </p:cNvPr>
          <p:cNvPicPr>
            <a:picLocks noChangeAspect="1"/>
          </p:cNvPicPr>
          <p:nvPr/>
        </p:nvPicPr>
        <p:blipFill>
          <a:blip r:embed="rId2"/>
          <a:stretch>
            <a:fillRect/>
          </a:stretch>
        </p:blipFill>
        <p:spPr>
          <a:xfrm>
            <a:off x="6360566" y="3443630"/>
            <a:ext cx="263347" cy="263347"/>
          </a:xfrm>
          <a:prstGeom prst="rect">
            <a:avLst/>
          </a:prstGeom>
        </p:spPr>
      </p:pic>
      <p:sp>
        <p:nvSpPr>
          <p:cNvPr id="21" name="Text 17"/>
          <p:cNvSpPr txBox="1"/>
          <p:nvPr/>
        </p:nvSpPr>
        <p:spPr>
          <a:xfrm>
            <a:off x="6949440" y="3209544"/>
            <a:ext cx="4526280" cy="320040"/>
          </a:xfrm>
          <a:prstGeom prst="rect">
            <a:avLst/>
          </a:prstGeom>
          <a:noFill/>
          <a:ln/>
        </p:spPr>
        <p:txBody>
          <a:bodyPr wrap="square" lIns="0" tIns="0" rIns="0" bIns="0" rtlCol="0" anchor="t"/>
          <a:lstStyle/>
          <a:p>
            <a:pPr indent="0" marL="0">
              <a:buNone/>
            </a:pPr>
            <a:r>
              <a:rPr lang="en-US" sz="1700" b="1" dirty="0">
                <a:solidFill>
                  <a:schemeClr val="tx2"/>
                </a:solidFill>
              </a:rPr>
              <a:t>extraPortMappings</a:t>
            </a:r>
            <a:endParaRPr lang="en-US" sz="1700" dirty="0"/>
          </a:p>
        </p:txBody>
      </p:sp>
      <p:sp>
        <p:nvSpPr>
          <p:cNvPr id="22" name="Text 18"/>
          <p:cNvSpPr txBox="1"/>
          <p:nvPr/>
        </p:nvSpPr>
        <p:spPr>
          <a:xfrm>
            <a:off x="6949440" y="3575304"/>
            <a:ext cx="4526280" cy="822960"/>
          </a:xfrm>
          <a:prstGeom prst="rect">
            <a:avLst/>
          </a:prstGeom>
          <a:noFill/>
          <a:ln/>
        </p:spPr>
        <p:txBody>
          <a:bodyPr wrap="square" lIns="0" tIns="0" rIns="0" bIns="0" rtlCol="0" anchor="t"/>
          <a:lstStyle/>
          <a:p>
            <a:pPr indent="0" marL="0">
              <a:buNone/>
            </a:pPr>
            <a:r>
              <a:rPr lang="en-US" sz="1400" dirty="0">
                <a:solidFill>
                  <a:schemeClr val="tx1"/>
                </a:solidFill>
              </a:rPr>
              <a:t>Maps host port 30080 to a worker. NodePort 30080 then works on localhost (Day 3).</a:t>
            </a:r>
            <a:endParaRPr lang="en-US" sz="1400" dirty="0"/>
          </a:p>
        </p:txBody>
      </p:sp>
      <p:sp>
        <p:nvSpPr>
          <p:cNvPr id="23" name="lab card Create once, reuse all week"/>
          <p:cNvSpPr/>
          <p:nvPr/>
        </p:nvSpPr>
        <p:spPr>
          <a:xfrm>
            <a:off x="5989320" y="4672584"/>
            <a:ext cx="5650992" cy="1417320"/>
          </a:xfrm>
          <a:prstGeom prst="roundRect">
            <a:avLst>
              <a:gd name="adj" fmla="val 5161"/>
            </a:avLst>
          </a:prstGeom>
          <a:solidFill>
            <a:schemeClr val="accent5">
              <a:alpha val="12000"/>
            </a:schemeClr>
          </a:solidFill>
          <a:ln w="9525">
            <a:solidFill>
              <a:schemeClr val="accent5"/>
            </a:solidFill>
            <a:prstDash val="solid"/>
          </a:ln>
        </p:spPr>
      </p:sp>
      <p:sp>
        <p:nvSpPr>
          <p:cNvPr id="24" name="lab icon"/>
          <p:cNvSpPr/>
          <p:nvPr/>
        </p:nvSpPr>
        <p:spPr>
          <a:xfrm>
            <a:off x="6217920" y="4928616"/>
            <a:ext cx="548640" cy="548640"/>
          </a:xfrm>
          <a:prstGeom prst="ellipse">
            <a:avLst/>
          </a:prstGeom>
          <a:solidFill>
            <a:schemeClr val="accent5"/>
          </a:solidFill>
          <a:ln w="12700">
            <a:solidFill>
              <a:schemeClr val="accent5"/>
            </a:solidFill>
            <a:prstDash val="solid"/>
          </a:ln>
        </p:spPr>
      </p:sp>
      <p:pic>
        <p:nvPicPr>
          <p:cNvPr id="25" name="icon FaTerminal" descr="FaTerminal">    </p:cNvPr>
          <p:cNvPicPr>
            <a:picLocks noChangeAspect="1"/>
          </p:cNvPicPr>
          <p:nvPr/>
        </p:nvPicPr>
        <p:blipFill>
          <a:blip r:embed="rId3"/>
          <a:stretch>
            <a:fillRect/>
          </a:stretch>
        </p:blipFill>
        <p:spPr>
          <a:xfrm>
            <a:off x="6360566" y="5071262"/>
            <a:ext cx="263347" cy="263347"/>
          </a:xfrm>
          <a:prstGeom prst="rect">
            <a:avLst/>
          </a:prstGeom>
        </p:spPr>
      </p:pic>
      <p:sp>
        <p:nvSpPr>
          <p:cNvPr id="26" name="Text 21"/>
          <p:cNvSpPr txBox="1"/>
          <p:nvPr/>
        </p:nvSpPr>
        <p:spPr>
          <a:xfrm>
            <a:off x="6949440" y="4837176"/>
            <a:ext cx="4526280" cy="320040"/>
          </a:xfrm>
          <a:prstGeom prst="rect">
            <a:avLst/>
          </a:prstGeom>
          <a:noFill/>
          <a:ln/>
        </p:spPr>
        <p:txBody>
          <a:bodyPr wrap="square" lIns="0" tIns="0" rIns="0" bIns="0" rtlCol="0" anchor="t"/>
          <a:lstStyle/>
          <a:p>
            <a:pPr indent="0" marL="0">
              <a:buNone/>
            </a:pPr>
            <a:r>
              <a:rPr lang="en-US" sz="1700" b="1" dirty="0">
                <a:solidFill>
                  <a:schemeClr val="tx2"/>
                </a:solidFill>
              </a:rPr>
              <a:t>Create once, reuse all week</a:t>
            </a:r>
            <a:endParaRPr lang="en-US" sz="1700" dirty="0"/>
          </a:p>
        </p:txBody>
      </p:sp>
      <p:sp>
        <p:nvSpPr>
          <p:cNvPr id="27" name="Text 22"/>
          <p:cNvSpPr txBox="1"/>
          <p:nvPr/>
        </p:nvSpPr>
        <p:spPr>
          <a:xfrm>
            <a:off x="6949440" y="5202936"/>
            <a:ext cx="4526280" cy="822960"/>
          </a:xfrm>
          <a:prstGeom prst="rect">
            <a:avLst/>
          </a:prstGeom>
          <a:noFill/>
          <a:ln/>
        </p:spPr>
        <p:txBody>
          <a:bodyPr wrap="square" lIns="0" tIns="0" rIns="0" bIns="0" rtlCol="0" anchor="t"/>
          <a:lstStyle/>
          <a:p>
            <a:pPr indent="0" marL="0">
              <a:buNone/>
            </a:pPr>
            <a:r>
              <a:rPr lang="en-US" sz="1400" dirty="0">
                <a:solidFill>
                  <a:schemeClr val="tx1"/>
                </a:solidFill>
              </a:rPr>
              <a:t>kind create cluster --name winter-arc --config kind-config.yaml. Day 7 cleanup: kind delete cluster.</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SiKubernetes" descr="SiKubernetes">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1</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Kubernetes Fundamentals &amp; kind</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Beginner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Architecture · kind · kubectl · Pods · YAML</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explain how a Kubernetes cluster is built, create a 3-node kind cluster, and run, inspect and delete a Pod with kubectl.</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Install kind and kubectl</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Create a 3-node kind cluster</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Run and inspect your first Pod</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Write a Pod manifest and apply it</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A 3-node cluster running your own Pod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Kubernetes Fundamentals &amp; kind</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card What is Kubernetes?"/>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Cogs" descr="FaCogs">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What is Kubernetes?</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Kubernetes is a </a:t>
            </a:r>
            <a:pPr indent="0" marL="0">
              <a:spcAft>
                <a:spcPts val="600"/>
              </a:spcAft>
              <a:buNone/>
            </a:pPr>
            <a:r>
              <a:rPr lang="en-US" sz="1500" b="1" dirty="0">
                <a:solidFill>
                  <a:schemeClr val="tx1"/>
                </a:solidFill>
              </a:rPr>
              <a:t>container orchestrator</a:t>
            </a:r>
            <a:pPr indent="0" marL="0">
              <a:spcAft>
                <a:spcPts val="600"/>
              </a:spcAft>
              <a:buNone/>
            </a:pPr>
            <a:r>
              <a:rPr lang="en-US" sz="1500" dirty="0">
                <a:solidFill>
                  <a:schemeClr val="tx1"/>
                </a:solidFill>
              </a:rPr>
              <a:t>. You declare the desired state (“3 copies of this app”) and controllers keep reconciling reality to match it.</a:t>
            </a:r>
            <a:endParaRPr lang="en-US" sz="1500" dirty="0"/>
          </a:p>
          <a:p>
            <a:pPr indent="0" marL="0">
              <a:spcAft>
                <a:spcPts val="600"/>
              </a:spcAft>
              <a:buNone/>
            </a:pPr>
            <a:r>
              <a:rPr lang="en-US" sz="1500" dirty="0">
                <a:solidFill>
                  <a:schemeClr val="tx1"/>
                </a:solidFill>
              </a:rPr>
              <a:t>Docker runs one container. Kubernetes runs, heals and scales many.</a:t>
            </a:r>
            <a:endParaRPr lang="en-US" sz="1500" dirty="0"/>
          </a:p>
        </p:txBody>
      </p:sp>
      <p:sp>
        <p:nvSpPr>
          <p:cNvPr id="11" name="card Control plane vs Worker"/>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Server" descr="FaServer">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Control plane vs Worker</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Control plane:</a:t>
            </a:r>
            <a:pPr indent="0" marL="0">
              <a:spcAft>
                <a:spcPts val="600"/>
              </a:spcAft>
              <a:buNone/>
            </a:pPr>
            <a:r>
              <a:rPr lang="en-US" sz="1500" dirty="0">
                <a:solidFill>
                  <a:schemeClr val="tx1"/>
                </a:solidFill>
              </a:rPr>
              <a:t> kube-apiserver (front door), etcd (state), scheduler (picks a node), controller-manager (reconcile loops).</a:t>
            </a:r>
            <a:endParaRPr lang="en-US" sz="1500" dirty="0"/>
          </a:p>
          <a:p>
            <a:pPr indent="0" marL="0">
              <a:spcAft>
                <a:spcPts val="600"/>
              </a:spcAft>
              <a:buNone/>
            </a:pPr>
            <a:r>
              <a:rPr lang="en-US" sz="1500" b="1" dirty="0">
                <a:solidFill>
                  <a:schemeClr val="tx1"/>
                </a:solidFill>
              </a:rPr>
              <a:t>Worker:</a:t>
            </a:r>
            <a:pPr indent="0" marL="0">
              <a:spcAft>
                <a:spcPts val="600"/>
              </a:spcAft>
              <a:buNone/>
            </a:pPr>
            <a:r>
              <a:rPr lang="en-US" sz="1500" dirty="0">
                <a:solidFill>
                  <a:schemeClr val="tx1"/>
                </a:solidFill>
              </a:rPr>
              <a:t> kubelet (runs Pods), kube-proxy (networking), containerd (runtime).</a:t>
            </a:r>
            <a:endParaRPr lang="en-US" sz="1500" dirty="0"/>
          </a:p>
        </p:txBody>
      </p:sp>
      <p:sp>
        <p:nvSpPr>
          <p:cNvPr id="16" name="card What is kind?"/>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Cube" descr="FaCube">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What is kind?</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kind = </a:t>
            </a:r>
            <a:pPr indent="0" marL="0">
              <a:spcAft>
                <a:spcPts val="600"/>
              </a:spcAft>
              <a:buNone/>
            </a:pPr>
            <a:r>
              <a:rPr lang="en-US" sz="1500" b="1" dirty="0">
                <a:solidFill>
                  <a:schemeClr val="tx1"/>
                </a:solidFill>
              </a:rPr>
              <a:t>K</a:t>
            </a:r>
            <a:pPr indent="0" marL="0">
              <a:spcAft>
                <a:spcPts val="600"/>
              </a:spcAft>
              <a:buNone/>
            </a:pPr>
            <a:r>
              <a:rPr lang="en-US" sz="1500" dirty="0">
                <a:solidFill>
                  <a:schemeClr val="tx1"/>
                </a:solidFill>
              </a:rPr>
              <a:t>ubernetes </a:t>
            </a:r>
            <a:pPr indent="0" marL="0">
              <a:spcAft>
                <a:spcPts val="600"/>
              </a:spcAft>
              <a:buNone/>
            </a:pPr>
            <a:r>
              <a:rPr lang="en-US" sz="1500" b="1" dirty="0">
                <a:solidFill>
                  <a:schemeClr val="tx1"/>
                </a:solidFill>
              </a:rPr>
              <a:t>in</a:t>
            </a:r>
            <a:pPr indent="0" marL="0">
              <a:spcAft>
                <a:spcPts val="600"/>
              </a:spcAft>
              <a:buNone/>
            </a:pPr>
            <a:r>
              <a:rPr lang="en-US" sz="1500" dirty="0">
                <a:solidFill>
                  <a:schemeClr val="tx1"/>
                </a:solidFill>
              </a:rPr>
              <a:t> </a:t>
            </a:r>
            <a:pPr indent="0" marL="0">
              <a:spcAft>
                <a:spcPts val="600"/>
              </a:spcAft>
              <a:buNone/>
            </a:pPr>
            <a:r>
              <a:rPr lang="en-US" sz="1500" b="1" dirty="0">
                <a:solidFill>
                  <a:schemeClr val="tx1"/>
                </a:solidFill>
              </a:rPr>
              <a:t>D</a:t>
            </a:r>
            <a:pPr indent="0" marL="0">
              <a:spcAft>
                <a:spcPts val="600"/>
              </a:spcAft>
              <a:buNone/>
            </a:pPr>
            <a:r>
              <a:rPr lang="en-US" sz="1500" dirty="0">
                <a:solidFill>
                  <a:schemeClr val="tx1"/>
                </a:solidFill>
              </a:rPr>
              <a:t>ocker. Every node is a Docker container, so a full multi-node cluster starts in about a minute on your laptop.</a:t>
            </a:r>
            <a:endParaRPr lang="en-US" sz="1500" dirty="0"/>
          </a:p>
          <a:p>
            <a:pPr indent="0" marL="0">
              <a:spcAft>
                <a:spcPts val="600"/>
              </a:spcAft>
              <a:buNone/>
            </a:pPr>
            <a:r>
              <a:rPr lang="en-US" sz="1500" dirty="0">
                <a:solidFill>
                  <a:schemeClr val="tx1"/>
                </a:solidFill>
              </a:rPr>
              <a:t>Great for learning and CI. Not for production.</a:t>
            </a:r>
            <a:endParaRPr lang="en-US" sz="1500" dirty="0"/>
          </a:p>
        </p:txBody>
      </p:sp>
      <p:sp>
        <p:nvSpPr>
          <p:cNvPr id="21" name="card Pod and YAML"/>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FileCode" descr="FaFileCode">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Pod and YAML</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A </a:t>
            </a:r>
            <a:pPr indent="0" marL="0">
              <a:spcAft>
                <a:spcPts val="600"/>
              </a:spcAft>
              <a:buNone/>
            </a:pPr>
            <a:r>
              <a:rPr lang="en-US" sz="1500" b="1" dirty="0">
                <a:solidFill>
                  <a:schemeClr val="tx1"/>
                </a:solidFill>
              </a:rPr>
              <a:t>Pod</a:t>
            </a:r>
            <a:pPr indent="0" marL="0">
              <a:spcAft>
                <a:spcPts val="600"/>
              </a:spcAft>
              <a:buNone/>
            </a:pPr>
            <a:r>
              <a:rPr lang="en-US" sz="1500" dirty="0">
                <a:solidFill>
                  <a:schemeClr val="tx1"/>
                </a:solidFill>
              </a:rPr>
              <a:t> is the smallest deployable unit: one or more containers sharing one IP and storage.</a:t>
            </a:r>
            <a:endParaRPr lang="en-US" sz="1500" dirty="0"/>
          </a:p>
          <a:p>
            <a:pPr indent="0" marL="0">
              <a:spcAft>
                <a:spcPts val="600"/>
              </a:spcAft>
              <a:buNone/>
            </a:pPr>
            <a:r>
              <a:rPr lang="en-US" sz="1500" dirty="0">
                <a:solidFill>
                  <a:schemeClr val="tx1"/>
                </a:solidFill>
              </a:rPr>
              <a:t>Every object has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apiVersion</a:t>
            </a:r>
            <a:pPr indent="0" marL="0">
              <a:spcAft>
                <a:spcPts val="600"/>
              </a:spcAft>
              <a:buNone/>
            </a:pPr>
            <a:r>
              <a:rPr lang="en-US" sz="1500" dirty="0">
                <a:solidFill>
                  <a:schemeClr val="tx1"/>
                </a:solidFill>
              </a:rPr>
              <a: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kind</a:t>
            </a:r>
            <a:pPr indent="0" marL="0">
              <a:spcAft>
                <a:spcPts val="600"/>
              </a:spcAft>
              <a:buNone/>
            </a:pPr>
            <a:r>
              <a:rPr lang="en-US" sz="1500" dirty="0">
                <a:solidFill>
                  <a:schemeClr val="tx1"/>
                </a:solidFill>
              </a:rPr>
              <a: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metadata</a:t>
            </a:r>
            <a:pPr indent="0" marL="0">
              <a:spcAft>
                <a:spcPts val="600"/>
              </a:spcAft>
              <a:buNone/>
            </a:pPr>
            <a:r>
              <a:rPr lang="en-US" sz="1500" dirty="0">
                <a:solidFill>
                  <a:schemeClr val="tx1"/>
                </a:solidFill>
              </a:rPr>
              <a:t> and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spec</a:t>
            </a:r>
            <a:pPr indent="0" marL="0">
              <a:spcAft>
                <a:spcPts val="600"/>
              </a:spcAft>
              <a:buNone/>
            </a:pPr>
            <a:r>
              <a:rPr lang="en-US" sz="1500" dirty="0">
                <a:solidFill>
                  <a:schemeClr val="tx1"/>
                </a:solidFill>
              </a:rPr>
              <a: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kubectl apply -f</a:t>
            </a:r>
            <a:pPr indent="0" marL="0">
              <a:spcAft>
                <a:spcPts val="600"/>
              </a:spcAft>
              <a:buNone/>
            </a:pPr>
            <a:r>
              <a:rPr lang="en-US" sz="1500" dirty="0">
                <a:solidFill>
                  <a:schemeClr val="tx1"/>
                </a:solidFill>
              </a:rPr>
              <a:t> sends it to the API server.</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a kind cluster is built</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548640" y="2331720"/>
            <a:ext cx="2011680" cy="1280160"/>
          </a:xfrm>
          <a:prstGeom prst="roundRect">
            <a:avLst>
              <a:gd name="adj" fmla="val 5714"/>
            </a:avLst>
          </a:prstGeom>
          <a:solidFill>
            <a:schemeClr val="tx2"/>
          </a:solidFill>
          <a:ln w="12700">
            <a:solidFill>
              <a:schemeClr val="tx2"/>
            </a:solidFill>
          </a:ln>
        </p:spPr>
        <p:txBody>
          <a:bodyPr wrap="square" lIns="50800" tIns="101600" rIns="101600" bIns="50800" rtlCol="0" anchor="ctr"/>
          <a:lstStyle/>
          <a:p>
            <a:pPr algn="ctr" indent="0" marL="0">
              <a:buNone/>
            </a:pPr>
            <a:r>
              <a:rPr lang="en-US" sz="1600" b="1" dirty="0">
                <a:solidFill>
                  <a:schemeClr val="bg1"/>
                </a:solidFill>
              </a:rPr>
              <a:t>Your terminal</a:t>
            </a:r>
            <a:endParaRPr lang="en-US" sz="1400" dirty="0"/>
          </a:p>
          <a:p>
            <a:pPr algn="ctr" indent="0" marL="0">
              <a:buNone/>
            </a:pPr>
            <a:r>
              <a:rPr lang="en-US" sz="1400" dirty="0">
                <a:solidFill>
                  <a:schemeClr val="bg1"/>
                </a:solidFill>
              </a:rPr>
              <a:t>kubectl · kind</a:t>
            </a:r>
            <a:endParaRPr lang="en-US" sz="1400" dirty="0"/>
          </a:p>
        </p:txBody>
      </p:sp>
      <p:sp>
        <p:nvSpPr>
          <p:cNvPr id="7" name="Text 5"/>
          <p:cNvSpPr txBox="1"/>
          <p:nvPr/>
        </p:nvSpPr>
        <p:spPr>
          <a:xfrm>
            <a:off x="548640" y="3749040"/>
            <a:ext cx="2148840" cy="914400"/>
          </a:xfrm>
          <a:prstGeom prst="rect">
            <a:avLst/>
          </a:prstGeom>
          <a:noFill/>
          <a:ln/>
        </p:spPr>
        <p:txBody>
          <a:bodyPr wrap="square" lIns="0" tIns="0" rIns="0" bIns="0" rtlCol="0" anchor="t"/>
          <a:lstStyle/>
          <a:p>
            <a:pPr indent="0" marL="0">
              <a:buNone/>
            </a:pPr>
            <a:r>
              <a:rPr lang="en-US" sz="1400" dirty="0">
                <a:solidFill>
                  <a:schemeClr val="tx1"/>
                </a:solidFill>
              </a:rPr>
              <a:t>kubectl talks only to the kube-apiserver (HTTPS, port 6443)</a:t>
            </a:r>
            <a:endParaRPr lang="en-US" sz="1400" dirty="0"/>
          </a:p>
        </p:txBody>
      </p:sp>
      <p:sp>
        <p:nvSpPr>
          <p:cNvPr id="8" name="docker host frame"/>
          <p:cNvSpPr/>
          <p:nvPr/>
        </p:nvSpPr>
        <p:spPr>
          <a:xfrm>
            <a:off x="3108960" y="1371600"/>
            <a:ext cx="8531352" cy="4800600"/>
          </a:xfrm>
          <a:prstGeom prst="roundRect">
            <a:avLst>
              <a:gd name="adj" fmla="val 1143"/>
            </a:avLst>
          </a:prstGeom>
          <a:solidFill>
            <a:schemeClr val="bg2"/>
          </a:solidFill>
          <a:ln w="15875">
            <a:solidFill>
              <a:schemeClr val="accent1"/>
            </a:solidFill>
            <a:prstDash val="dash"/>
          </a:ln>
        </p:spPr>
      </p:sp>
      <p:sp>
        <p:nvSpPr>
          <p:cNvPr id="9" name="Text 7"/>
          <p:cNvSpPr txBox="1"/>
          <p:nvPr/>
        </p:nvSpPr>
        <p:spPr>
          <a:xfrm>
            <a:off x="3337560" y="1481328"/>
            <a:ext cx="8046720" cy="320040"/>
          </a:xfrm>
          <a:prstGeom prst="rect">
            <a:avLst/>
          </a:prstGeom>
          <a:noFill/>
          <a:ln/>
        </p:spPr>
        <p:txBody>
          <a:bodyPr wrap="square" lIns="0" tIns="0" rIns="0" bIns="0" rtlCol="0" anchor="t"/>
          <a:lstStyle/>
          <a:p>
            <a:pPr indent="0" marL="0">
              <a:buNone/>
            </a:pPr>
            <a:r>
              <a:rPr lang="en-US" sz="1400" b="1" dirty="0">
                <a:solidFill>
                  <a:schemeClr val="tx2"/>
                </a:solidFill>
              </a:rPr>
              <a:t>Docker host (your laptop or VM)</a:t>
            </a:r>
            <a:pPr indent="0" marL="0">
              <a:buNone/>
            </a:pPr>
            <a:r>
              <a:rPr lang="en-US" sz="1400" dirty="0">
                <a:solidFill>
                  <a:schemeClr val="accent1"/>
                </a:solidFill>
              </a:rPr>
              <a:t>   ·   kind cluster: winter-arc</a:t>
            </a:r>
            <a:endParaRPr lang="en-US" sz="1400" dirty="0"/>
          </a:p>
        </p:txBody>
      </p:sp>
      <p:sp>
        <p:nvSpPr>
          <p:cNvPr id="10" name="node winter-arc-control-plane"/>
          <p:cNvSpPr/>
          <p:nvPr/>
        </p:nvSpPr>
        <p:spPr>
          <a:xfrm>
            <a:off x="3337560" y="2057400"/>
            <a:ext cx="2560320" cy="3108960"/>
          </a:xfrm>
          <a:prstGeom prst="roundRect">
            <a:avLst>
              <a:gd name="adj" fmla="val 2143"/>
            </a:avLst>
          </a:prstGeom>
          <a:solidFill>
            <a:schemeClr val="bg1"/>
          </a:solidFill>
          <a:ln w="12700">
            <a:solidFill>
              <a:schemeClr val="accent1"/>
            </a:solidFill>
            <a:prstDash val="solid"/>
          </a:ln>
        </p:spPr>
      </p:sp>
      <p:sp>
        <p:nvSpPr>
          <p:cNvPr id="11" name="Text 9"/>
          <p:cNvSpPr txBox="1"/>
          <p:nvPr/>
        </p:nvSpPr>
        <p:spPr>
          <a:xfrm>
            <a:off x="3337560" y="2057400"/>
            <a:ext cx="2560320" cy="502920"/>
          </a:xfrm>
          <a:prstGeom prst="roundRect">
            <a:avLst>
              <a:gd name="adj" fmla="val 14545"/>
            </a:avLst>
          </a:prstGeom>
          <a:solidFill>
            <a:schemeClr val="tx2"/>
          </a:solidFill>
          <a:ln w="12700">
            <a:solidFill>
              <a:schemeClr val="tx2"/>
            </a:solidFill>
          </a:ln>
        </p:spPr>
        <p:txBody>
          <a:bodyPr wrap="square" lIns="50800" tIns="101600" rIns="101600" bIns="50800" rtlCol="0" anchor="ctr"/>
          <a:lstStyle/>
          <a:p>
            <a:pPr algn="ctr" indent="0" marL="0">
              <a:buNone/>
            </a:pPr>
            <a:r>
              <a:rPr lang="en-US" sz="1250" b="1" dirty="0">
                <a:solidFill>
                  <a:schemeClr val="bg1"/>
                </a:solidFill>
              </a:rPr>
              <a:t>winter-arc-control-plane</a:t>
            </a:r>
            <a:endParaRPr lang="en-US" sz="1250" dirty="0"/>
          </a:p>
        </p:txBody>
      </p:sp>
      <p:sp>
        <p:nvSpPr>
          <p:cNvPr id="12" name="Text 10"/>
          <p:cNvSpPr txBox="1"/>
          <p:nvPr/>
        </p:nvSpPr>
        <p:spPr>
          <a:xfrm>
            <a:off x="3520440" y="2743200"/>
            <a:ext cx="2194560" cy="457200"/>
          </a:xfrm>
          <a:prstGeom prst="roundRect">
            <a:avLst>
              <a:gd name="adj" fmla="val 16000"/>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400" dirty="0">
                <a:solidFill>
                  <a:schemeClr val="tx2"/>
                </a:solidFill>
              </a:rPr>
              <a:t>kube-apiserver</a:t>
            </a:r>
            <a:endParaRPr lang="en-US" sz="1400" dirty="0"/>
          </a:p>
        </p:txBody>
      </p:sp>
      <p:sp>
        <p:nvSpPr>
          <p:cNvPr id="13" name="Text 11"/>
          <p:cNvSpPr txBox="1"/>
          <p:nvPr/>
        </p:nvSpPr>
        <p:spPr>
          <a:xfrm>
            <a:off x="3520440" y="3310128"/>
            <a:ext cx="2194560" cy="457200"/>
          </a:xfrm>
          <a:prstGeom prst="roundRect">
            <a:avLst>
              <a:gd name="adj" fmla="val 16000"/>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400" dirty="0">
                <a:solidFill>
                  <a:schemeClr val="tx2"/>
                </a:solidFill>
              </a:rPr>
              <a:t>etcd</a:t>
            </a:r>
            <a:endParaRPr lang="en-US" sz="1400" dirty="0"/>
          </a:p>
        </p:txBody>
      </p:sp>
      <p:sp>
        <p:nvSpPr>
          <p:cNvPr id="14" name="Text 12"/>
          <p:cNvSpPr txBox="1"/>
          <p:nvPr/>
        </p:nvSpPr>
        <p:spPr>
          <a:xfrm>
            <a:off x="3520440" y="3877056"/>
            <a:ext cx="2194560" cy="457200"/>
          </a:xfrm>
          <a:prstGeom prst="roundRect">
            <a:avLst>
              <a:gd name="adj" fmla="val 16000"/>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400" dirty="0">
                <a:solidFill>
                  <a:schemeClr val="tx2"/>
                </a:solidFill>
              </a:rPr>
              <a:t>kube-scheduler</a:t>
            </a:r>
            <a:endParaRPr lang="en-US" sz="1400" dirty="0"/>
          </a:p>
        </p:txBody>
      </p:sp>
      <p:sp>
        <p:nvSpPr>
          <p:cNvPr id="15" name="Text 13"/>
          <p:cNvSpPr txBox="1"/>
          <p:nvPr/>
        </p:nvSpPr>
        <p:spPr>
          <a:xfrm>
            <a:off x="3520440" y="4443984"/>
            <a:ext cx="2194560" cy="457200"/>
          </a:xfrm>
          <a:prstGeom prst="roundRect">
            <a:avLst>
              <a:gd name="adj" fmla="val 16000"/>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400" dirty="0">
                <a:solidFill>
                  <a:schemeClr val="tx2"/>
                </a:solidFill>
              </a:rPr>
              <a:t>controller-manager</a:t>
            </a:r>
            <a:endParaRPr lang="en-US" sz="1400" dirty="0"/>
          </a:p>
        </p:txBody>
      </p:sp>
      <p:sp>
        <p:nvSpPr>
          <p:cNvPr id="16" name="node winter-arc-worker"/>
          <p:cNvSpPr/>
          <p:nvPr/>
        </p:nvSpPr>
        <p:spPr>
          <a:xfrm>
            <a:off x="6080760" y="2057400"/>
            <a:ext cx="2560320" cy="3108960"/>
          </a:xfrm>
          <a:prstGeom prst="roundRect">
            <a:avLst>
              <a:gd name="adj" fmla="val 2143"/>
            </a:avLst>
          </a:prstGeom>
          <a:solidFill>
            <a:schemeClr val="bg1"/>
          </a:solidFill>
          <a:ln w="12700">
            <a:solidFill>
              <a:schemeClr val="accent1"/>
            </a:solidFill>
            <a:prstDash val="solid"/>
          </a:ln>
        </p:spPr>
      </p:sp>
      <p:sp>
        <p:nvSpPr>
          <p:cNvPr id="17" name="Text 15"/>
          <p:cNvSpPr txBox="1"/>
          <p:nvPr/>
        </p:nvSpPr>
        <p:spPr>
          <a:xfrm>
            <a:off x="6080760" y="2057400"/>
            <a:ext cx="2560320" cy="502920"/>
          </a:xfrm>
          <a:prstGeom prst="roundRect">
            <a:avLst>
              <a:gd name="adj" fmla="val 14545"/>
            </a:avLst>
          </a:prstGeom>
          <a:solidFill>
            <a:schemeClr val="tx2"/>
          </a:solidFill>
          <a:ln w="12700">
            <a:solidFill>
              <a:schemeClr val="tx2"/>
            </a:solidFill>
          </a:ln>
        </p:spPr>
        <p:txBody>
          <a:bodyPr wrap="square" lIns="50800" tIns="101600" rIns="101600" bIns="50800" rtlCol="0" anchor="ctr"/>
          <a:lstStyle/>
          <a:p>
            <a:pPr algn="ctr" indent="0" marL="0">
              <a:buNone/>
            </a:pPr>
            <a:r>
              <a:rPr lang="en-US" sz="1250" b="1" dirty="0">
                <a:solidFill>
                  <a:schemeClr val="bg1"/>
                </a:solidFill>
              </a:rPr>
              <a:t>winter-arc-worker</a:t>
            </a:r>
            <a:endParaRPr lang="en-US" sz="1250" dirty="0"/>
          </a:p>
        </p:txBody>
      </p:sp>
      <p:sp>
        <p:nvSpPr>
          <p:cNvPr id="18" name="Text 16"/>
          <p:cNvSpPr txBox="1"/>
          <p:nvPr/>
        </p:nvSpPr>
        <p:spPr>
          <a:xfrm>
            <a:off x="6263640" y="2743200"/>
            <a:ext cx="2194560" cy="457200"/>
          </a:xfrm>
          <a:prstGeom prst="roundRect">
            <a:avLst>
              <a:gd name="adj" fmla="val 16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dirty="0">
                <a:solidFill>
                  <a:schemeClr val="tx2"/>
                </a:solidFill>
              </a:rPr>
              <a:t>kubelet</a:t>
            </a:r>
            <a:endParaRPr lang="en-US" sz="1400" dirty="0"/>
          </a:p>
        </p:txBody>
      </p:sp>
      <p:sp>
        <p:nvSpPr>
          <p:cNvPr id="19" name="Text 17"/>
          <p:cNvSpPr txBox="1"/>
          <p:nvPr/>
        </p:nvSpPr>
        <p:spPr>
          <a:xfrm>
            <a:off x="6263640" y="3310128"/>
            <a:ext cx="2194560" cy="457200"/>
          </a:xfrm>
          <a:prstGeom prst="roundRect">
            <a:avLst>
              <a:gd name="adj" fmla="val 16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dirty="0">
                <a:solidFill>
                  <a:schemeClr val="tx2"/>
                </a:solidFill>
              </a:rPr>
              <a:t>kube-proxy</a:t>
            </a:r>
            <a:endParaRPr lang="en-US" sz="1400" dirty="0"/>
          </a:p>
        </p:txBody>
      </p:sp>
      <p:sp>
        <p:nvSpPr>
          <p:cNvPr id="20" name="Text 18"/>
          <p:cNvSpPr txBox="1"/>
          <p:nvPr/>
        </p:nvSpPr>
        <p:spPr>
          <a:xfrm>
            <a:off x="6263640" y="3877056"/>
            <a:ext cx="2194560" cy="457200"/>
          </a:xfrm>
          <a:prstGeom prst="roundRect">
            <a:avLst>
              <a:gd name="adj" fmla="val 16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dirty="0">
                <a:solidFill>
                  <a:schemeClr val="tx2"/>
                </a:solidFill>
              </a:rPr>
              <a:t>containerd</a:t>
            </a:r>
            <a:endParaRPr lang="en-US" sz="1400" dirty="0"/>
          </a:p>
        </p:txBody>
      </p:sp>
      <p:sp>
        <p:nvSpPr>
          <p:cNvPr id="21" name="Text 19"/>
          <p:cNvSpPr txBox="1"/>
          <p:nvPr/>
        </p:nvSpPr>
        <p:spPr>
          <a:xfrm>
            <a:off x="6263640" y="4443984"/>
            <a:ext cx="2194560" cy="457200"/>
          </a:xfrm>
          <a:prstGeom prst="roundRect">
            <a:avLst>
              <a:gd name="adj" fmla="val 16000"/>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400" b="1" dirty="0">
                <a:solidFill>
                  <a:schemeClr val="tx2"/>
                </a:solidFill>
              </a:rPr>
              <a:t>your Pods</a:t>
            </a:r>
            <a:endParaRPr lang="en-US" sz="1400" dirty="0"/>
          </a:p>
        </p:txBody>
      </p:sp>
      <p:sp>
        <p:nvSpPr>
          <p:cNvPr id="22" name="node winter-arc-worker2"/>
          <p:cNvSpPr/>
          <p:nvPr/>
        </p:nvSpPr>
        <p:spPr>
          <a:xfrm>
            <a:off x="8823960" y="2057400"/>
            <a:ext cx="2560320" cy="3108960"/>
          </a:xfrm>
          <a:prstGeom prst="roundRect">
            <a:avLst>
              <a:gd name="adj" fmla="val 2143"/>
            </a:avLst>
          </a:prstGeom>
          <a:solidFill>
            <a:schemeClr val="bg1"/>
          </a:solidFill>
          <a:ln w="12700">
            <a:solidFill>
              <a:schemeClr val="accent1"/>
            </a:solidFill>
            <a:prstDash val="solid"/>
          </a:ln>
        </p:spPr>
      </p:sp>
      <p:sp>
        <p:nvSpPr>
          <p:cNvPr id="23" name="Text 21"/>
          <p:cNvSpPr txBox="1"/>
          <p:nvPr/>
        </p:nvSpPr>
        <p:spPr>
          <a:xfrm>
            <a:off x="8823960" y="2057400"/>
            <a:ext cx="2560320" cy="502920"/>
          </a:xfrm>
          <a:prstGeom prst="roundRect">
            <a:avLst>
              <a:gd name="adj" fmla="val 14545"/>
            </a:avLst>
          </a:prstGeom>
          <a:solidFill>
            <a:schemeClr val="tx2"/>
          </a:solidFill>
          <a:ln w="12700">
            <a:solidFill>
              <a:schemeClr val="tx2"/>
            </a:solidFill>
          </a:ln>
        </p:spPr>
        <p:txBody>
          <a:bodyPr wrap="square" lIns="50800" tIns="101600" rIns="101600" bIns="50800" rtlCol="0" anchor="ctr"/>
          <a:lstStyle/>
          <a:p>
            <a:pPr algn="ctr" indent="0" marL="0">
              <a:buNone/>
            </a:pPr>
            <a:r>
              <a:rPr lang="en-US" sz="1250" b="1" dirty="0">
                <a:solidFill>
                  <a:schemeClr val="bg1"/>
                </a:solidFill>
              </a:rPr>
              <a:t>winter-arc-worker2</a:t>
            </a:r>
            <a:endParaRPr lang="en-US" sz="1250" dirty="0"/>
          </a:p>
        </p:txBody>
      </p:sp>
      <p:sp>
        <p:nvSpPr>
          <p:cNvPr id="24" name="Text 22"/>
          <p:cNvSpPr txBox="1"/>
          <p:nvPr/>
        </p:nvSpPr>
        <p:spPr>
          <a:xfrm>
            <a:off x="9006840" y="2743200"/>
            <a:ext cx="2194560" cy="457200"/>
          </a:xfrm>
          <a:prstGeom prst="roundRect">
            <a:avLst>
              <a:gd name="adj" fmla="val 16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dirty="0">
                <a:solidFill>
                  <a:schemeClr val="tx2"/>
                </a:solidFill>
              </a:rPr>
              <a:t>kubelet</a:t>
            </a:r>
            <a:endParaRPr lang="en-US" sz="1400" dirty="0"/>
          </a:p>
        </p:txBody>
      </p:sp>
      <p:sp>
        <p:nvSpPr>
          <p:cNvPr id="25" name="Text 23"/>
          <p:cNvSpPr txBox="1"/>
          <p:nvPr/>
        </p:nvSpPr>
        <p:spPr>
          <a:xfrm>
            <a:off x="9006840" y="3310128"/>
            <a:ext cx="2194560" cy="457200"/>
          </a:xfrm>
          <a:prstGeom prst="roundRect">
            <a:avLst>
              <a:gd name="adj" fmla="val 16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dirty="0">
                <a:solidFill>
                  <a:schemeClr val="tx2"/>
                </a:solidFill>
              </a:rPr>
              <a:t>kube-proxy</a:t>
            </a:r>
            <a:endParaRPr lang="en-US" sz="1400" dirty="0"/>
          </a:p>
        </p:txBody>
      </p:sp>
      <p:sp>
        <p:nvSpPr>
          <p:cNvPr id="26" name="Text 24"/>
          <p:cNvSpPr txBox="1"/>
          <p:nvPr/>
        </p:nvSpPr>
        <p:spPr>
          <a:xfrm>
            <a:off x="9006840" y="3877056"/>
            <a:ext cx="2194560" cy="457200"/>
          </a:xfrm>
          <a:prstGeom prst="roundRect">
            <a:avLst>
              <a:gd name="adj" fmla="val 16000"/>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dirty="0">
                <a:solidFill>
                  <a:schemeClr val="tx2"/>
                </a:solidFill>
              </a:rPr>
              <a:t>containerd</a:t>
            </a:r>
            <a:endParaRPr lang="en-US" sz="1400" dirty="0"/>
          </a:p>
        </p:txBody>
      </p:sp>
      <p:sp>
        <p:nvSpPr>
          <p:cNvPr id="27" name="Text 25"/>
          <p:cNvSpPr txBox="1"/>
          <p:nvPr/>
        </p:nvSpPr>
        <p:spPr>
          <a:xfrm>
            <a:off x="9006840" y="4443984"/>
            <a:ext cx="2194560" cy="457200"/>
          </a:xfrm>
          <a:prstGeom prst="roundRect">
            <a:avLst>
              <a:gd name="adj" fmla="val 16000"/>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400" b="1" dirty="0">
                <a:solidFill>
                  <a:schemeClr val="tx2"/>
                </a:solidFill>
              </a:rPr>
              <a:t>your Pods</a:t>
            </a:r>
            <a:endParaRPr lang="en-US" sz="1400" dirty="0"/>
          </a:p>
        </p:txBody>
      </p:sp>
      <p:sp>
        <p:nvSpPr>
          <p:cNvPr id="28" name="arrow"/>
          <p:cNvSpPr/>
          <p:nvPr/>
        </p:nvSpPr>
        <p:spPr>
          <a:xfrm>
            <a:off x="2560320" y="2971800"/>
            <a:ext cx="960120" cy="0"/>
          </a:xfrm>
          <a:prstGeom prst="line">
            <a:avLst/>
          </a:prstGeom>
          <a:noFill/>
          <a:ln w="34925">
            <a:solidFill>
              <a:schemeClr val="accent2"/>
            </a:solidFill>
            <a:prstDash val="solid"/>
            <a:tailEnd type="triangle"/>
          </a:ln>
        </p:spPr>
      </p:sp>
      <p:sp>
        <p:nvSpPr>
          <p:cNvPr id="29" name="Text 27"/>
          <p:cNvSpPr txBox="1"/>
          <p:nvPr/>
        </p:nvSpPr>
        <p:spPr>
          <a:xfrm>
            <a:off x="3337560" y="5349240"/>
            <a:ext cx="8046720" cy="685800"/>
          </a:xfrm>
          <a:prstGeom prst="rect">
            <a:avLst/>
          </a:prstGeom>
          <a:noFill/>
          <a:ln/>
        </p:spPr>
        <p:txBody>
          <a:bodyPr wrap="square" lIns="0" tIns="0" rIns="0" bIns="0" rtlCol="0" anchor="t"/>
          <a:lstStyle/>
          <a:p>
            <a:pPr indent="0" marL="0">
              <a:buNone/>
            </a:pPr>
            <a:r>
              <a:rPr lang="en-US" sz="1400" b="1" dirty="0">
                <a:solidFill>
                  <a:schemeClr val="tx2"/>
                </a:solidFill>
              </a:rPr>
              <a:t>Each node is a Docker container: </a:t>
            </a:r>
            <a:pPr indent="0" marL="0">
              <a:buNone/>
            </a:pPr>
            <a:r>
              <a:rPr lang="en-US" sz="1400" dirty="0">
                <a:solidFill>
                  <a:schemeClr val="tx1"/>
                </a:solidFill>
              </a:rPr>
              <a:t>docker ps lists winter-arc-control-plane and two workers. The control plane is tainted, so your workloads land on the workers.</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kind create cluster --name winter-arc --config kind-config.yaml</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 3-node cluster from your config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Reproducible local cluster, the same in CI</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kind get clusters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kind clusters on this machine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what exists before creating another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cluster-info</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API server and CoreDNS addresses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First check that kubectl can reach the cluster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nodes -o wide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nodes with status, IP and runtime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Confirm every node is Ready</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config get-contexts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which cluster kubectl talks to</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Avoid running commands on the wrong cluster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pods -A</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Pods in every namespace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See the system Pods that run the cluster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run web --image=nginx:1.27</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 single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Quick throw-away test of any image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describe pod web</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details, with Events at the bottom</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First stop when a Pod will not start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Manifest and shortcuts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rminal pod.yaml"/>
          <p:cNvSpPr/>
          <p:nvPr/>
        </p:nvSpPr>
        <p:spPr>
          <a:xfrm>
            <a:off x="548640" y="1371600"/>
            <a:ext cx="5410048" cy="3246120"/>
          </a:xfrm>
          <a:prstGeom prst="roundRect">
            <a:avLst>
              <a:gd name="adj" fmla="val 1690"/>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pod.yaml</a:t>
            </a:r>
            <a:endParaRPr lang="en-US" sz="1100" dirty="0"/>
          </a:p>
        </p:txBody>
      </p:sp>
      <p:sp>
        <p:nvSpPr>
          <p:cNvPr id="11" name="terminal text"/>
          <p:cNvSpPr txBox="1"/>
          <p:nvPr/>
        </p:nvSpPr>
        <p:spPr>
          <a:xfrm>
            <a:off x="749808" y="1828800"/>
            <a:ext cx="5007712" cy="269748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apiVersion:</a:t>
            </a:r>
            <a:pPr indent="0" marL="0">
              <a:buNone/>
            </a:pPr>
            <a:r>
              <a:rPr lang="en-US" sz="1400" dirty="0">
                <a:solidFill>
                  <a:schemeClr val="bg1"/>
                </a:solidFill>
                <a:latin typeface="Courier New" pitchFamily="34" charset="0"/>
                <a:ea typeface="Courier New" pitchFamily="34" charset="-122"/>
                <a:cs typeface="Courier New" pitchFamily="34" charset="-120"/>
              </a:rPr>
              <a:t> v1</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kind:</a:t>
            </a:r>
            <a:pPr indent="0" marL="0">
              <a:buNone/>
            </a:pPr>
            <a:r>
              <a:rPr lang="en-US" sz="1400" dirty="0">
                <a:solidFill>
                  <a:schemeClr val="bg1"/>
                </a:solidFill>
                <a:latin typeface="Courier New" pitchFamily="34" charset="0"/>
                <a:ea typeface="Courier New" pitchFamily="34" charset="-122"/>
                <a:cs typeface="Courier New" pitchFamily="34" charset="-120"/>
              </a:rPr>
              <a:t> Pod</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metadata:</a:t>
            </a:r>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name: web</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labels: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app: web</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spec:</a:t>
            </a:r>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containers: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a:t>
            </a:r>
            <a:pPr indent="0" marL="0">
              <a:buNone/>
            </a:pPr>
            <a:r>
              <a:rPr lang="en-US" sz="1400" dirty="0">
                <a:solidFill>
                  <a:schemeClr val="accent2"/>
                </a:solidFill>
                <a:latin typeface="Courier New" pitchFamily="34" charset="0"/>
                <a:ea typeface="Courier New" pitchFamily="34" charset="-122"/>
                <a:cs typeface="Courier New" pitchFamily="34" charset="-120"/>
              </a:rPr>
              <a:t>name:</a:t>
            </a:r>
            <a:pPr indent="0" marL="0">
              <a:buNone/>
            </a:pPr>
            <a:r>
              <a:rPr lang="en-US" sz="1400" dirty="0">
                <a:solidFill>
                  <a:schemeClr val="bg1"/>
                </a:solidFill>
                <a:latin typeface="Courier New" pitchFamily="34" charset="0"/>
                <a:ea typeface="Courier New" pitchFamily="34" charset="-122"/>
                <a:cs typeface="Courier New" pitchFamily="34" charset="-120"/>
              </a:rPr>
              <a:t> nginx</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image: nginx:1.27</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ports: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a:t>
            </a:r>
            <a:pPr indent="0" marL="0">
              <a:buNone/>
            </a:pPr>
            <a:r>
              <a:rPr lang="en-US" sz="1400" dirty="0">
                <a:solidFill>
                  <a:schemeClr val="accent2"/>
                </a:solidFill>
                <a:latin typeface="Courier New" pitchFamily="34" charset="0"/>
                <a:ea typeface="Courier New" pitchFamily="34" charset="-122"/>
                <a:cs typeface="Courier New" pitchFamily="34" charset="-120"/>
              </a:rPr>
              <a:t>containerPort:</a:t>
            </a:r>
            <a:pPr indent="0" marL="0">
              <a:buNone/>
            </a:pPr>
            <a:r>
              <a:rPr lang="en-US" sz="1400" dirty="0">
                <a:solidFill>
                  <a:schemeClr val="bg1"/>
                </a:solidFill>
                <a:latin typeface="Courier New" pitchFamily="34" charset="0"/>
                <a:ea typeface="Courier New" pitchFamily="34" charset="-122"/>
                <a:cs typeface="Courier New" pitchFamily="34" charset="-120"/>
              </a:rPr>
              <a:t> 80</a:t>
            </a:r>
            <a:endParaRPr lang="en-US" sz="1400" dirty="0"/>
          </a:p>
        </p:txBody>
      </p:sp>
      <p:sp>
        <p:nvSpPr>
          <p:cNvPr id="12" name="Text 10"/>
          <p:cNvSpPr txBox="1"/>
          <p:nvPr/>
        </p:nvSpPr>
        <p:spPr>
          <a:xfrm>
            <a:off x="548640" y="4754880"/>
            <a:ext cx="5410048" cy="548640"/>
          </a:xfrm>
          <a:prstGeom prst="rect">
            <a:avLst/>
          </a:prstGeom>
          <a:noFill/>
          <a:ln/>
        </p:spPr>
        <p:txBody>
          <a:bodyPr wrap="square" lIns="0" tIns="0" rIns="0" bIns="0" rtlCol="0" anchor="t"/>
          <a:lstStyle/>
          <a:p>
            <a:pPr indent="0" marL="0">
              <a:buNone/>
            </a:pPr>
            <a:r>
              <a:rPr lang="en-US" sz="1400" dirty="0">
                <a:solidFill>
                  <a:schemeClr val="tx1"/>
                </a:solidFill>
              </a:rPr>
              <a:t>apiVersion + kind say what it is. metadata names it. spec says what you want.</a:t>
            </a:r>
            <a:endParaRPr lang="en-US" sz="1400" dirty="0"/>
          </a:p>
        </p:txBody>
      </p:sp>
      <p:sp>
        <p:nvSpPr>
          <p:cNvPr id="13" name="terminal generate, apply, explore"/>
          <p:cNvSpPr/>
          <p:nvPr/>
        </p:nvSpPr>
        <p:spPr>
          <a:xfrm>
            <a:off x="6233008" y="1371600"/>
            <a:ext cx="5410048" cy="3246120"/>
          </a:xfrm>
          <a:prstGeom prst="roundRect">
            <a:avLst>
              <a:gd name="adj" fmla="val 1690"/>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generate, apply, explore</a:t>
            </a:r>
            <a:endParaRPr lang="en-US" sz="1100" dirty="0"/>
          </a:p>
        </p:txBody>
      </p:sp>
      <p:sp>
        <p:nvSpPr>
          <p:cNvPr id="18" name="terminal text"/>
          <p:cNvSpPr txBox="1"/>
          <p:nvPr/>
        </p:nvSpPr>
        <p:spPr>
          <a:xfrm>
            <a:off x="6434176" y="1828800"/>
            <a:ext cx="5007712" cy="269748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 Let kubectl write the YAML for you</a:t>
            </a:r>
            <a:endParaRPr lang="en-US" sz="1400" dirty="0"/>
          </a:p>
          <a:p>
            <a:pPr indent="0" marL="0">
              <a:buNone/>
            </a:pPr>
            <a:r>
              <a:rPr lang="en-US" sz="1400" b="1" dirty="0">
                <a:solidFill>
                  <a:schemeClr val="accent3"/>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kubectl run web --image=nginx:1.27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--dry-run=client -o yaml &gt; pod.yaml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 Create or update from the file</a:t>
            </a:r>
            <a:endParaRPr lang="en-US" sz="1400" dirty="0"/>
          </a:p>
          <a:p>
            <a:pPr indent="0" marL="0">
              <a:buNone/>
            </a:pPr>
            <a:r>
              <a:rPr lang="en-US" sz="1400" b="1" dirty="0">
                <a:solidFill>
                  <a:schemeClr val="accent3"/>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kubectl apply -f pod.yaml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 See what Kubernetes stored</a:t>
            </a:r>
            <a:endParaRPr lang="en-US" sz="1400" dirty="0"/>
          </a:p>
          <a:p>
            <a:pPr indent="0" marL="0">
              <a:buNone/>
            </a:pPr>
            <a:r>
              <a:rPr lang="en-US" sz="1400" b="1" dirty="0">
                <a:solidFill>
                  <a:schemeClr val="accent3"/>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kubectl get pod web -o yaml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accent6"/>
                </a:solidFill>
                <a:latin typeface="Courier New" pitchFamily="34" charset="0"/>
                <a:ea typeface="Courier New" pitchFamily="34" charset="-122"/>
                <a:cs typeface="Courier New" pitchFamily="34" charset="-120"/>
              </a:rPr>
              <a:t># Built-in docs for any field</a:t>
            </a:r>
            <a:endParaRPr lang="en-US" sz="1400" dirty="0"/>
          </a:p>
          <a:p>
            <a:pPr indent="0" marL="0">
              <a:buNone/>
            </a:pPr>
            <a:r>
              <a:rPr lang="en-US" sz="1400" b="1" dirty="0">
                <a:solidFill>
                  <a:schemeClr val="accent3"/>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kubectl explain pod.spec.containers</a:t>
            </a:r>
            <a:endParaRPr lang="en-US" sz="1400" dirty="0"/>
          </a:p>
        </p:txBody>
      </p:sp>
      <p:sp>
        <p:nvSpPr>
          <p:cNvPr id="19" name="Text 17"/>
          <p:cNvSpPr txBox="1"/>
          <p:nvPr/>
        </p:nvSpPr>
        <p:spPr>
          <a:xfrm>
            <a:off x="6233008" y="4754880"/>
            <a:ext cx="5410048" cy="548640"/>
          </a:xfrm>
          <a:prstGeom prst="rect">
            <a:avLst/>
          </a:prstGeom>
          <a:noFill/>
          <a:ln/>
        </p:spPr>
        <p:txBody>
          <a:bodyPr wrap="square" lIns="0" tIns="0" rIns="0" bIns="0" rtlCol="0" anchor="t"/>
          <a:lstStyle/>
          <a:p>
            <a:pPr indent="0" marL="0">
              <a:buNone/>
            </a:pPr>
            <a:r>
              <a:rPr lang="en-US" sz="1400" dirty="0">
                <a:solidFill>
                  <a:schemeClr val="tx1"/>
                </a:solidFill>
              </a:rPr>
              <a:t>kubectl explain is the offline manual. Use it instead of guessing field names.</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Create a cluster and run your first Pod</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Your team is moving to Kubernetes. Before touching a real cluster, you build a throw-away 3-node cluster on your own machine and run a web server Pod on it.</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Install. </a:t>
            </a:r>
            <a:pPr indent="0" marL="0">
              <a:buNone/>
            </a:pPr>
            <a:r>
              <a:rPr lang="en-US" sz="1400" dirty="0">
                <a:solidFill>
                  <a:schemeClr val="tx1"/>
                </a:solidFill>
              </a:rPr>
              <a:t>Install kind and kubectl and check both with --version. Docker from Week 2 must be running.</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Create the cluster. </a:t>
            </a:r>
            <a:pPr indent="0" marL="0">
              <a:buNone/>
            </a:pPr>
            <a:r>
              <a:rPr lang="en-US" sz="1400" dirty="0">
                <a:solidFill>
                  <a:schemeClr val="tx1"/>
                </a:solidFill>
              </a:rPr>
              <a:t>Save kind-config.yaml from the lab slide and create the cluster named winter-arc.</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Look inside. </a:t>
            </a:r>
            <a:pPr indent="0" marL="0">
              <a:buNone/>
            </a:pPr>
            <a:r>
              <a:rPr lang="en-US" sz="1400" dirty="0">
                <a:solidFill>
                  <a:schemeClr val="tx1"/>
                </a:solidFill>
              </a:rPr>
              <a:t>Run kubectl get nodes, then docker ps and spot the 3 node containers.</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Run a Pod. </a:t>
            </a:r>
            <a:pPr indent="0" marL="0">
              <a:buNone/>
            </a:pPr>
            <a:r>
              <a:rPr lang="en-US" sz="1400" dirty="0">
                <a:solidFill>
                  <a:schemeClr val="tx1"/>
                </a:solidFill>
              </a:rPr>
              <a:t>Apply pod.yaml, wait for Running, then try logs, describe and exec.</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Reach it. </a:t>
            </a:r>
            <a:pPr indent="0" marL="0">
              <a:buNone/>
            </a:pPr>
            <a:r>
              <a:rPr lang="en-US" sz="1400" dirty="0">
                <a:solidFill>
                  <a:schemeClr val="tx1"/>
                </a:solidFill>
              </a:rPr>
              <a:t>Port-forward to 8080 and curl it from your laptop.</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Delete it. </a:t>
            </a:r>
            <a:pPr indent="0" marL="0">
              <a:buNone/>
            </a:pPr>
            <a:r>
              <a:rPr lang="en-US" sz="1400" dirty="0">
                <a:solidFill>
                  <a:schemeClr val="tx1"/>
                </a:solidFill>
              </a:rPr>
              <a:t>Delete the Pod. It does not come back. Tomorrow’s Deployment fixes that.</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kind create cluster --name winter-arc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--config kind-config.yaml</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get nodes</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docker ps --format '{{.Names}}'</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apply -f pod.yaml</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get pod web -w     </a:t>
            </a:r>
            <a:pPr indent="0" marL="0">
              <a:buNone/>
            </a:pPr>
            <a:r>
              <a:rPr lang="en-US" sz="1300" dirty="0">
                <a:solidFill>
                  <a:schemeClr val="accent6"/>
                </a:solidFill>
                <a:latin typeface="Courier New" pitchFamily="34" charset="0"/>
                <a:ea typeface="Courier New" pitchFamily="34" charset="-122"/>
                <a:cs typeface="Courier New" pitchFamily="34" charset="-120"/>
              </a:rPr>
              <a:t> # Ctrl+C when Running</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logs web</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exec -it web -- sh</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port-forward pod/web 8080:80 &amp;</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curl -I http://localhost:8080</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delete pod web</a:t>
            </a:r>
            <a:endParaRPr lang="en-US" sz="1300" dirty="0"/>
          </a:p>
          <a:p>
            <a:pPr indent="0" marL="0">
              <a:buNone/>
            </a:pPr>
            <a:r>
              <a:rPr lang="en-US" sz="1300" b="1" dirty="0">
                <a:solidFill>
                  <a:schemeClr val="accent3"/>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kubectl get pods           </a:t>
            </a:r>
            <a:pPr indent="0" marL="0">
              <a:buNone/>
            </a:pPr>
            <a:r>
              <a:rPr lang="en-US" sz="1300" dirty="0">
                <a:solidFill>
                  <a:schemeClr val="accent6"/>
                </a:solidFill>
                <a:latin typeface="Courier New" pitchFamily="34" charset="0"/>
                <a:ea typeface="Courier New" pitchFamily="34" charset="-122"/>
                <a:cs typeface="Courier New" pitchFamily="34" charset="-120"/>
              </a:rPr>
              <a:t> # gone for good</a:t>
            </a:r>
            <a:endParaRPr lang="en-US" sz="13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kubectl get nodes shows 1 control-plane + 2 workers, all Ready</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docker ps lists winter-arc-control-plane and two workers</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Pod web reaches Running and curl returns HTTP 200</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can explain what the API server, etcd and kubelet do</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Deleting the Pod removes it for good: nothing recreates it</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kind: command not found?</a:t>
            </a:r>
            <a:pPr indent="0" marL="0">
              <a:spcAft>
                <a:spcPts val="700"/>
              </a:spcAft>
              <a:buNone/>
            </a:pPr>
            <a:r>
              <a:rPr lang="en-US" sz="1400" dirty="0">
                <a:solidFill>
                  <a:schemeClr val="tx1"/>
                </a:solidFill>
              </a:rPr>
              <a:t> Move the binary to /usr/local/bin and chmod +x it.</a:t>
            </a:r>
            <a:endParaRPr lang="en-US" sz="1400" dirty="0"/>
          </a:p>
          <a:p>
            <a:pPr indent="0" marL="0">
              <a:spcAft>
                <a:spcPts val="700"/>
              </a:spcAft>
              <a:buNone/>
            </a:pPr>
            <a:r>
              <a:rPr lang="en-US" sz="1400" b="1" dirty="0">
                <a:solidFill>
                  <a:schemeClr val="tx1"/>
                </a:solidFill>
              </a:rPr>
              <a:t>Cluster create fails?</a:t>
            </a:r>
            <a:pPr indent="0" marL="0">
              <a:spcAft>
                <a:spcPts val="700"/>
              </a:spcAft>
              <a:buNone/>
            </a:pPr>
            <a:r>
              <a:rPr lang="en-US" sz="1400" dirty="0">
                <a:solidFill>
                  <a:schemeClr val="tx1"/>
                </a:solidFill>
              </a:rPr>
              <a:t> Check Docker is running (docker ps) and about 4 GB RAM is free.</a:t>
            </a:r>
            <a:endParaRPr lang="en-US" sz="1400" dirty="0"/>
          </a:p>
          <a:p>
            <a:pPr indent="0" marL="0">
              <a:spcAft>
                <a:spcPts val="700"/>
              </a:spcAft>
              <a:buNone/>
            </a:pPr>
            <a:r>
              <a:rPr lang="en-US" sz="1400" b="1" dirty="0">
                <a:solidFill>
                  <a:schemeClr val="tx1"/>
                </a:solidFill>
              </a:rPr>
              <a:t>Pod stuck?</a:t>
            </a:r>
            <a:pPr indent="0" marL="0">
              <a:spcAft>
                <a:spcPts val="700"/>
              </a:spcAft>
              <a:buNone/>
            </a:pPr>
            <a:r>
              <a:rPr lang="en-US" sz="1400" dirty="0">
                <a:solidFill>
                  <a:schemeClr val="tx1"/>
                </a:solidFill>
              </a:rPr>
              <a:t> kubectl describe pod web and read the Events at the bottom.</a:t>
            </a:r>
            <a:endParaRPr lang="en-US" sz="1400" dirty="0"/>
          </a:p>
          <a:p>
            <a:pPr indent="0" marL="0">
              <a:spcAft>
                <a:spcPts val="700"/>
              </a:spcAft>
              <a:buNone/>
            </a:pPr>
            <a:r>
              <a:rPr lang="en-US" sz="1400" b="1" dirty="0">
                <a:solidFill>
                  <a:schemeClr val="tx1"/>
                </a:solidFill>
              </a:rPr>
              <a:t>Wrong cluster?</a:t>
            </a:r>
            <a:pPr indent="0" marL="0">
              <a:spcAft>
                <a:spcPts val="700"/>
              </a:spcAft>
              <a:buNone/>
            </a:pPr>
            <a:r>
              <a:rPr lang="en-US" sz="1400" dirty="0">
                <a:solidFill>
                  <a:schemeClr val="tx1"/>
                </a:solidFill>
              </a:rPr>
              <a:t> kubectl config use-context kind-winter-arc.</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day1-k8s-basics/ with kind-config.yaml, pod.yaml, a screenshot of kubectl get nodes and docker ps, and a README of the commands you used.</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1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1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What are the control plane components?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kube-apiserver (the only door in), etcd (cluster state), scheduler (assigns Pods to nodes), controller-manager (reconcile loops).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What runs on every worker node?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kubelet (starts and watches Pods), kube-proxy (Service networking rules) and a container runtime such as containerd.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What is a Pod, and why not just a container?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smallest deployable unit: containers that share network and storage and are scheduled together, like an app plus a sidecar.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What happens on kubectl apply -f pod.yaml?</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kubectl sends it to the API server, which stores it in etcd. The scheduler picks a node and that node’s kubelet starts the container.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What is kind and when do you use it?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Kubernetes in Docker: each node is a container. Good for learning, local dev and CI. Not meant for production.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FaLayerGroup" descr="FaLayerGroup">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2</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Deployments &amp; Rollouts</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Beginner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Deployments · ReplicaSets · Labels · Rolling updates · Rollbacks</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run an app with several replicas, watch Kubernetes heal it, ship a new version without downtime, and roll back a bad release.</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Create a Deployment with 3 replicas</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Scale it and watch it self-heal</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Roll out a new image version</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Break a release and roll it back</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An app with 3 replicas, updated and rolled back</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Deployments &amp; Rollouts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6" name="card Deployment → ReplicaSet → Pods"/>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LayerGroup" descr="FaLayerGroup">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Deployment → ReplicaSet → Pods</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You create a Deployment. It creates a </a:t>
            </a:r>
            <a:pPr indent="0" marL="0">
              <a:spcAft>
                <a:spcPts val="600"/>
              </a:spcAft>
              <a:buNone/>
            </a:pPr>
            <a:r>
              <a:rPr lang="en-US" sz="1500" b="1" dirty="0">
                <a:solidFill>
                  <a:schemeClr val="tx1"/>
                </a:solidFill>
              </a:rPr>
              <a:t>ReplicaSet</a:t>
            </a:r>
            <a:pPr indent="0" marL="0">
              <a:spcAft>
                <a:spcPts val="600"/>
              </a:spcAft>
              <a:buNone/>
            </a:pPr>
            <a:r>
              <a:rPr lang="en-US" sz="1500" dirty="0">
                <a:solidFill>
                  <a:schemeClr val="tx1"/>
                </a:solidFill>
              </a:rPr>
              <a:t>, which keeps N identical Pods alive.</a:t>
            </a:r>
            <a:endParaRPr lang="en-US" sz="1500" dirty="0"/>
          </a:p>
          <a:p>
            <a:pPr indent="0" marL="0">
              <a:spcAft>
                <a:spcPts val="600"/>
              </a:spcAft>
              <a:buNone/>
            </a:pPr>
            <a:r>
              <a:rPr lang="en-US" sz="1500" dirty="0">
                <a:solidFill>
                  <a:schemeClr val="tx1"/>
                </a:solidFill>
              </a:rPr>
              <a:t>Delete a Pod and the ReplicaSet makes a new one. That is self-healing.</a:t>
            </a:r>
            <a:endParaRPr lang="en-US" sz="1500" dirty="0"/>
          </a:p>
        </p:txBody>
      </p:sp>
      <p:sp>
        <p:nvSpPr>
          <p:cNvPr id="11" name="card Labels and selectors"/>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Tags" descr="FaTags">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Labels and selectors</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Labels are key/value tags like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app=web</a:t>
            </a:r>
            <a:pPr indent="0" marL="0">
              <a:spcAft>
                <a:spcPts val="600"/>
              </a:spcAft>
              <a:buNone/>
            </a:pPr>
            <a:r>
              <a:rPr lang="en-US" sz="1500" dirty="0">
                <a:solidFill>
                  <a:schemeClr val="tx1"/>
                </a:solidFill>
              </a:rPr>
              <a:t>. Selectors find objects by label.</a:t>
            </a:r>
            <a:endParaRPr lang="en-US" sz="1500" dirty="0"/>
          </a:p>
          <a:p>
            <a:pPr indent="0" marL="0">
              <a:spcAft>
                <a:spcPts val="600"/>
              </a:spcAft>
              <a:buNone/>
            </a:pPr>
            <a:r>
              <a:rPr lang="en-US" sz="1500" dirty="0">
                <a:solidFill>
                  <a:schemeClr val="tx1"/>
                </a:solidFill>
              </a:rPr>
              <a:t>Deployments, ReplicaSets and (tomorrow) Services all connect through </a:t>
            </a:r>
            <a:pPr indent="0" marL="0">
              <a:spcAft>
                <a:spcPts val="600"/>
              </a:spcAft>
              <a:buNone/>
            </a:pPr>
            <a:r>
              <a:rPr lang="en-US" sz="1500" b="1" dirty="0">
                <a:solidFill>
                  <a:schemeClr val="tx1"/>
                </a:solidFill>
              </a:rPr>
              <a:t>labels, not names</a:t>
            </a:r>
            <a:pPr indent="0" marL="0">
              <a:spcAft>
                <a:spcPts val="600"/>
              </a:spcAft>
              <a:buNone/>
            </a:pPr>
            <a:r>
              <a:rPr lang="en-US" sz="1500" dirty="0">
                <a:solidFill>
                  <a:schemeClr val="tx1"/>
                </a:solidFill>
              </a:rPr>
              <a:t>.</a:t>
            </a:r>
            <a:endParaRPr lang="en-US" sz="1500" dirty="0"/>
          </a:p>
        </p:txBody>
      </p:sp>
      <p:sp>
        <p:nvSpPr>
          <p:cNvPr id="16" name="card Rolling updates"/>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SyncAlt" descr="FaSyncAlt">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Rolling updates</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Changing the Pod template creates a </a:t>
            </a:r>
            <a:pPr indent="0" marL="0">
              <a:spcAft>
                <a:spcPts val="600"/>
              </a:spcAft>
              <a:buNone/>
            </a:pPr>
            <a:r>
              <a:rPr lang="en-US" sz="1500" b="1" dirty="0">
                <a:solidFill>
                  <a:schemeClr val="tx1"/>
                </a:solidFill>
              </a:rPr>
              <a:t>new ReplicaSet</a:t>
            </a:r>
            <a:pPr indent="0" marL="0">
              <a:spcAft>
                <a:spcPts val="600"/>
              </a:spcAft>
              <a:buNone/>
            </a:pPr>
            <a:r>
              <a:rPr lang="en-US" sz="1500" dirty="0">
                <a:solidFill>
                  <a:schemeClr val="tx1"/>
                </a:solidFill>
              </a:rPr>
              <a:t>. Pods move over gradually, limited by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maxSurge</a:t>
            </a:r>
            <a:pPr indent="0" marL="0">
              <a:spcAft>
                <a:spcPts val="600"/>
              </a:spcAft>
              <a:buNone/>
            </a:pPr>
            <a:r>
              <a:rPr lang="en-US" sz="1500" dirty="0">
                <a:solidFill>
                  <a:schemeClr val="tx1"/>
                </a:solidFill>
              </a:rPr>
              <a:t> (extra Pods allowed) and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maxUnavailable</a:t>
            </a:r>
            <a:pPr indent="0" marL="0">
              <a:spcAft>
                <a:spcPts val="600"/>
              </a:spcAft>
              <a:buNone/>
            </a:pPr>
            <a:r>
              <a:rPr lang="en-US" sz="1500" dirty="0">
                <a:solidFill>
                  <a:schemeClr val="tx1"/>
                </a:solidFill>
              </a:rPr>
              <a:t> (Pods allowed down).</a:t>
            </a:r>
            <a:endParaRPr lang="en-US" sz="1500" dirty="0"/>
          </a:p>
          <a:p>
            <a:pPr indent="0" marL="0">
              <a:spcAft>
                <a:spcPts val="600"/>
              </a:spcAft>
              <a:buNone/>
            </a:pPr>
            <a:r>
              <a:rPr lang="en-US" sz="1500" dirty="0">
                <a:solidFill>
                  <a:schemeClr val="tx1"/>
                </a:solidFill>
              </a:rPr>
              <a:t>Result: no downtime.</a:t>
            </a:r>
            <a:endParaRPr lang="en-US" sz="1500" dirty="0"/>
          </a:p>
        </p:txBody>
      </p:sp>
      <p:sp>
        <p:nvSpPr>
          <p:cNvPr id="21" name="card Rollbacks"/>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Undo" descr="FaUndo">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Rollbacks</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Old ReplicaSets are kept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revisionHistoryLimit</a:t>
            </a:r>
            <a:pPr indent="0" marL="0">
              <a:spcAft>
                <a:spcPts val="600"/>
              </a:spcAft>
              <a:buNone/>
            </a:pPr>
            <a:r>
              <a:rPr lang="en-US" sz="1500" dirty="0">
                <a:solidFill>
                  <a:schemeClr val="tx1"/>
                </a:solidFill>
              </a:rPr>
              <a:t>, default 10).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kubectl rollout undo</a:t>
            </a:r>
            <a:pPr indent="0" marL="0">
              <a:spcAft>
                <a:spcPts val="600"/>
              </a:spcAft>
              <a:buNone/>
            </a:pPr>
            <a:r>
              <a:rPr lang="en-US" sz="1500" dirty="0">
                <a:solidFill>
                  <a:schemeClr val="tx1"/>
                </a:solidFill>
              </a:rPr>
              <a:t> scales the old one back up.</a:t>
            </a:r>
            <a:endParaRPr lang="en-US" sz="1500" dirty="0"/>
          </a:p>
          <a:p>
            <a:pPr indent="0" marL="0">
              <a:spcAft>
                <a:spcPts val="600"/>
              </a:spcAft>
              <a:buNone/>
            </a:pPr>
            <a:r>
              <a:rPr lang="en-US" sz="1500" dirty="0">
                <a:solidFill>
                  <a:schemeClr val="tx1"/>
                </a:solidFill>
              </a:rPr>
              <a:t>Always pin image tags so every version is traceable.</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Deployment → ReplicaSet → Pods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6" name="Text 4"/>
          <p:cNvSpPr txBox="1"/>
          <p:nvPr/>
        </p:nvSpPr>
        <p:spPr>
          <a:xfrm>
            <a:off x="4572000" y="1417320"/>
            <a:ext cx="3044952" cy="868680"/>
          </a:xfrm>
          <a:prstGeom prst="roundRect">
            <a:avLst>
              <a:gd name="adj" fmla="val 8421"/>
            </a:avLst>
          </a:prstGeom>
          <a:solidFill>
            <a:schemeClr val="tx2"/>
          </a:solidFill>
          <a:ln w="12700">
            <a:solidFill>
              <a:schemeClr val="tx2"/>
            </a:solidFill>
          </a:ln>
        </p:spPr>
        <p:txBody>
          <a:bodyPr wrap="square" lIns="50800" tIns="101600" rIns="101600" bIns="50800" rtlCol="0" anchor="ctr"/>
          <a:lstStyle/>
          <a:p>
            <a:pPr algn="ctr" indent="0" marL="0">
              <a:buNone/>
            </a:pPr>
            <a:r>
              <a:rPr lang="en-US" sz="1500" b="1" dirty="0">
                <a:solidFill>
                  <a:schemeClr val="bg1"/>
                </a:solidFill>
              </a:rPr>
              <a:t>Deployment web</a:t>
            </a:r>
            <a:endParaRPr lang="en-US" sz="1400" dirty="0"/>
          </a:p>
          <a:p>
            <a:pPr algn="ctr" indent="0" marL="0">
              <a:buNone/>
            </a:pPr>
            <a:r>
              <a:rPr lang="en-US" sz="1300" dirty="0">
                <a:solidFill>
                  <a:schemeClr val="bg1"/>
                </a:solidFill>
              </a:rPr>
              <a:t>replicas: 3 · image nginx:1.27</a:t>
            </a:r>
            <a:endParaRPr lang="en-US" sz="1400" dirty="0"/>
          </a:p>
        </p:txBody>
      </p:sp>
      <p:sp>
        <p:nvSpPr>
          <p:cNvPr id="7" name="Text 5"/>
          <p:cNvSpPr txBox="1"/>
          <p:nvPr/>
        </p:nvSpPr>
        <p:spPr>
          <a:xfrm>
            <a:off x="1463040" y="2880360"/>
            <a:ext cx="3291840" cy="914400"/>
          </a:xfrm>
          <a:prstGeom prst="roundRect">
            <a:avLst>
              <a:gd name="adj" fmla="val 8000"/>
            </a:avLst>
          </a:prstGeom>
          <a:solidFill>
            <a:schemeClr val="bg1"/>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ReplicaSet web-6f8…</a:t>
            </a:r>
            <a:endParaRPr lang="en-US" sz="1400" dirty="0"/>
          </a:p>
          <a:p>
            <a:pPr algn="ctr" indent="0" marL="0">
              <a:buNone/>
            </a:pPr>
            <a:r>
              <a:rPr lang="en-US" sz="1300" dirty="0">
                <a:solidFill>
                  <a:schemeClr val="tx2"/>
                </a:solidFill>
              </a:rPr>
              <a:t>nginx:1.26 · 0 Pods</a:t>
            </a:r>
            <a:endParaRPr lang="en-US" sz="1400" dirty="0"/>
          </a:p>
        </p:txBody>
      </p:sp>
      <p:sp>
        <p:nvSpPr>
          <p:cNvPr id="8" name="Text 6"/>
          <p:cNvSpPr txBox="1"/>
          <p:nvPr/>
        </p:nvSpPr>
        <p:spPr>
          <a:xfrm>
            <a:off x="7406640" y="2880360"/>
            <a:ext cx="3291840" cy="914400"/>
          </a:xfrm>
          <a:prstGeom prst="roundRect">
            <a:avLst>
              <a:gd name="adj" fmla="val 8000"/>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500" b="1" dirty="0">
                <a:solidFill>
                  <a:schemeClr val="tx2"/>
                </a:solidFill>
              </a:rPr>
              <a:t>ReplicaSet web-7c4…</a:t>
            </a:r>
            <a:endParaRPr lang="en-US" sz="1400" dirty="0"/>
          </a:p>
          <a:p>
            <a:pPr algn="ctr" indent="0" marL="0">
              <a:buNone/>
            </a:pPr>
            <a:r>
              <a:rPr lang="en-US" sz="1300" dirty="0">
                <a:solidFill>
                  <a:schemeClr val="tx2"/>
                </a:solidFill>
              </a:rPr>
              <a:t>nginx:1.27 · 3 Pods</a:t>
            </a:r>
            <a:endParaRPr lang="en-US" sz="1400" dirty="0"/>
          </a:p>
        </p:txBody>
      </p:sp>
      <p:sp>
        <p:nvSpPr>
          <p:cNvPr id="9" name="arrow"/>
          <p:cNvSpPr/>
          <p:nvPr/>
        </p:nvSpPr>
        <p:spPr>
          <a:xfrm flipH="1">
            <a:off x="3108960" y="2286000"/>
            <a:ext cx="2468880" cy="594360"/>
          </a:xfrm>
          <a:prstGeom prst="line">
            <a:avLst/>
          </a:prstGeom>
          <a:noFill/>
          <a:ln w="28575">
            <a:solidFill>
              <a:schemeClr val="accent1"/>
            </a:solidFill>
            <a:prstDash val="solid"/>
            <a:tailEnd type="triangle"/>
          </a:ln>
        </p:spPr>
      </p:sp>
      <p:sp>
        <p:nvSpPr>
          <p:cNvPr id="10" name="arrow"/>
          <p:cNvSpPr/>
          <p:nvPr/>
        </p:nvSpPr>
        <p:spPr>
          <a:xfrm>
            <a:off x="6583680" y="2286000"/>
            <a:ext cx="2468880" cy="594360"/>
          </a:xfrm>
          <a:prstGeom prst="line">
            <a:avLst/>
          </a:prstGeom>
          <a:noFill/>
          <a:ln w="28575">
            <a:solidFill>
              <a:schemeClr val="accent1"/>
            </a:solidFill>
            <a:prstDash val="solid"/>
            <a:tailEnd type="triangle"/>
          </a:ln>
        </p:spPr>
      </p:sp>
      <p:sp>
        <p:nvSpPr>
          <p:cNvPr id="11" name="Text 9"/>
          <p:cNvSpPr txBox="1"/>
          <p:nvPr/>
        </p:nvSpPr>
        <p:spPr>
          <a:xfrm>
            <a:off x="1463040" y="3931920"/>
            <a:ext cx="3291840" cy="731520"/>
          </a:xfrm>
          <a:prstGeom prst="rect">
            <a:avLst/>
          </a:prstGeom>
          <a:noFill/>
          <a:ln/>
        </p:spPr>
        <p:txBody>
          <a:bodyPr wrap="square" lIns="0" tIns="0" rIns="0" bIns="0" rtlCol="0" anchor="t"/>
          <a:lstStyle/>
          <a:p>
            <a:pPr algn="ctr" indent="0" marL="0">
              <a:buNone/>
            </a:pPr>
            <a:r>
              <a:rPr lang="en-US" sz="1400" dirty="0">
                <a:solidFill>
                  <a:schemeClr val="tx1"/>
                </a:solidFill>
              </a:rPr>
              <a:t>Revision 1, kept at 0 Pods so rollout undo can bring it back.</a:t>
            </a:r>
            <a:endParaRPr lang="en-US" sz="1400" dirty="0"/>
          </a:p>
        </p:txBody>
      </p:sp>
      <p:sp>
        <p:nvSpPr>
          <p:cNvPr id="12" name="Text 10"/>
          <p:cNvSpPr txBox="1"/>
          <p:nvPr/>
        </p:nvSpPr>
        <p:spPr>
          <a:xfrm>
            <a:off x="6675120" y="4434840"/>
            <a:ext cx="1463040" cy="777240"/>
          </a:xfrm>
          <a:prstGeom prst="roundRect">
            <a:avLst>
              <a:gd name="adj" fmla="val 9412"/>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400" b="1" dirty="0">
                <a:solidFill>
                  <a:schemeClr val="tx2"/>
                </a:solidFill>
              </a:rPr>
              <a:t>Pod 1</a:t>
            </a:r>
            <a:endParaRPr lang="en-US" sz="1400" dirty="0"/>
          </a:p>
          <a:p>
            <a:pPr algn="ctr" indent="0" marL="0">
              <a:buNone/>
            </a:pPr>
            <a:r>
              <a:rPr lang="en-US" sz="1200" dirty="0">
                <a:solidFill>
                  <a:schemeClr val="tx2"/>
                </a:solidFill>
              </a:rPr>
              <a:t>nginx:1.27</a:t>
            </a:r>
            <a:endParaRPr lang="en-US" sz="1400" dirty="0"/>
          </a:p>
        </p:txBody>
      </p:sp>
      <p:sp>
        <p:nvSpPr>
          <p:cNvPr id="13" name="arrow"/>
          <p:cNvSpPr/>
          <p:nvPr/>
        </p:nvSpPr>
        <p:spPr>
          <a:xfrm flipH="1">
            <a:off x="7406640" y="3794760"/>
            <a:ext cx="1645920" cy="640080"/>
          </a:xfrm>
          <a:prstGeom prst="line">
            <a:avLst/>
          </a:prstGeom>
          <a:noFill/>
          <a:ln w="28575">
            <a:solidFill>
              <a:schemeClr val="accent1"/>
            </a:solidFill>
            <a:prstDash val="solid"/>
            <a:tailEnd type="triangle"/>
          </a:ln>
        </p:spPr>
      </p:sp>
      <p:sp>
        <p:nvSpPr>
          <p:cNvPr id="14" name="Text 12"/>
          <p:cNvSpPr txBox="1"/>
          <p:nvPr/>
        </p:nvSpPr>
        <p:spPr>
          <a:xfrm>
            <a:off x="8321040" y="4434840"/>
            <a:ext cx="1463040" cy="777240"/>
          </a:xfrm>
          <a:prstGeom prst="roundRect">
            <a:avLst>
              <a:gd name="adj" fmla="val 9412"/>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400" b="1" dirty="0">
                <a:solidFill>
                  <a:schemeClr val="tx2"/>
                </a:solidFill>
              </a:rPr>
              <a:t>Pod 2</a:t>
            </a:r>
            <a:endParaRPr lang="en-US" sz="1400" dirty="0"/>
          </a:p>
          <a:p>
            <a:pPr algn="ctr" indent="0" marL="0">
              <a:buNone/>
            </a:pPr>
            <a:r>
              <a:rPr lang="en-US" sz="1200" dirty="0">
                <a:solidFill>
                  <a:schemeClr val="tx2"/>
                </a:solidFill>
              </a:rPr>
              <a:t>nginx:1.27</a:t>
            </a:r>
            <a:endParaRPr lang="en-US" sz="1400" dirty="0"/>
          </a:p>
        </p:txBody>
      </p:sp>
      <p:sp>
        <p:nvSpPr>
          <p:cNvPr id="15" name="arrow"/>
          <p:cNvSpPr/>
          <p:nvPr/>
        </p:nvSpPr>
        <p:spPr>
          <a:xfrm>
            <a:off x="9052560" y="3794760"/>
            <a:ext cx="0" cy="640080"/>
          </a:xfrm>
          <a:prstGeom prst="line">
            <a:avLst/>
          </a:prstGeom>
          <a:noFill/>
          <a:ln w="28575">
            <a:solidFill>
              <a:schemeClr val="accent1"/>
            </a:solidFill>
            <a:prstDash val="solid"/>
            <a:tailEnd type="triangle"/>
          </a:ln>
        </p:spPr>
      </p:sp>
      <p:sp>
        <p:nvSpPr>
          <p:cNvPr id="16" name="Text 14"/>
          <p:cNvSpPr txBox="1"/>
          <p:nvPr/>
        </p:nvSpPr>
        <p:spPr>
          <a:xfrm>
            <a:off x="9966960" y="4434840"/>
            <a:ext cx="1463040" cy="777240"/>
          </a:xfrm>
          <a:prstGeom prst="roundRect">
            <a:avLst>
              <a:gd name="adj" fmla="val 9412"/>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400" b="1" dirty="0">
                <a:solidFill>
                  <a:schemeClr val="tx2"/>
                </a:solidFill>
              </a:rPr>
              <a:t>Pod 3</a:t>
            </a:r>
            <a:endParaRPr lang="en-US" sz="1400" dirty="0"/>
          </a:p>
          <a:p>
            <a:pPr algn="ctr" indent="0" marL="0">
              <a:buNone/>
            </a:pPr>
            <a:r>
              <a:rPr lang="en-US" sz="1200" dirty="0">
                <a:solidFill>
                  <a:schemeClr val="tx2"/>
                </a:solidFill>
              </a:rPr>
              <a:t>nginx:1.27</a:t>
            </a:r>
            <a:endParaRPr lang="en-US" sz="1400" dirty="0"/>
          </a:p>
        </p:txBody>
      </p:sp>
      <p:sp>
        <p:nvSpPr>
          <p:cNvPr id="17" name="arrow"/>
          <p:cNvSpPr/>
          <p:nvPr/>
        </p:nvSpPr>
        <p:spPr>
          <a:xfrm>
            <a:off x="9052560" y="3794760"/>
            <a:ext cx="1645920" cy="640080"/>
          </a:xfrm>
          <a:prstGeom prst="line">
            <a:avLst/>
          </a:prstGeom>
          <a:noFill/>
          <a:ln w="28575">
            <a:solidFill>
              <a:schemeClr val="accent1"/>
            </a:solidFill>
            <a:prstDash val="solid"/>
            <a:tailEnd type="triangle"/>
          </a:ln>
        </p:spPr>
      </p:sp>
      <p:sp>
        <p:nvSpPr>
          <p:cNvPr id="18" name="rolling update note"/>
          <p:cNvSpPr/>
          <p:nvPr/>
        </p:nvSpPr>
        <p:spPr>
          <a:xfrm>
            <a:off x="548640" y="5486400"/>
            <a:ext cx="11094415" cy="713232"/>
          </a:xfrm>
          <a:prstGeom prst="roundRect">
            <a:avLst>
              <a:gd name="adj" fmla="val 10256"/>
            </a:avLst>
          </a:prstGeom>
          <a:solidFill>
            <a:schemeClr val="accent1">
              <a:alpha val="14000"/>
            </a:schemeClr>
          </a:solidFill>
          <a:ln w="9525">
            <a:solidFill>
              <a:schemeClr val="accent1"/>
            </a:solidFill>
            <a:prstDash val="solid"/>
          </a:ln>
        </p:spPr>
      </p:sp>
      <p:sp>
        <p:nvSpPr>
          <p:cNvPr id="19" name="Text 17"/>
          <p:cNvSpPr txBox="1"/>
          <p:nvPr/>
        </p:nvSpPr>
        <p:spPr>
          <a:xfrm>
            <a:off x="777240" y="5486400"/>
            <a:ext cx="10637215" cy="713232"/>
          </a:xfrm>
          <a:prstGeom prst="rect">
            <a:avLst/>
          </a:prstGeom>
          <a:noFill/>
          <a:ln/>
        </p:spPr>
        <p:txBody>
          <a:bodyPr wrap="square" lIns="0" tIns="0" rIns="0" bIns="0" rtlCol="0" anchor="ctr"/>
          <a:lstStyle/>
          <a:p>
            <a:pPr indent="0" marL="0">
              <a:buNone/>
            </a:pPr>
            <a:r>
              <a:rPr lang="en-US" sz="1400" b="1" dirty="0">
                <a:solidFill>
                  <a:schemeClr val="tx2"/>
                </a:solidFill>
              </a:rPr>
              <a:t>Rolling update: </a:t>
            </a:r>
            <a:pPr indent="0" marL="0">
              <a:buNone/>
            </a:pPr>
            <a:r>
              <a:rPr lang="en-US" sz="1400" dirty="0">
                <a:solidFill>
                  <a:schemeClr val="tx1"/>
                </a:solidFill>
              </a:rPr>
              <a:t>the new ReplicaSet scales 0 → 3 while the old one scales 3 → 0 (maxSurge 1, maxUnavailable 0). </a:t>
            </a:r>
            <a:pPr indent="0" marL="0">
              <a:buNone/>
            </a:pPr>
            <a:r>
              <a:rPr lang="en-US" sz="1400" dirty="0">
                <a:solidFill>
                  <a:schemeClr val="accent1"/>
                </a:solidFill>
                <a:latin typeface="Courier New" pitchFamily="34" charset="0"/>
                <a:ea typeface="Courier New" pitchFamily="34" charset="-122"/>
                <a:cs typeface="Courier New" pitchFamily="34" charset="-120"/>
              </a:rPr>
              <a:t>rollout undo</a:t>
            </a:r>
            <a:pPr indent="0" marL="0">
              <a:buNone/>
            </a:pPr>
            <a:r>
              <a:rPr lang="en-US" sz="1400" dirty="0">
                <a:solidFill>
                  <a:schemeClr val="tx1"/>
                </a:solidFill>
              </a:rPr>
              <a:t> flips them back.</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deployment web --image=nginx:1.26 --replicas=3</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 Deployment with 3 Pods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Fastest way to a running app</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deploy,rs,pods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the whole chain at once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See which ReplicaSet owns which Pods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scale deploy web --replicas=5</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Changes the replica count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Handle more traffic by hand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set image deploy/web nginx=nginx:1.27</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Updates the image and starts a rollout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Ship a new version</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rollout status deploy/web</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Waits and reports rollout progress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Gate a CI/CD deploy step</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rollout history deploy/web</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the saved revisions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Find which version to return to</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rollout undo deploy/web</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Reverts to the previous revision</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Fast fix for a bad release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pods -l app=web --show-labels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Filters Pods by label</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what a selector will match</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Deployment manifest</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6" name="terminal deployment.yaml"/>
          <p:cNvSpPr/>
          <p:nvPr/>
        </p:nvSpPr>
        <p:spPr>
          <a:xfrm>
            <a:off x="548640" y="1371600"/>
            <a:ext cx="5410048" cy="4373880"/>
          </a:xfrm>
          <a:prstGeom prst="roundRect">
            <a:avLst>
              <a:gd name="adj" fmla="val 1254"/>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deployment.yaml</a:t>
            </a:r>
            <a:endParaRPr lang="en-US" sz="1100" dirty="0"/>
          </a:p>
        </p:txBody>
      </p:sp>
      <p:sp>
        <p:nvSpPr>
          <p:cNvPr id="11" name="terminal text"/>
          <p:cNvSpPr txBox="1"/>
          <p:nvPr/>
        </p:nvSpPr>
        <p:spPr>
          <a:xfrm>
            <a:off x="749808" y="1828800"/>
            <a:ext cx="5007712" cy="382524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apps/v1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Deployment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web</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spec:</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replicas: 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selector: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matchLabels: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app: web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strategy: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type: RollingUpdate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rollingUpdate: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maxSurge: 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maxUnavailable: 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template: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metadata: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labels: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app: web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spec: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containers: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nginx</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 nginx:1.26</a:t>
            </a:r>
            <a:endParaRPr lang="en-US" sz="1100" dirty="0"/>
          </a:p>
        </p:txBody>
      </p:sp>
      <p:sp>
        <p:nvSpPr>
          <p:cNvPr id="12" name="Text 10"/>
          <p:cNvSpPr txBox="1"/>
          <p:nvPr/>
        </p:nvSpPr>
        <p:spPr>
          <a:xfrm>
            <a:off x="548640" y="5882640"/>
            <a:ext cx="5410048" cy="548640"/>
          </a:xfrm>
          <a:prstGeom prst="rect">
            <a:avLst/>
          </a:prstGeom>
          <a:noFill/>
          <a:ln/>
        </p:spPr>
        <p:txBody>
          <a:bodyPr wrap="square" lIns="0" tIns="0" rIns="0" bIns="0" rtlCol="0" anchor="t"/>
          <a:lstStyle/>
          <a:p>
            <a:pPr indent="0" marL="0">
              <a:buNone/>
            </a:pPr>
            <a:r>
              <a:rPr lang="en-US" sz="1400" dirty="0">
                <a:solidFill>
                  <a:schemeClr val="tx1"/>
                </a:solidFill>
              </a:rPr>
              <a:t>selector.matchLabels must match template.metadata.labels or the Deployment is rejected.</a:t>
            </a:r>
            <a:endParaRPr lang="en-US" sz="1400" dirty="0"/>
          </a:p>
        </p:txBody>
      </p:sp>
      <p:sp>
        <p:nvSpPr>
          <p:cNvPr id="13" name="terminal release helpers"/>
          <p:cNvSpPr/>
          <p:nvPr/>
        </p:nvSpPr>
        <p:spPr>
          <a:xfrm>
            <a:off x="6233008" y="1371600"/>
            <a:ext cx="5410048" cy="4373880"/>
          </a:xfrm>
          <a:prstGeom prst="roundRect">
            <a:avLst>
              <a:gd name="adj" fmla="val 1254"/>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release helpers</a:t>
            </a:r>
            <a:endParaRPr lang="en-US" sz="1100" dirty="0"/>
          </a:p>
        </p:txBody>
      </p:sp>
      <p:sp>
        <p:nvSpPr>
          <p:cNvPr id="18" name="terminal text"/>
          <p:cNvSpPr txBox="1"/>
          <p:nvPr/>
        </p:nvSpPr>
        <p:spPr>
          <a:xfrm>
            <a:off x="6434176" y="1828800"/>
            <a:ext cx="5007712" cy="382524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 Record why you changed it</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annotate deploy/web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kubernetes.io/change-cause="to nginx 1.27"</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Pause and resume a rollout</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rollout pause deploy/web</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rollout resume deploy/web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Restart Pods with the same image</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rollout restart deploy/web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Generate YAML instead of typing it</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deployment web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--image=nginx:1.26 --replicas=3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--dry-run=client -o yaml &gt; deployment.yaml</a:t>
            </a:r>
            <a:endParaRPr lang="en-US" sz="1100" dirty="0"/>
          </a:p>
        </p:txBody>
      </p:sp>
      <p:sp>
        <p:nvSpPr>
          <p:cNvPr id="19" name="Text 17"/>
          <p:cNvSpPr txBox="1"/>
          <p:nvPr/>
        </p:nvSpPr>
        <p:spPr>
          <a:xfrm>
            <a:off x="6233008" y="5882640"/>
            <a:ext cx="5410048" cy="548640"/>
          </a:xfrm>
          <a:prstGeom prst="rect">
            <a:avLst/>
          </a:prstGeom>
          <a:noFill/>
          <a:ln/>
        </p:spPr>
        <p:txBody>
          <a:bodyPr wrap="square" lIns="0" tIns="0" rIns="0" bIns="0" rtlCol="0" anchor="t"/>
          <a:lstStyle/>
          <a:p>
            <a:pPr indent="0" marL="0">
              <a:buNone/>
            </a:pPr>
            <a:r>
              <a:rPr lang="en-US" sz="1400" dirty="0">
                <a:solidFill>
                  <a:schemeClr val="tx1"/>
                </a:solidFill>
              </a:rPr>
              <a:t>Annotate before set image: the change-cause is saved with the new revision.</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Ship, break and roll back</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The web team wants zero-downtime releases. You deploy nginx 1.26, upgrade to 1.27, then push a broken version on purpose and roll it back.</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Deploy. </a:t>
            </a:r>
            <a:pPr indent="0" marL="0">
              <a:buNone/>
            </a:pPr>
            <a:r>
              <a:rPr lang="en-US" sz="1400" dirty="0">
                <a:solidFill>
                  <a:schemeClr val="tx1"/>
                </a:solidFill>
              </a:rPr>
              <a:t>Apply deployment.yaml (3 replicas of nginx:1.26) and check kubectl get deploy,rs,pods.</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Self-heal. </a:t>
            </a:r>
            <a:pPr indent="0" marL="0">
              <a:buNone/>
            </a:pPr>
            <a:r>
              <a:rPr lang="en-US" sz="1400" dirty="0">
                <a:solidFill>
                  <a:schemeClr val="tx1"/>
                </a:solidFill>
              </a:rPr>
              <a:t>Delete one Pod and watch the ReplicaSet create a replacement within seconds.</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Scale. </a:t>
            </a:r>
            <a:pPr indent="0" marL="0">
              <a:buNone/>
            </a:pPr>
            <a:r>
              <a:rPr lang="en-US" sz="1400" dirty="0">
                <a:solidFill>
                  <a:schemeClr val="tx1"/>
                </a:solidFill>
              </a:rPr>
              <a:t>Scale to 5, then back to 3.</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Upgrade. </a:t>
            </a:r>
            <a:pPr indent="0" marL="0">
              <a:buNone/>
            </a:pPr>
            <a:r>
              <a:rPr lang="en-US" sz="1400" dirty="0">
                <a:solidFill>
                  <a:schemeClr val="tx1"/>
                </a:solidFill>
              </a:rPr>
              <a:t>Annotate the change-cause, set the image to nginx:1.27 and watch rollout status.</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Break it. </a:t>
            </a:r>
            <a:pPr indent="0" marL="0">
              <a:buNone/>
            </a:pPr>
            <a:r>
              <a:rPr lang="en-US" sz="1400" dirty="0">
                <a:solidFill>
                  <a:schemeClr val="tx1"/>
                </a:solidFill>
              </a:rPr>
              <a:t>Set the image to nginx:1.99-broken. New Pods fail, old Pods keep serving.</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Roll back. </a:t>
            </a:r>
            <a:pPr indent="0" marL="0">
              <a:buNone/>
            </a:pPr>
            <a:r>
              <a:rPr lang="en-US" sz="1400" dirty="0">
                <a:solidFill>
                  <a:schemeClr val="tx1"/>
                </a:solidFill>
              </a:rPr>
              <a:t>Run rollout undo and confirm 1.27 is back with rollout history.</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apply -f deployment.yaml</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get deploy,rs,pods</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delete pod &lt;one-pod-name&gt;</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get pods -w        </a:t>
            </a:r>
            <a:pPr indent="0" marL="0">
              <a:buNone/>
            </a:pPr>
            <a:r>
              <a:rPr lang="en-US" sz="1200" dirty="0">
                <a:solidFill>
                  <a:schemeClr val="accent6"/>
                </a:solidFill>
                <a:latin typeface="Courier New" pitchFamily="34" charset="0"/>
                <a:ea typeface="Courier New" pitchFamily="34" charset="-122"/>
                <a:cs typeface="Courier New" pitchFamily="34" charset="-120"/>
              </a:rPr>
              <a:t> # replacement appears</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scale deploy web --replicas=5</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scale deploy web --replicas=3</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annotate deploy/web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kubernetes.io/change-cause="to 1.27"</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set image deploy/web nginx=nginx:1.27</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rollout status deploy/web</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set image deploy/web nginx=nginx:1.99-broken</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get pods           </a:t>
            </a:r>
            <a:pPr indent="0" marL="0">
              <a:buNone/>
            </a:pPr>
            <a:r>
              <a:rPr lang="en-US" sz="1200" dirty="0">
                <a:solidFill>
                  <a:schemeClr val="accent6"/>
                </a:solidFill>
                <a:latin typeface="Courier New" pitchFamily="34" charset="0"/>
                <a:ea typeface="Courier New" pitchFamily="34" charset="-122"/>
                <a:cs typeface="Courier New" pitchFamily="34" charset="-120"/>
              </a:rPr>
              <a:t> # ImagePullBackOff</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rollout undo deploy/web</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rollout history deploy/web</a:t>
            </a:r>
            <a:endParaRPr lang="en-US" sz="12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3 Pods Running; deleting one brings a new one back automatically</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rollout history shows at least 3 revisions</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During the broken rollout the old Pods kept running</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rollout undo returned the image to nginx:1.27</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can explain maxSurge and maxUnavailable</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rollout status never ends?</a:t>
            </a:r>
            <a:pPr indent="0" marL="0">
              <a:spcAft>
                <a:spcPts val="700"/>
              </a:spcAft>
              <a:buNone/>
            </a:pPr>
            <a:r>
              <a:rPr lang="en-US" sz="1400" dirty="0">
                <a:solidFill>
                  <a:schemeClr val="tx1"/>
                </a:solidFill>
              </a:rPr>
              <a:t> The new Pods cannot start. Press Ctrl+C, then undo.</a:t>
            </a:r>
            <a:endParaRPr lang="en-US" sz="1400" dirty="0"/>
          </a:p>
          <a:p>
            <a:pPr indent="0" marL="0">
              <a:spcAft>
                <a:spcPts val="700"/>
              </a:spcAft>
              <a:buNone/>
            </a:pPr>
            <a:r>
              <a:rPr lang="en-US" sz="1400" b="1" dirty="0">
                <a:solidFill>
                  <a:schemeClr val="tx1"/>
                </a:solidFill>
              </a:rPr>
              <a:t>ImagePullBackOff?</a:t>
            </a:r>
            <a:pPr indent="0" marL="0">
              <a:spcAft>
                <a:spcPts val="700"/>
              </a:spcAft>
              <a:buNone/>
            </a:pPr>
            <a:r>
              <a:rPr lang="en-US" sz="1400" dirty="0">
                <a:solidFill>
                  <a:schemeClr val="tx1"/>
                </a:solidFill>
              </a:rPr>
              <a:t> kubectl describe pod shows the pull error in Events.</a:t>
            </a:r>
            <a:endParaRPr lang="en-US" sz="1400" dirty="0"/>
          </a:p>
          <a:p>
            <a:pPr indent="0" marL="0">
              <a:spcAft>
                <a:spcPts val="700"/>
              </a:spcAft>
              <a:buNone/>
            </a:pPr>
            <a:r>
              <a:rPr lang="en-US" sz="1400" b="1" dirty="0">
                <a:solidFill>
                  <a:schemeClr val="tx1"/>
                </a:solidFill>
              </a:rPr>
              <a:t>Want your Week 2 image?</a:t>
            </a:r>
            <a:pPr indent="0" marL="0">
              <a:spcAft>
                <a:spcPts val="700"/>
              </a:spcAft>
              <a:buNone/>
            </a:pPr>
            <a:r>
              <a:rPr lang="en-US" sz="1400" dirty="0">
                <a:solidFill>
                  <a:schemeClr val="tx1"/>
                </a:solidFill>
              </a:rPr>
              <a:t> kind load docker-image my-site:v1 --name winter-arc, then set imagePullPolicy: IfNotPresent.</a:t>
            </a:r>
            <a:endParaRPr lang="en-US" sz="1400" dirty="0"/>
          </a:p>
          <a:p>
            <a:pPr indent="0" marL="0">
              <a:spcAft>
                <a:spcPts val="700"/>
              </a:spcAft>
              <a:buNone/>
            </a:pPr>
            <a:r>
              <a:rPr lang="en-US" sz="1400" b="1" dirty="0">
                <a:solidFill>
                  <a:schemeClr val="tx1"/>
                </a:solidFill>
              </a:rPr>
              <a:t>Deployment rejected?</a:t>
            </a:r>
            <a:pPr indent="0" marL="0">
              <a:spcAft>
                <a:spcPts val="700"/>
              </a:spcAft>
              <a:buNone/>
            </a:pPr>
            <a:r>
              <a:rPr lang="en-US" sz="1400" dirty="0">
                <a:solidFill>
                  <a:schemeClr val="tx1"/>
                </a:solidFill>
              </a:rPr>
              <a:t> Selector labels must equal the Pod template labels.</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day2-deployments/ with deployment.yaml, the output of kubectl rollout history, and a README explaining each rollout step.</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2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2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Pod vs ReplicaSet vs Deployment?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Pod runs containers. A ReplicaSet keeps N Pods alive. A Deployment manages ReplicaSets to give rolling updates and rollbacks.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How does a rolling update work?</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new ReplicaSet scales up while the old one scales down, limited by maxSurge and maxUnavailable, so capacity never drops to zero.</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How does a rollback work?</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old ReplicaSet is still stored. rollout undo scales it back up and the broken one down.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Why do selectors use labels, not names?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Pods are disposable and get random names. Labels let controllers and Services find the right Pods however many exist.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A node dies. What happens to its Pods?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node becomes NotReady. After the eviction timeout (about 5 minutes by default) the ReplicaSet creates replacements on healthy nodes.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FaNetworkWired" descr="FaNetworkWired">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3</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Services &amp; Networking</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Core skills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ClusterIP · NodePort · DNS · Endpoints · port-forward</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give Pods a stable address, call one app from another by name, and open an app from your laptop through a NodePort.</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Create a ClusterIP Service</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Call it by DNS name from another Pod</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Watch load balancing across replicas</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Expose it on your laptop with NodePort</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An app reachable by name and on localhost:30080</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Services &amp; Networking</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6" name="card Why Services?"/>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BroadcastTower" descr="FaBroadcastTower">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Why Services?</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Pod IPs change every time a Pod is replaced. A </a:t>
            </a:r>
            <a:pPr indent="0" marL="0">
              <a:spcAft>
                <a:spcPts val="600"/>
              </a:spcAft>
              <a:buNone/>
            </a:pPr>
            <a:r>
              <a:rPr lang="en-US" sz="1500" b="1" dirty="0">
                <a:solidFill>
                  <a:schemeClr val="tx1"/>
                </a:solidFill>
              </a:rPr>
              <a:t>Service</a:t>
            </a:r>
            <a:pPr indent="0" marL="0">
              <a:spcAft>
                <a:spcPts val="600"/>
              </a:spcAft>
              <a:buNone/>
            </a:pPr>
            <a:r>
              <a:rPr lang="en-US" sz="1500" dirty="0">
                <a:solidFill>
                  <a:schemeClr val="tx1"/>
                </a:solidFill>
              </a:rPr>
              <a:t> gives a set of Pods one stable virtual IP and DNS name, and load-balances across the healthy ones.</a:t>
            </a:r>
            <a:endParaRPr lang="en-US" sz="1500" dirty="0"/>
          </a:p>
        </p:txBody>
      </p:sp>
      <p:sp>
        <p:nvSpPr>
          <p:cNvPr id="11" name="card Service types"/>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Sitemap" descr="FaSitemap">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Service types</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ClusterIP</a:t>
            </a:r>
            <a:pPr indent="0" marL="0">
              <a:spcAft>
                <a:spcPts val="600"/>
              </a:spcAft>
              <a:buNone/>
            </a:pPr>
            <a:r>
              <a:rPr lang="en-US" sz="1500" dirty="0">
                <a:solidFill>
                  <a:schemeClr val="tx1"/>
                </a:solidFill>
              </a:rPr>
              <a:t> (default): internal only. </a:t>
            </a:r>
            <a:pPr indent="0" marL="0">
              <a:spcAft>
                <a:spcPts val="600"/>
              </a:spcAft>
              <a:buNone/>
            </a:pPr>
            <a:r>
              <a:rPr lang="en-US" sz="1500" b="1" dirty="0">
                <a:solidFill>
                  <a:schemeClr val="tx1"/>
                </a:solidFill>
              </a:rPr>
              <a:t>NodePort</a:t>
            </a:r>
            <a:pPr indent="0" marL="0">
              <a:spcAft>
                <a:spcPts val="600"/>
              </a:spcAft>
              <a:buNone/>
            </a:pPr>
            <a:r>
              <a:rPr lang="en-US" sz="1500" dirty="0">
                <a:solidFill>
                  <a:schemeClr val="tx1"/>
                </a:solidFill>
              </a:rPr>
              <a:t>: opens a port (30000–32767) on every node. </a:t>
            </a:r>
            <a:pPr indent="0" marL="0">
              <a:spcAft>
                <a:spcPts val="600"/>
              </a:spcAft>
              <a:buNone/>
            </a:pPr>
            <a:r>
              <a:rPr lang="en-US" sz="1500" b="1" dirty="0">
                <a:solidFill>
                  <a:schemeClr val="tx1"/>
                </a:solidFill>
              </a:rPr>
              <a:t>LoadBalancer</a:t>
            </a:r>
            <a:pPr indent="0" marL="0">
              <a:spcAft>
                <a:spcPts val="600"/>
              </a:spcAft>
              <a:buNone/>
            </a:pPr>
            <a:r>
              <a:rPr lang="en-US" sz="1500" dirty="0">
                <a:solidFill>
                  <a:schemeClr val="tx1"/>
                </a:solidFill>
              </a:rPr>
              <a:t>: needs a cloud and stays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&lt;pending&gt;</a:t>
            </a:r>
            <a:pPr indent="0" marL="0">
              <a:spcAft>
                <a:spcPts val="600"/>
              </a:spcAft>
              <a:buNone/>
            </a:pPr>
            <a:r>
              <a:rPr lang="en-US" sz="1500" dirty="0">
                <a:solidFill>
                  <a:schemeClr val="tx1"/>
                </a:solidFill>
              </a:rPr>
              <a:t> on kind.</a:t>
            </a:r>
            <a:endParaRPr lang="en-US" sz="1500" dirty="0"/>
          </a:p>
          <a:p>
            <a:pPr indent="0" marL="0">
              <a:spcAft>
                <a:spcPts val="600"/>
              </a:spcAft>
              <a:buNone/>
            </a:pPr>
            <a:r>
              <a:rPr lang="en-US" sz="1500" dirty="0">
                <a:solidFill>
                  <a:schemeClr val="tx1"/>
                </a:solidFill>
              </a:rPr>
              <a:t>Ingress is out of scope this week.</a:t>
            </a:r>
            <a:endParaRPr lang="en-US" sz="1500" dirty="0"/>
          </a:p>
        </p:txBody>
      </p:sp>
      <p:sp>
        <p:nvSpPr>
          <p:cNvPr id="16" name="card DNS inside the cluster"/>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Search" descr="FaSearch">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DNS inside the cluster</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CoreDNS gives every Service a name: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&lt;service&gt;.&lt;namespace&gt;.svc.cluster.local</a:t>
            </a:r>
            <a:pPr indent="0" marL="0">
              <a:spcAft>
                <a:spcPts val="600"/>
              </a:spcAft>
              <a:buNone/>
            </a:pPr>
            <a:r>
              <a:rPr lang="en-US" sz="1500" dirty="0">
                <a:solidFill>
                  <a:schemeClr val="tx1"/>
                </a:solidFill>
              </a:rPr>
              <a:t>.</a:t>
            </a:r>
            <a:endParaRPr lang="en-US" sz="1500" dirty="0"/>
          </a:p>
          <a:p>
            <a:pPr indent="0" marL="0">
              <a:spcAft>
                <a:spcPts val="600"/>
              </a:spcAft>
              <a:buNone/>
            </a:pPr>
            <a:r>
              <a:rPr lang="en-US" sz="1500" dirty="0">
                <a:solidFill>
                  <a:schemeClr val="tx1"/>
                </a:solidFill>
              </a:rPr>
              <a:t>In the same namespace the short name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hello</a:t>
            </a:r>
            <a:pPr indent="0" marL="0">
              <a:spcAft>
                <a:spcPts val="600"/>
              </a:spcAft>
              <a:buNone/>
            </a:pPr>
            <a:r>
              <a:rPr lang="en-US" sz="1500" dirty="0">
                <a:solidFill>
                  <a:schemeClr val="tx1"/>
                </a:solidFill>
              </a:rPr>
              <a:t> is enough. Use names, never Pod IPs.</a:t>
            </a:r>
            <a:endParaRPr lang="en-US" sz="1500" dirty="0"/>
          </a:p>
        </p:txBody>
      </p:sp>
      <p:sp>
        <p:nvSpPr>
          <p:cNvPr id="21" name="card Endpoints and kube-proxy"/>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Route" descr="FaRoute">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Endpoints and kube-proxy</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The Service selector picks Pods by label. </a:t>
            </a:r>
            <a:pPr indent="0" marL="0">
              <a:spcAft>
                <a:spcPts val="600"/>
              </a:spcAft>
              <a:buNone/>
            </a:pPr>
            <a:r>
              <a:rPr lang="en-US" sz="1500" b="1" dirty="0">
                <a:solidFill>
                  <a:schemeClr val="tx1"/>
                </a:solidFill>
              </a:rPr>
              <a:t>Ready</a:t>
            </a:r>
            <a:pPr indent="0" marL="0">
              <a:spcAft>
                <a:spcPts val="600"/>
              </a:spcAft>
              <a:buNone/>
            </a:pPr>
            <a:r>
              <a:rPr lang="en-US" sz="1500" dirty="0">
                <a:solidFill>
                  <a:schemeClr val="tx1"/>
                </a:solidFill>
              </a:rPr>
              <a:t> Pods become its endpoints. kube-proxy programs rules on each node to send traffic to them.</a:t>
            </a:r>
            <a:endParaRPr lang="en-US" sz="1500" dirty="0"/>
          </a:p>
          <a:p>
            <a:pPr indent="0" marL="0">
              <a:spcAft>
                <a:spcPts val="600"/>
              </a:spcAft>
              <a:buNone/>
            </a:pPr>
            <a:r>
              <a:rPr lang="en-US" sz="1500" dirty="0">
                <a:solidFill>
                  <a:schemeClr val="tx1"/>
                </a:solidFill>
              </a:rPr>
              <a:t>No ready Pod means no endpoint.</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traffic reaches your Pods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6" name="Text 4"/>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FROM YOUR LAPTOP  (NodePort)</a:t>
            </a:r>
            <a:endParaRPr lang="en-US" sz="1400" dirty="0"/>
          </a:p>
        </p:txBody>
      </p:sp>
      <p:sp>
        <p:nvSpPr>
          <p:cNvPr id="7" name="Text 5"/>
          <p:cNvSpPr txBox="1"/>
          <p:nvPr/>
        </p:nvSpPr>
        <p:spPr>
          <a:xfrm>
            <a:off x="548640" y="1737360"/>
            <a:ext cx="2377440" cy="1188720"/>
          </a:xfrm>
          <a:prstGeom prst="roundRect">
            <a:avLst>
              <a:gd name="adj" fmla="val 6154"/>
            </a:avLst>
          </a:prstGeom>
          <a:solidFill>
            <a:schemeClr val="tx2"/>
          </a:solidFill>
          <a:ln w="12700">
            <a:solidFill>
              <a:schemeClr val="tx2"/>
            </a:solidFill>
          </a:ln>
        </p:spPr>
        <p:txBody>
          <a:bodyPr wrap="square" lIns="50800" tIns="101600" rIns="101600" bIns="50800" rtlCol="0" anchor="ctr"/>
          <a:lstStyle/>
          <a:p>
            <a:pPr algn="ctr" indent="0" marL="0">
              <a:buNone/>
            </a:pPr>
            <a:r>
              <a:rPr lang="en-US" sz="1500" b="1" dirty="0">
                <a:solidFill>
                  <a:schemeClr val="bg1"/>
                </a:solidFill>
              </a:rPr>
              <a:t>Your laptop</a:t>
            </a:r>
            <a:endParaRPr lang="en-US" sz="1400" dirty="0"/>
          </a:p>
          <a:p>
            <a:pPr algn="ctr" indent="0" marL="0">
              <a:buNone/>
            </a:pPr>
            <a:r>
              <a:rPr lang="en-US" sz="1300" dirty="0">
                <a:solidFill>
                  <a:schemeClr val="bg1"/>
                </a:solidFill>
              </a:rPr>
              <a:t>curl localhost:30080</a:t>
            </a:r>
            <a:endParaRPr lang="en-US" sz="1400" dirty="0"/>
          </a:p>
        </p:txBody>
      </p:sp>
      <p:sp>
        <p:nvSpPr>
          <p:cNvPr id="8" name="arrow"/>
          <p:cNvSpPr/>
          <p:nvPr/>
        </p:nvSpPr>
        <p:spPr>
          <a:xfrm>
            <a:off x="2962656" y="2331720"/>
            <a:ext cx="429768" cy="0"/>
          </a:xfrm>
          <a:prstGeom prst="line">
            <a:avLst/>
          </a:prstGeom>
          <a:noFill/>
          <a:ln w="28575">
            <a:solidFill>
              <a:schemeClr val="accent1"/>
            </a:solidFill>
            <a:prstDash val="solid"/>
            <a:tailEnd type="triangle"/>
          </a:ln>
        </p:spPr>
      </p:sp>
      <p:sp>
        <p:nvSpPr>
          <p:cNvPr id="9" name="Text 7"/>
          <p:cNvSpPr txBox="1"/>
          <p:nvPr/>
        </p:nvSpPr>
        <p:spPr>
          <a:xfrm>
            <a:off x="3429000" y="1737360"/>
            <a:ext cx="2377440" cy="1188720"/>
          </a:xfrm>
          <a:prstGeom prst="roundRect">
            <a:avLst>
              <a:gd name="adj" fmla="val 6154"/>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kind worker container</a:t>
            </a:r>
            <a:endParaRPr lang="en-US" sz="1400" dirty="0"/>
          </a:p>
          <a:p>
            <a:pPr algn="ctr" indent="0" marL="0">
              <a:buNone/>
            </a:pPr>
            <a:r>
              <a:rPr lang="en-US" sz="1300" dirty="0">
                <a:solidFill>
                  <a:schemeClr val="tx2"/>
                </a:solidFill>
              </a:rPr>
              <a:t>hostPort 30080 → nodePort</a:t>
            </a:r>
            <a:endParaRPr lang="en-US" sz="1400" dirty="0"/>
          </a:p>
        </p:txBody>
      </p:sp>
      <p:sp>
        <p:nvSpPr>
          <p:cNvPr id="10" name="arrow"/>
          <p:cNvSpPr/>
          <p:nvPr/>
        </p:nvSpPr>
        <p:spPr>
          <a:xfrm>
            <a:off x="5843016" y="2331720"/>
            <a:ext cx="429768" cy="0"/>
          </a:xfrm>
          <a:prstGeom prst="line">
            <a:avLst/>
          </a:prstGeom>
          <a:noFill/>
          <a:ln w="28575">
            <a:solidFill>
              <a:schemeClr val="accent1"/>
            </a:solidFill>
            <a:prstDash val="solid"/>
            <a:tailEnd type="triangle"/>
          </a:ln>
        </p:spPr>
      </p:sp>
      <p:sp>
        <p:nvSpPr>
          <p:cNvPr id="11" name="Text 9"/>
          <p:cNvSpPr txBox="1"/>
          <p:nvPr/>
        </p:nvSpPr>
        <p:spPr>
          <a:xfrm>
            <a:off x="6309360" y="1737360"/>
            <a:ext cx="2377440" cy="1188720"/>
          </a:xfrm>
          <a:prstGeom prst="roundRect">
            <a:avLst>
              <a:gd name="adj" fmla="val 6154"/>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500" b="1" dirty="0">
                <a:solidFill>
                  <a:schemeClr val="tx2"/>
                </a:solidFill>
              </a:rPr>
              <a:t>Service hello</a:t>
            </a:r>
            <a:endParaRPr lang="en-US" sz="1400" dirty="0"/>
          </a:p>
          <a:p>
            <a:pPr algn="ctr" indent="0" marL="0">
              <a:buNone/>
            </a:pPr>
            <a:r>
              <a:rPr lang="en-US" sz="1300" dirty="0">
                <a:solidFill>
                  <a:schemeClr val="tx2"/>
                </a:solidFill>
              </a:rPr>
              <a:t>selector: app=hello</a:t>
            </a:r>
            <a:endParaRPr lang="en-US" sz="1400" dirty="0"/>
          </a:p>
        </p:txBody>
      </p:sp>
      <p:sp>
        <p:nvSpPr>
          <p:cNvPr id="12" name="arrow"/>
          <p:cNvSpPr/>
          <p:nvPr/>
        </p:nvSpPr>
        <p:spPr>
          <a:xfrm>
            <a:off x="8723376" y="2331720"/>
            <a:ext cx="429768" cy="0"/>
          </a:xfrm>
          <a:prstGeom prst="line">
            <a:avLst/>
          </a:prstGeom>
          <a:noFill/>
          <a:ln w="28575">
            <a:solidFill>
              <a:schemeClr val="accent1"/>
            </a:solidFill>
            <a:prstDash val="solid"/>
            <a:tailEnd type="triangle"/>
          </a:ln>
        </p:spPr>
      </p:sp>
      <p:sp>
        <p:nvSpPr>
          <p:cNvPr id="13" name="Text 11"/>
          <p:cNvSpPr txBox="1"/>
          <p:nvPr/>
        </p:nvSpPr>
        <p:spPr>
          <a:xfrm>
            <a:off x="9189720" y="1737360"/>
            <a:ext cx="2377440" cy="1188720"/>
          </a:xfrm>
          <a:prstGeom prst="roundRect">
            <a:avLst>
              <a:gd name="adj" fmla="val 6154"/>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500" b="1" dirty="0">
                <a:solidFill>
                  <a:schemeClr val="tx2"/>
                </a:solidFill>
              </a:rPr>
              <a:t>3 Pods</a:t>
            </a:r>
            <a:endParaRPr lang="en-US" sz="1400" dirty="0"/>
          </a:p>
          <a:p>
            <a:pPr algn="ctr" indent="0" marL="0">
              <a:buNone/>
            </a:pPr>
            <a:r>
              <a:rPr lang="en-US" sz="1300" dirty="0">
                <a:solidFill>
                  <a:schemeClr val="tx2"/>
                </a:solidFill>
              </a:rPr>
              <a:t>app=hello · port 8080</a:t>
            </a:r>
            <a:endParaRPr lang="en-US" sz="1400" dirty="0"/>
          </a:p>
        </p:txBody>
      </p:sp>
      <p:sp>
        <p:nvSpPr>
          <p:cNvPr id="14" name="Text 12"/>
          <p:cNvSpPr txBox="1"/>
          <p:nvPr/>
        </p:nvSpPr>
        <p:spPr>
          <a:xfrm>
            <a:off x="548640" y="3383280"/>
            <a:ext cx="731520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FROM INSIDE THE CLUSTER  (ClusterIP + DNS)</a:t>
            </a:r>
            <a:endParaRPr lang="en-US" sz="1400" dirty="0"/>
          </a:p>
        </p:txBody>
      </p:sp>
      <p:sp>
        <p:nvSpPr>
          <p:cNvPr id="15" name="Text 13"/>
          <p:cNvSpPr txBox="1"/>
          <p:nvPr/>
        </p:nvSpPr>
        <p:spPr>
          <a:xfrm>
            <a:off x="548640" y="3749040"/>
            <a:ext cx="2377440" cy="1188720"/>
          </a:xfrm>
          <a:prstGeom prst="roundRect">
            <a:avLst>
              <a:gd name="adj" fmla="val 6154"/>
            </a:avLst>
          </a:prstGeom>
          <a:solidFill>
            <a:schemeClr val="tx2"/>
          </a:solidFill>
          <a:ln w="12700">
            <a:solidFill>
              <a:schemeClr val="tx2"/>
            </a:solidFill>
          </a:ln>
        </p:spPr>
        <p:txBody>
          <a:bodyPr wrap="square" lIns="50800" tIns="101600" rIns="101600" bIns="50800" rtlCol="0" anchor="ctr"/>
          <a:lstStyle/>
          <a:p>
            <a:pPr algn="ctr" indent="0" marL="0">
              <a:buNone/>
            </a:pPr>
            <a:r>
              <a:rPr lang="en-US" sz="1500" b="1" dirty="0">
                <a:solidFill>
                  <a:schemeClr val="bg1"/>
                </a:solidFill>
              </a:rPr>
              <a:t>tmp Pod (busybox)</a:t>
            </a:r>
            <a:endParaRPr lang="en-US" sz="1400" dirty="0"/>
          </a:p>
          <a:p>
            <a:pPr algn="ctr" indent="0" marL="0">
              <a:buNone/>
            </a:pPr>
            <a:r>
              <a:rPr lang="en-US" sz="1300" dirty="0">
                <a:solidFill>
                  <a:schemeClr val="bg1"/>
                </a:solidFill>
              </a:rPr>
              <a:t>wget http://hello</a:t>
            </a:r>
            <a:endParaRPr lang="en-US" sz="1400" dirty="0"/>
          </a:p>
        </p:txBody>
      </p:sp>
      <p:sp>
        <p:nvSpPr>
          <p:cNvPr id="16" name="arrow"/>
          <p:cNvSpPr/>
          <p:nvPr/>
        </p:nvSpPr>
        <p:spPr>
          <a:xfrm>
            <a:off x="2962656" y="4343400"/>
            <a:ext cx="429768" cy="0"/>
          </a:xfrm>
          <a:prstGeom prst="line">
            <a:avLst/>
          </a:prstGeom>
          <a:noFill/>
          <a:ln w="28575">
            <a:solidFill>
              <a:schemeClr val="accent1"/>
            </a:solidFill>
            <a:prstDash val="solid"/>
            <a:tailEnd type="triangle"/>
          </a:ln>
        </p:spPr>
      </p:sp>
      <p:sp>
        <p:nvSpPr>
          <p:cNvPr id="17" name="Text 15"/>
          <p:cNvSpPr txBox="1"/>
          <p:nvPr/>
        </p:nvSpPr>
        <p:spPr>
          <a:xfrm>
            <a:off x="3429000" y="3749040"/>
            <a:ext cx="2377440" cy="1188720"/>
          </a:xfrm>
          <a:prstGeom prst="roundRect">
            <a:avLst>
              <a:gd name="adj" fmla="val 6154"/>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CoreDNS</a:t>
            </a:r>
            <a:endParaRPr lang="en-US" sz="1400" dirty="0"/>
          </a:p>
          <a:p>
            <a:pPr algn="ctr" indent="0" marL="0">
              <a:buNone/>
            </a:pPr>
            <a:r>
              <a:rPr lang="en-US" sz="1300" dirty="0">
                <a:solidFill>
                  <a:schemeClr val="tx2"/>
                </a:solidFill>
              </a:rPr>
              <a:t>hello → 10.96.x.x</a:t>
            </a:r>
            <a:endParaRPr lang="en-US" sz="1400" dirty="0"/>
          </a:p>
        </p:txBody>
      </p:sp>
      <p:sp>
        <p:nvSpPr>
          <p:cNvPr id="18" name="arrow"/>
          <p:cNvSpPr/>
          <p:nvPr/>
        </p:nvSpPr>
        <p:spPr>
          <a:xfrm>
            <a:off x="5843016" y="4343400"/>
            <a:ext cx="429768" cy="0"/>
          </a:xfrm>
          <a:prstGeom prst="line">
            <a:avLst/>
          </a:prstGeom>
          <a:noFill/>
          <a:ln w="28575">
            <a:solidFill>
              <a:schemeClr val="accent1"/>
            </a:solidFill>
            <a:prstDash val="solid"/>
            <a:tailEnd type="triangle"/>
          </a:ln>
        </p:spPr>
      </p:sp>
      <p:sp>
        <p:nvSpPr>
          <p:cNvPr id="19" name="Text 17"/>
          <p:cNvSpPr txBox="1"/>
          <p:nvPr/>
        </p:nvSpPr>
        <p:spPr>
          <a:xfrm>
            <a:off x="6309360" y="3749040"/>
            <a:ext cx="2377440" cy="1188720"/>
          </a:xfrm>
          <a:prstGeom prst="roundRect">
            <a:avLst>
              <a:gd name="adj" fmla="val 6154"/>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500" b="1" dirty="0">
                <a:solidFill>
                  <a:schemeClr val="tx2"/>
                </a:solidFill>
              </a:rPr>
              <a:t>kube-proxy rules</a:t>
            </a:r>
            <a:endParaRPr lang="en-US" sz="1400" dirty="0"/>
          </a:p>
          <a:p>
            <a:pPr algn="ctr" indent="0" marL="0">
              <a:buNone/>
            </a:pPr>
            <a:r>
              <a:rPr lang="en-US" sz="1300" dirty="0">
                <a:solidFill>
                  <a:schemeClr val="tx2"/>
                </a:solidFill>
              </a:rPr>
              <a:t>on every node</a:t>
            </a:r>
            <a:endParaRPr lang="en-US" sz="1400" dirty="0"/>
          </a:p>
        </p:txBody>
      </p:sp>
      <p:sp>
        <p:nvSpPr>
          <p:cNvPr id="20" name="arrow"/>
          <p:cNvSpPr/>
          <p:nvPr/>
        </p:nvSpPr>
        <p:spPr>
          <a:xfrm>
            <a:off x="8723376" y="4343400"/>
            <a:ext cx="429768" cy="0"/>
          </a:xfrm>
          <a:prstGeom prst="line">
            <a:avLst/>
          </a:prstGeom>
          <a:noFill/>
          <a:ln w="28575">
            <a:solidFill>
              <a:schemeClr val="accent1"/>
            </a:solidFill>
            <a:prstDash val="solid"/>
            <a:tailEnd type="triangle"/>
          </a:ln>
        </p:spPr>
      </p:sp>
      <p:sp>
        <p:nvSpPr>
          <p:cNvPr id="21" name="Text 19"/>
          <p:cNvSpPr txBox="1"/>
          <p:nvPr/>
        </p:nvSpPr>
        <p:spPr>
          <a:xfrm>
            <a:off x="9189720" y="3749040"/>
            <a:ext cx="2377440" cy="1188720"/>
          </a:xfrm>
          <a:prstGeom prst="roundRect">
            <a:avLst>
              <a:gd name="adj" fmla="val 6154"/>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500" b="1" dirty="0">
                <a:solidFill>
                  <a:schemeClr val="tx2"/>
                </a:solidFill>
              </a:rPr>
              <a:t>One ready Pod</a:t>
            </a:r>
            <a:endParaRPr lang="en-US" sz="1400" dirty="0"/>
          </a:p>
          <a:p>
            <a:pPr algn="ctr" indent="0" marL="0">
              <a:buNone/>
            </a:pPr>
            <a:r>
              <a:rPr lang="en-US" sz="1300" dirty="0">
                <a:solidFill>
                  <a:schemeClr val="tx2"/>
                </a:solidFill>
              </a:rPr>
              <a:t>picked round-robin</a:t>
            </a:r>
            <a:endParaRPr lang="en-US" sz="1400" dirty="0"/>
          </a:p>
        </p:txBody>
      </p:sp>
      <p:sp>
        <p:nvSpPr>
          <p:cNvPr id="22" name="network note"/>
          <p:cNvSpPr/>
          <p:nvPr/>
        </p:nvSpPr>
        <p:spPr>
          <a:xfrm>
            <a:off x="548640" y="5349240"/>
            <a:ext cx="11094415" cy="822960"/>
          </a:xfrm>
          <a:prstGeom prst="roundRect">
            <a:avLst>
              <a:gd name="adj" fmla="val 8889"/>
            </a:avLst>
          </a:prstGeom>
          <a:solidFill>
            <a:schemeClr val="accent1">
              <a:alpha val="14000"/>
            </a:schemeClr>
          </a:solidFill>
          <a:ln w="9525">
            <a:solidFill>
              <a:schemeClr val="accent1"/>
            </a:solidFill>
            <a:prstDash val="solid"/>
          </a:ln>
        </p:spPr>
      </p:sp>
      <p:sp>
        <p:nvSpPr>
          <p:cNvPr id="23" name="Text 21"/>
          <p:cNvSpPr txBox="1"/>
          <p:nvPr/>
        </p:nvSpPr>
        <p:spPr>
          <a:xfrm>
            <a:off x="777240" y="5349240"/>
            <a:ext cx="10637215" cy="822960"/>
          </a:xfrm>
          <a:prstGeom prst="rect">
            <a:avLst/>
          </a:prstGeom>
          <a:noFill/>
          <a:ln/>
        </p:spPr>
        <p:txBody>
          <a:bodyPr wrap="square" lIns="0" tIns="0" rIns="0" bIns="0" rtlCol="0" anchor="ctr"/>
          <a:lstStyle/>
          <a:p>
            <a:pPr indent="0" marL="0">
              <a:buNone/>
            </a:pPr>
            <a:r>
              <a:rPr lang="en-US" sz="1400" b="1" dirty="0">
                <a:solidFill>
                  <a:schemeClr val="tx2"/>
                </a:solidFill>
              </a:rPr>
              <a:t>A Service picks Pods by label </a:t>
            </a:r>
            <a:pPr indent="0" marL="0">
              <a:buNone/>
            </a:pPr>
            <a:r>
              <a:rPr lang="en-US" sz="1400" dirty="0">
                <a:solidFill>
                  <a:schemeClr val="tx1"/>
                </a:solidFill>
              </a:rPr>
              <a:t>and only sends traffic to Ready Pods. Empty endpoints usually mean a selector, targetPort or readiness problem.</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expose deploy hello --port=80 --target-port=8080</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 ClusterIP Service for a Deployment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Give an app a stable name and IP</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svc -o wide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Services with type, IP and selector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See what is exposed, and how</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endpointslices -l kubernetes.io/service-name=hello</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the Pod IPs behind a Service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Debug “Service has no backends”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pods -o wide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Pods with IP and node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Match Pod IPs to endpoints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port-forward svc/hello 8080:80</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Tunnels a local port to the Service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Test an app without exposing it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run tmp --rm -it --image=busybox:1.36 --restart=Never -- sh</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Starts a throw-away Pod inside the cluster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Test DNS and Services from the inside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nslookup hello.default.svc.cluster.local</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Resolves the Service name (run inside tmp)</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Prove cluster DNS works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describe svc hello</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selector, ports, endpoints, events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selector and targetPort match</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Service manifests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6" name="terminal svc-clusterip.yaml"/>
          <p:cNvSpPr/>
          <p:nvPr/>
        </p:nvSpPr>
        <p:spPr>
          <a:xfrm>
            <a:off x="548640" y="1371600"/>
            <a:ext cx="5410048" cy="3246120"/>
          </a:xfrm>
          <a:prstGeom prst="roundRect">
            <a:avLst>
              <a:gd name="adj" fmla="val 1690"/>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svc-clusterip.yaml</a:t>
            </a:r>
            <a:endParaRPr lang="en-US" sz="1100" dirty="0"/>
          </a:p>
        </p:txBody>
      </p:sp>
      <p:sp>
        <p:nvSpPr>
          <p:cNvPr id="11" name="terminal text"/>
          <p:cNvSpPr txBox="1"/>
          <p:nvPr/>
        </p:nvSpPr>
        <p:spPr>
          <a:xfrm>
            <a:off x="749808" y="1828800"/>
            <a:ext cx="5007712" cy="269748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apiVersion:</a:t>
            </a:r>
            <a:pPr indent="0" marL="0">
              <a:buNone/>
            </a:pPr>
            <a:r>
              <a:rPr lang="en-US" sz="1400" dirty="0">
                <a:solidFill>
                  <a:schemeClr val="bg1"/>
                </a:solidFill>
                <a:latin typeface="Courier New" pitchFamily="34" charset="0"/>
                <a:ea typeface="Courier New" pitchFamily="34" charset="-122"/>
                <a:cs typeface="Courier New" pitchFamily="34" charset="-120"/>
              </a:rPr>
              <a:t> v1</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kind:</a:t>
            </a:r>
            <a:pPr indent="0" marL="0">
              <a:buNone/>
            </a:pPr>
            <a:r>
              <a:rPr lang="en-US" sz="1400" dirty="0">
                <a:solidFill>
                  <a:schemeClr val="bg1"/>
                </a:solidFill>
                <a:latin typeface="Courier New" pitchFamily="34" charset="0"/>
                <a:ea typeface="Courier New" pitchFamily="34" charset="-122"/>
                <a:cs typeface="Courier New" pitchFamily="34" charset="-120"/>
              </a:rPr>
              <a:t> Service</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metadata:</a:t>
            </a:r>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name: hello</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spec:</a:t>
            </a:r>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type: ClusterIP</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selector: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app: hello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ports: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a:t>
            </a:r>
            <a:pPr indent="0" marL="0">
              <a:buNone/>
            </a:pPr>
            <a:r>
              <a:rPr lang="en-US" sz="1400" dirty="0">
                <a:solidFill>
                  <a:schemeClr val="accent2"/>
                </a:solidFill>
                <a:latin typeface="Courier New" pitchFamily="34" charset="0"/>
                <a:ea typeface="Courier New" pitchFamily="34" charset="-122"/>
                <a:cs typeface="Courier New" pitchFamily="34" charset="-120"/>
              </a:rPr>
              <a:t>port:</a:t>
            </a:r>
            <a:pPr indent="0" marL="0">
              <a:buNone/>
            </a:pPr>
            <a:r>
              <a:rPr lang="en-US" sz="1400" dirty="0">
                <a:solidFill>
                  <a:schemeClr val="bg1"/>
                </a:solidFill>
                <a:latin typeface="Courier New" pitchFamily="34" charset="0"/>
                <a:ea typeface="Courier New" pitchFamily="34" charset="-122"/>
                <a:cs typeface="Courier New" pitchFamily="34" charset="-120"/>
              </a:rPr>
              <a:t> 80         </a:t>
            </a:r>
            <a:pPr indent="0" marL="0">
              <a:buNone/>
            </a:pPr>
            <a:r>
              <a:rPr lang="en-US" sz="1400" dirty="0">
                <a:solidFill>
                  <a:schemeClr val="accent6"/>
                </a:solidFill>
                <a:latin typeface="Courier New" pitchFamily="34" charset="0"/>
                <a:ea typeface="Courier New" pitchFamily="34" charset="-122"/>
                <a:cs typeface="Courier New" pitchFamily="34" charset="-120"/>
              </a:rPr>
              <a:t> # Service port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targetPort: 8080  # container port</a:t>
            </a:r>
            <a:endParaRPr lang="en-US" sz="1400" dirty="0"/>
          </a:p>
        </p:txBody>
      </p:sp>
      <p:sp>
        <p:nvSpPr>
          <p:cNvPr id="12" name="Text 10"/>
          <p:cNvSpPr txBox="1"/>
          <p:nvPr/>
        </p:nvSpPr>
        <p:spPr>
          <a:xfrm>
            <a:off x="548640" y="4754880"/>
            <a:ext cx="5410048" cy="548640"/>
          </a:xfrm>
          <a:prstGeom prst="rect">
            <a:avLst/>
          </a:prstGeom>
          <a:noFill/>
          <a:ln/>
        </p:spPr>
        <p:txBody>
          <a:bodyPr wrap="square" lIns="0" tIns="0" rIns="0" bIns="0" rtlCol="0" anchor="t"/>
          <a:lstStyle/>
          <a:p>
            <a:pPr indent="0" marL="0">
              <a:buNone/>
            </a:pPr>
            <a:r>
              <a:rPr lang="en-US" sz="1400" dirty="0">
                <a:solidFill>
                  <a:schemeClr val="tx1"/>
                </a:solidFill>
              </a:rPr>
              <a:t>Internal only. Reach it as http://hello from any Pod in the namespace.</a:t>
            </a:r>
            <a:endParaRPr lang="en-US" sz="1400" dirty="0"/>
          </a:p>
        </p:txBody>
      </p:sp>
      <p:sp>
        <p:nvSpPr>
          <p:cNvPr id="13" name="terminal svc-nodeport.yaml"/>
          <p:cNvSpPr/>
          <p:nvPr/>
        </p:nvSpPr>
        <p:spPr>
          <a:xfrm>
            <a:off x="6233008" y="1371600"/>
            <a:ext cx="5410048" cy="3246120"/>
          </a:xfrm>
          <a:prstGeom prst="roundRect">
            <a:avLst>
              <a:gd name="adj" fmla="val 1690"/>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svc-nodeport.yaml</a:t>
            </a:r>
            <a:endParaRPr lang="en-US" sz="1100" dirty="0"/>
          </a:p>
        </p:txBody>
      </p:sp>
      <p:sp>
        <p:nvSpPr>
          <p:cNvPr id="18" name="terminal text"/>
          <p:cNvSpPr txBox="1"/>
          <p:nvPr/>
        </p:nvSpPr>
        <p:spPr>
          <a:xfrm>
            <a:off x="6434176" y="1828800"/>
            <a:ext cx="5007712" cy="269748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apiVersion:</a:t>
            </a:r>
            <a:pPr indent="0" marL="0">
              <a:buNone/>
            </a:pPr>
            <a:r>
              <a:rPr lang="en-US" sz="1400" dirty="0">
                <a:solidFill>
                  <a:schemeClr val="bg1"/>
                </a:solidFill>
                <a:latin typeface="Courier New" pitchFamily="34" charset="0"/>
                <a:ea typeface="Courier New" pitchFamily="34" charset="-122"/>
                <a:cs typeface="Courier New" pitchFamily="34" charset="-120"/>
              </a:rPr>
              <a:t> v1</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kind:</a:t>
            </a:r>
            <a:pPr indent="0" marL="0">
              <a:buNone/>
            </a:pPr>
            <a:r>
              <a:rPr lang="en-US" sz="1400" dirty="0">
                <a:solidFill>
                  <a:schemeClr val="bg1"/>
                </a:solidFill>
                <a:latin typeface="Courier New" pitchFamily="34" charset="0"/>
                <a:ea typeface="Courier New" pitchFamily="34" charset="-122"/>
                <a:cs typeface="Courier New" pitchFamily="34" charset="-120"/>
              </a:rPr>
              <a:t> Service</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metadata:</a:t>
            </a:r>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name: hello-nodeport</a:t>
            </a:r>
            <a:endParaRPr lang="en-US" sz="1400" dirty="0"/>
          </a:p>
          <a:p>
            <a:pPr indent="0" marL="0">
              <a:buNone/>
            </a:pPr>
            <a:r>
              <a:rPr lang="en-US" sz="1400" dirty="0">
                <a:solidFill>
                  <a:schemeClr val="accent2"/>
                </a:solidFill>
                <a:latin typeface="Courier New" pitchFamily="34" charset="0"/>
                <a:ea typeface="Courier New" pitchFamily="34" charset="-122"/>
                <a:cs typeface="Courier New" pitchFamily="34" charset="-120"/>
              </a:rPr>
              <a:t>spec:</a:t>
            </a:r>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type: NodePort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selector:</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app: hello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ports: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a:t>
            </a:r>
            <a:pPr indent="0" marL="0">
              <a:buNone/>
            </a:pPr>
            <a:r>
              <a:rPr lang="en-US" sz="1400" dirty="0">
                <a:solidFill>
                  <a:schemeClr val="accent2"/>
                </a:solidFill>
                <a:latin typeface="Courier New" pitchFamily="34" charset="0"/>
                <a:ea typeface="Courier New" pitchFamily="34" charset="-122"/>
                <a:cs typeface="Courier New" pitchFamily="34" charset="-120"/>
              </a:rPr>
              <a:t>port:</a:t>
            </a:r>
            <a:pPr indent="0" marL="0">
              <a:buNone/>
            </a:pPr>
            <a:r>
              <a:rPr lang="en-US" sz="1400" dirty="0">
                <a:solidFill>
                  <a:schemeClr val="bg1"/>
                </a:solidFill>
                <a:latin typeface="Courier New" pitchFamily="34" charset="0"/>
                <a:ea typeface="Courier New" pitchFamily="34" charset="-122"/>
                <a:cs typeface="Courier New" pitchFamily="34" charset="-120"/>
              </a:rPr>
              <a:t> 80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targetPort: 8080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nodePort: 30080   # matches kind-config</a:t>
            </a:r>
            <a:endParaRPr lang="en-US" sz="1400" dirty="0"/>
          </a:p>
        </p:txBody>
      </p:sp>
      <p:sp>
        <p:nvSpPr>
          <p:cNvPr id="19" name="Text 17"/>
          <p:cNvSpPr txBox="1"/>
          <p:nvPr/>
        </p:nvSpPr>
        <p:spPr>
          <a:xfrm>
            <a:off x="6233008" y="4754880"/>
            <a:ext cx="5410048" cy="548640"/>
          </a:xfrm>
          <a:prstGeom prst="rect">
            <a:avLst/>
          </a:prstGeom>
          <a:noFill/>
          <a:ln/>
        </p:spPr>
        <p:txBody>
          <a:bodyPr wrap="square" lIns="0" tIns="0" rIns="0" bIns="0" rtlCol="0" anchor="t"/>
          <a:lstStyle/>
          <a:p>
            <a:pPr indent="0" marL="0">
              <a:buNone/>
            </a:pPr>
            <a:r>
              <a:rPr lang="en-US" sz="1400" dirty="0">
                <a:solidFill>
                  <a:schemeClr val="tx1"/>
                </a:solidFill>
              </a:rPr>
              <a:t>kind maps host port 30080 to the worker, so localhost:30080 reaches the Service.</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Call a backend by name, then open it from your laptop</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A frontend team must call the hello service by name, and you want to test it from your laptop without port-forward.</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Deploy. </a:t>
            </a:r>
            <a:pPr indent="0" marL="0">
              <a:buNone/>
            </a:pPr>
            <a:r>
              <a:rPr lang="en-US" sz="1400" dirty="0">
                <a:solidFill>
                  <a:schemeClr val="tx1"/>
                </a:solidFill>
              </a:rPr>
              <a:t>Create the hello Deployment: 3 replicas of the agnhost test image on port 8080.</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Expose inside. </a:t>
            </a:r>
            <a:pPr indent="0" marL="0">
              <a:buNone/>
            </a:pPr>
            <a:r>
              <a:rPr lang="en-US" sz="1400" dirty="0">
                <a:solidFill>
                  <a:schemeClr val="tx1"/>
                </a:solidFill>
              </a:rPr>
              <a:t>Create the ClusterIP Service and check its endpoints match the 3 Pod IPs.</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Call by name. </a:t>
            </a:r>
            <a:pPr indent="0" marL="0">
              <a:buNone/>
            </a:pPr>
            <a:r>
              <a:rPr lang="en-US" sz="1400" dirty="0">
                <a:solidFill>
                  <a:schemeClr val="tx1"/>
                </a:solidFill>
              </a:rPr>
              <a:t>Start a busybox Pod and wget http://hello/hostname six times. Different Pod names appear.</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Watch it heal. </a:t>
            </a:r>
            <a:pPr indent="0" marL="0">
              <a:buNone/>
            </a:pPr>
            <a:r>
              <a:rPr lang="en-US" sz="1400" dirty="0">
                <a:solidFill>
                  <a:schemeClr val="tx1"/>
                </a:solidFill>
              </a:rPr>
              <a:t>Delete a Pod and watch the endpoint list change.</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Open it. </a:t>
            </a:r>
            <a:pPr indent="0" marL="0">
              <a:buNone/>
            </a:pPr>
            <a:r>
              <a:rPr lang="en-US" sz="1400" dirty="0">
                <a:solidFill>
                  <a:schemeClr val="tx1"/>
                </a:solidFill>
              </a:rPr>
              <a:t>Apply the NodePort Service and curl localhost:30080/hostname from your machine.</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Break it. </a:t>
            </a:r>
            <a:pPr indent="0" marL="0">
              <a:buNone/>
            </a:pPr>
            <a:r>
              <a:rPr lang="en-US" sz="1400" dirty="0">
                <a:solidFill>
                  <a:schemeClr val="tx1"/>
                </a:solidFill>
              </a:rPr>
              <a:t>Change the selector to app: hellow. Endpoints go empty. Fix it.</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deployment hello --replicas=3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--image=registry.k8s.io/e2e-test-images/agnhost:2.39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/agnhost netexec --http-port=8080</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expose deploy hello --port=80 --target-port=8080</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endpointslices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 kubernetes.io/service-name=hello</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run tmp --rm -it --image=busybox:1.36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--restart=Never -- sh</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 </a:t>
            </a:r>
            <a:pPr indent="0" marL="0">
              <a:buNone/>
            </a:pPr>
            <a:r>
              <a:rPr lang="en-US" sz="1100" dirty="0">
                <a:solidFill>
                  <a:schemeClr val="bg1"/>
                </a:solidFill>
                <a:latin typeface="Courier New" pitchFamily="34" charset="0"/>
                <a:ea typeface="Courier New" pitchFamily="34" charset="-122"/>
                <a:cs typeface="Courier New" pitchFamily="34" charset="-120"/>
              </a:rPr>
              <a:t>for i in 1 2 3 4 5 6; do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wget -qO- hello/hostname; echo; done</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 </a:t>
            </a:r>
            <a:pPr indent="0" marL="0">
              <a:buNone/>
            </a:pPr>
            <a:r>
              <a:rPr lang="en-US" sz="1100" dirty="0">
                <a:solidFill>
                  <a:schemeClr val="bg1"/>
                </a:solidFill>
                <a:latin typeface="Courier New" pitchFamily="34" charset="0"/>
                <a:ea typeface="Courier New" pitchFamily="34" charset="-122"/>
                <a:cs typeface="Courier New" pitchFamily="34" charset="-120"/>
              </a:rPr>
              <a:t>exit</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apply -f svc-nodeport.yaml</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curl http://localhost:30080/hostname</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patch svc hello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 '{"spec":{"selector":{"app":"hellow"}}}'</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Service hello lists 3 endpoints</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wget by name returns different Pod names (load balancing)</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curl localhost:30080/hostname works from your laptop</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A wrong selector gave empty endpoints, and you fixed it</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can explain port vs targetPort vs nodePort</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Connection refused?</a:t>
            </a:r>
            <a:pPr indent="0" marL="0">
              <a:spcAft>
                <a:spcPts val="700"/>
              </a:spcAft>
              <a:buNone/>
            </a:pPr>
            <a:r>
              <a:rPr lang="en-US" sz="1400" dirty="0">
                <a:solidFill>
                  <a:schemeClr val="tx1"/>
                </a:solidFill>
              </a:rPr>
              <a:t> targetPort must be the port the container really listens on (8080 here).</a:t>
            </a:r>
            <a:endParaRPr lang="en-US" sz="1400" dirty="0"/>
          </a:p>
          <a:p>
            <a:pPr indent="0" marL="0">
              <a:spcAft>
                <a:spcPts val="700"/>
              </a:spcAft>
              <a:buNone/>
            </a:pPr>
            <a:r>
              <a:rPr lang="en-US" sz="1400" b="1" dirty="0">
                <a:solidFill>
                  <a:schemeClr val="tx1"/>
                </a:solidFill>
              </a:rPr>
              <a:t>NodePort not opening?</a:t>
            </a:r>
            <a:pPr indent="0" marL="0">
              <a:spcAft>
                <a:spcPts val="700"/>
              </a:spcAft>
              <a:buNone/>
            </a:pPr>
            <a:r>
              <a:rPr lang="en-US" sz="1400" dirty="0">
                <a:solidFill>
                  <a:schemeClr val="tx1"/>
                </a:solidFill>
              </a:rPr>
              <a:t> Check kind-config has extraPortMappings for 30080 and you created the cluster with it.</a:t>
            </a:r>
            <a:endParaRPr lang="en-US" sz="1400" dirty="0"/>
          </a:p>
          <a:p>
            <a:pPr indent="0" marL="0">
              <a:spcAft>
                <a:spcPts val="700"/>
              </a:spcAft>
              <a:buNone/>
            </a:pPr>
            <a:r>
              <a:rPr lang="en-US" sz="1400" b="1" dirty="0">
                <a:solidFill>
                  <a:schemeClr val="tx1"/>
                </a:solidFill>
              </a:rPr>
              <a:t>No endpoints?</a:t>
            </a:r>
            <a:pPr indent="0" marL="0">
              <a:spcAft>
                <a:spcPts val="700"/>
              </a:spcAft>
              <a:buNone/>
            </a:pPr>
            <a:r>
              <a:rPr lang="en-US" sz="1400" dirty="0">
                <a:solidFill>
                  <a:schemeClr val="tx1"/>
                </a:solidFill>
              </a:rPr>
              <a:t> Compare the selector in kubectl get svc -o wide with kubectl get pods --show-labels.</a:t>
            </a:r>
            <a:endParaRPr lang="en-US" sz="1400" dirty="0"/>
          </a:p>
          <a:p>
            <a:pPr indent="0" marL="0">
              <a:spcAft>
                <a:spcPts val="700"/>
              </a:spcAft>
              <a:buNone/>
            </a:pPr>
            <a:r>
              <a:rPr lang="en-US" sz="1400" b="1" dirty="0">
                <a:solidFill>
                  <a:schemeClr val="tx1"/>
                </a:solidFill>
              </a:rPr>
              <a:t>EXTERNAL-IP &lt;pending&gt;?</a:t>
            </a:r>
            <a:pPr indent="0" marL="0">
              <a:spcAft>
                <a:spcPts val="700"/>
              </a:spcAft>
              <a:buNone/>
            </a:pPr>
            <a:r>
              <a:rPr lang="en-US" sz="1400" dirty="0">
                <a:solidFill>
                  <a:schemeClr val="tx1"/>
                </a:solidFill>
              </a:rPr>
              <a:t> Normal for LoadBalancer on kind: there is no cloud to hand out IPs.</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day3-services/ with both Service YAMLs, terminal output showing different Pod names, and a README explaining port, targetPort and nodePort.</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3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3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ClusterIP vs NodePort vs LoadBalancer?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ClusterIP: internal only. NodePort: opens a port on every node. LoadBalancer: asks the cloud for an external IP, built on NodePort.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port vs targetPort vs nodePort?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port: the Service’s own port. targetPort: the container port it forwards to. nodePort: the port opened on every node (30000–32767).</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How does a Pod find a Service by name?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CoreDNS resolves &lt;svc&gt;.&lt;ns&gt;.svc.cluster.local to the ClusterIP. Every Pod’s /etc/resolv.conf points at CoreDNS.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A Service returns nothing. What do you check?</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EndpointSlices first. Empty means the selector matches no ready Pod, or targetPort is wrong. Then check readiness.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Why is a LoadBalancer Service Pending on kind?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cloud controller exists to create a load balancer. Use NodePort, or add MetalLB or cloud-provider-kind.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FaSlidersH" descr="FaSlidersH">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4</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Config, Secrets &amp; Namespaces</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Core skills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ConfigMaps · Secrets · Env vars · Volume mounts · Namespaces</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keep configuration out of your image, inject it as env vars and files, handle Secrets with care, and separate environments with namespaces.</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Create dev and prod namespaces</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Mount a ConfigMap as a web page</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Inject a Secret as an env var</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Change config and see what reloads</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The same image serving different config in dev and prod</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Config, Secrets &amp; Namespaces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6" name="card ConfigMap"/>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FileCode" descr="FaFileCode">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ConfigMap</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Non-secret settings stored as key/value pairs or whole files.</a:t>
            </a:r>
            <a:endParaRPr lang="en-US" sz="1500" dirty="0"/>
          </a:p>
          <a:p>
            <a:pPr indent="0" marL="0">
              <a:spcAft>
                <a:spcPts val="600"/>
              </a:spcAft>
              <a:buNone/>
            </a:pPr>
            <a:r>
              <a:rPr lang="en-US" sz="1500" dirty="0">
                <a:solidFill>
                  <a:schemeClr val="tx1"/>
                </a:solidFill>
              </a:rPr>
              <a:t>One image + different ConfigMaps = </a:t>
            </a:r>
            <a:pPr indent="0" marL="0">
              <a:spcAft>
                <a:spcPts val="600"/>
              </a:spcAft>
              <a:buNone/>
            </a:pPr>
            <a:r>
              <a:rPr lang="en-US" sz="1500" b="1" dirty="0">
                <a:solidFill>
                  <a:schemeClr val="tx1"/>
                </a:solidFill>
              </a:rPr>
              <a:t>one build for every environment</a:t>
            </a:r>
            <a:pPr indent="0" marL="0">
              <a:spcAft>
                <a:spcPts val="600"/>
              </a:spcAft>
              <a:buNone/>
            </a:pPr>
            <a:r>
              <a:rPr lang="en-US" sz="1500" dirty="0">
                <a:solidFill>
                  <a:schemeClr val="tx1"/>
                </a:solidFill>
              </a:rPr>
              <a:t>.</a:t>
            </a:r>
            <a:endParaRPr lang="en-US" sz="1500" dirty="0"/>
          </a:p>
        </p:txBody>
      </p:sp>
      <p:sp>
        <p:nvSpPr>
          <p:cNvPr id="11" name="card Secret"/>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Key" descr="FaKey">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Secret</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Same shape as a ConfigMap, meant for sensitive values. Secrets are only </a:t>
            </a:r>
            <a:pPr indent="0" marL="0">
              <a:spcAft>
                <a:spcPts val="600"/>
              </a:spcAft>
              <a:buNone/>
            </a:pPr>
            <a:r>
              <a:rPr lang="en-US" sz="1500" b="1" dirty="0">
                <a:solidFill>
                  <a:schemeClr val="tx1"/>
                </a:solidFill>
              </a:rPr>
              <a:t>base64-encoded, not encrypted</a:t>
            </a:r>
            <a:pPr indent="0" marL="0">
              <a:spcAft>
                <a:spcPts val="600"/>
              </a:spcAft>
              <a:buNone/>
            </a:pPr>
            <a:r>
              <a:rPr lang="en-US" sz="1500" dirty="0">
                <a:solidFill>
                  <a:schemeClr val="tx1"/>
                </a:solidFill>
              </a:rPr>
              <a:t>.</a:t>
            </a:r>
            <a:endParaRPr lang="en-US" sz="1500" dirty="0"/>
          </a:p>
          <a:p>
            <a:pPr indent="0" marL="0">
              <a:spcAft>
                <a:spcPts val="600"/>
              </a:spcAft>
              <a:buNone/>
            </a:pPr>
            <a:r>
              <a:rPr lang="en-US" sz="1500" dirty="0">
                <a:solidFill>
                  <a:schemeClr val="tx1"/>
                </a:solidFill>
              </a:rPr>
              <a:t>Restrict access with RBAC; in production add encryption at rest or an external secret manager.</a:t>
            </a:r>
            <a:endParaRPr lang="en-US" sz="1500" dirty="0"/>
          </a:p>
        </p:txBody>
      </p:sp>
      <p:sp>
        <p:nvSpPr>
          <p:cNvPr id="16" name="card Env var or mounted file?"/>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SyncAlt" descr="FaSyncAlt">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Env var or mounted file?</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As env vars, values are read </a:t>
            </a:r>
            <a:pPr indent="0" marL="0">
              <a:spcAft>
                <a:spcPts val="600"/>
              </a:spcAft>
              <a:buNone/>
            </a:pPr>
            <a:r>
              <a:rPr lang="en-US" sz="1500" b="1" dirty="0">
                <a:solidFill>
                  <a:schemeClr val="tx1"/>
                </a:solidFill>
              </a:rPr>
              <a:t>once at Pod start</a:t>
            </a:r>
            <a:pPr indent="0" marL="0">
              <a:spcAft>
                <a:spcPts val="600"/>
              </a:spcAft>
              <a:buNone/>
            </a:pPr>
            <a:r>
              <a:rPr lang="en-US" sz="1500" dirty="0">
                <a:solidFill>
                  <a:schemeClr val="tx1"/>
                </a:solidFill>
              </a:rPr>
              <a:t>: change them, then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rollout restart</a:t>
            </a:r>
            <a:pPr indent="0" marL="0">
              <a:spcAft>
                <a:spcPts val="600"/>
              </a:spcAft>
              <a:buNone/>
            </a:pPr>
            <a:r>
              <a:rPr lang="en-US" sz="1500" dirty="0">
                <a:solidFill>
                  <a:schemeClr val="tx1"/>
                </a:solidFill>
              </a:rPr>
              <a:t>.</a:t>
            </a:r>
            <a:endParaRPr lang="en-US" sz="1500" dirty="0"/>
          </a:p>
          <a:p>
            <a:pPr indent="0" marL="0">
              <a:spcAft>
                <a:spcPts val="600"/>
              </a:spcAft>
              <a:buNone/>
            </a:pPr>
            <a:r>
              <a:rPr lang="en-US" sz="1500" dirty="0">
                <a:solidFill>
                  <a:schemeClr val="tx1"/>
                </a:solidFill>
              </a:rPr>
              <a:t>As mounted files they refresh in about a minute, unless you use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subPath</a:t>
            </a:r>
            <a:pPr indent="0" marL="0">
              <a:spcAft>
                <a:spcPts val="600"/>
              </a:spcAft>
              <a:buNone/>
            </a:pPr>
            <a:r>
              <a:rPr lang="en-US" sz="1500" dirty="0">
                <a:solidFill>
                  <a:schemeClr val="tx1"/>
                </a:solidFill>
              </a:rPr>
              <a:t>.</a:t>
            </a:r>
            <a:endParaRPr lang="en-US" sz="1500" dirty="0"/>
          </a:p>
        </p:txBody>
      </p:sp>
      <p:sp>
        <p:nvSpPr>
          <p:cNvPr id="21" name="card Namespaces"/>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FolderOpen" descr="FaFolderOpen">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Namespaces</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Virtual clusters inside one cluster: separate names, quotas and RBAC. They do </a:t>
            </a:r>
            <a:pPr indent="0" marL="0">
              <a:spcAft>
                <a:spcPts val="600"/>
              </a:spcAft>
              <a:buNone/>
            </a:pPr>
            <a:r>
              <a:rPr lang="en-US" sz="1500" b="1" dirty="0">
                <a:solidFill>
                  <a:schemeClr val="tx1"/>
                </a:solidFill>
              </a:rPr>
              <a:t>not</a:t>
            </a:r>
            <a:pPr indent="0" marL="0">
              <a:spcAft>
                <a:spcPts val="600"/>
              </a:spcAft>
              <a:buNone/>
            </a:pPr>
            <a:r>
              <a:rPr lang="en-US" sz="1500" dirty="0">
                <a:solidFill>
                  <a:schemeClr val="tx1"/>
                </a:solidFill>
              </a:rPr>
              <a:t> isolate network traffic by themselves.</a:t>
            </a:r>
            <a:endParaRPr lang="en-US" sz="1500" dirty="0"/>
          </a:p>
          <a:p>
            <a:pPr indent="0" marL="0">
              <a:spcAft>
                <a:spcPts val="600"/>
              </a:spcAft>
              <a:buNone/>
            </a:pPr>
            <a:r>
              <a:rPr lang="en-US" sz="1500" dirty="0">
                <a:solidFill>
                  <a:schemeClr val="tx1"/>
                </a:solidFill>
              </a:rPr>
              <a:t>Deleting a namespace deletes everything in it.</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One image, two environments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6" name="namespace dev"/>
          <p:cNvSpPr/>
          <p:nvPr/>
        </p:nvSpPr>
        <p:spPr>
          <a:xfrm>
            <a:off x="548640" y="1371600"/>
            <a:ext cx="5394960" cy="3977640"/>
          </a:xfrm>
          <a:prstGeom prst="roundRect">
            <a:avLst>
              <a:gd name="adj" fmla="val 1379"/>
            </a:avLst>
          </a:prstGeom>
          <a:solidFill>
            <a:schemeClr val="accent1">
              <a:alpha val="7000"/>
            </a:schemeClr>
          </a:solidFill>
          <a:ln w="15875">
            <a:solidFill>
              <a:schemeClr val="accent1"/>
            </a:solidFill>
            <a:prstDash val="dash"/>
          </a:ln>
        </p:spPr>
      </p:sp>
      <p:sp>
        <p:nvSpPr>
          <p:cNvPr id="7" name="Text 5"/>
          <p:cNvSpPr txBox="1"/>
          <p:nvPr/>
        </p:nvSpPr>
        <p:spPr>
          <a:xfrm>
            <a:off x="822960" y="1481328"/>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namespace: dev</a:t>
            </a:r>
            <a:endParaRPr lang="en-US" sz="1600" dirty="0"/>
          </a:p>
        </p:txBody>
      </p:sp>
      <p:sp>
        <p:nvSpPr>
          <p:cNvPr id="8" name="Text 6"/>
          <p:cNvSpPr txBox="1"/>
          <p:nvPr/>
        </p:nvSpPr>
        <p:spPr>
          <a:xfrm>
            <a:off x="822960" y="2103120"/>
            <a:ext cx="2286000" cy="1234440"/>
          </a:xfrm>
          <a:prstGeom prst="roundRect">
            <a:avLst>
              <a:gd name="adj" fmla="val 5926"/>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500" b="1" dirty="0">
                <a:solidFill>
                  <a:schemeClr val="tx2"/>
                </a:solidFill>
              </a:rPr>
              <a:t>ConfigMap site</a:t>
            </a:r>
            <a:endParaRPr lang="en-US" sz="1400" dirty="0"/>
          </a:p>
          <a:p>
            <a:pPr algn="ctr" indent="0" marL="0">
              <a:buNone/>
            </a:pPr>
            <a:r>
              <a:rPr lang="en-US" sz="1300" dirty="0">
                <a:solidFill>
                  <a:schemeClr val="tx2"/>
                </a:solidFill>
              </a:rPr>
              <a:t>APP_ENV=dev</a:t>
            </a:r>
            <a:endParaRPr lang="en-US" sz="1400" dirty="0"/>
          </a:p>
          <a:p>
            <a:pPr algn="ctr" indent="0" marL="0">
              <a:buNone/>
            </a:pPr>
            <a:r>
              <a:rPr lang="en-US" sz="1300" dirty="0">
                <a:solidFill>
                  <a:schemeClr val="tx2"/>
                </a:solidFill>
              </a:rPr>
              <a:t>index.html = DEV page</a:t>
            </a:r>
            <a:endParaRPr lang="en-US" sz="1400" dirty="0"/>
          </a:p>
        </p:txBody>
      </p:sp>
      <p:sp>
        <p:nvSpPr>
          <p:cNvPr id="9" name="Text 7"/>
          <p:cNvSpPr txBox="1"/>
          <p:nvPr/>
        </p:nvSpPr>
        <p:spPr>
          <a:xfrm>
            <a:off x="822960" y="3703320"/>
            <a:ext cx="2286000" cy="1234440"/>
          </a:xfrm>
          <a:prstGeom prst="roundRect">
            <a:avLst>
              <a:gd name="adj" fmla="val 5926"/>
            </a:avLst>
          </a:prstGeom>
          <a:solidFill>
            <a:schemeClr val="accent5">
              <a:alpha val="18000"/>
            </a:schemeClr>
          </a:solidFill>
          <a:ln w="12700">
            <a:solidFill>
              <a:schemeClr val="accent5"/>
            </a:solidFill>
          </a:ln>
        </p:spPr>
        <p:txBody>
          <a:bodyPr wrap="square" lIns="50800" tIns="101600" rIns="101600" bIns="50800" rtlCol="0" anchor="ctr"/>
          <a:lstStyle/>
          <a:p>
            <a:pPr algn="ctr" indent="0" marL="0">
              <a:buNone/>
            </a:pPr>
            <a:r>
              <a:rPr lang="en-US" sz="1500" b="1" dirty="0">
                <a:solidFill>
                  <a:schemeClr val="tx2"/>
                </a:solidFill>
              </a:rPr>
              <a:t>Secret db-secret</a:t>
            </a:r>
            <a:endParaRPr lang="en-US" sz="1400" dirty="0"/>
          </a:p>
          <a:p>
            <a:pPr algn="ctr" indent="0" marL="0">
              <a:buNone/>
            </a:pPr>
            <a:r>
              <a:rPr lang="en-US" sz="1300" dirty="0">
                <a:solidFill>
                  <a:schemeClr val="tx2"/>
                </a:solidFill>
              </a:rPr>
              <a:t>password=dev-pass</a:t>
            </a:r>
            <a:endParaRPr lang="en-US" sz="1400" dirty="0"/>
          </a:p>
        </p:txBody>
      </p:sp>
      <p:sp>
        <p:nvSpPr>
          <p:cNvPr id="10" name="Text 8"/>
          <p:cNvSpPr txBox="1"/>
          <p:nvPr/>
        </p:nvSpPr>
        <p:spPr>
          <a:xfrm>
            <a:off x="3611880" y="2103120"/>
            <a:ext cx="2057400" cy="2834640"/>
          </a:xfrm>
          <a:prstGeom prst="roundRect">
            <a:avLst>
              <a:gd name="adj" fmla="val 3556"/>
            </a:avLst>
          </a:prstGeom>
          <a:solidFill>
            <a:schemeClr val="tx2"/>
          </a:solidFill>
          <a:ln w="12700">
            <a:solidFill>
              <a:schemeClr val="tx2"/>
            </a:solidFill>
          </a:ln>
        </p:spPr>
        <p:txBody>
          <a:bodyPr wrap="square" lIns="50800" tIns="76200" rIns="76200" bIns="50800" rtlCol="0" anchor="ctr"/>
          <a:lstStyle/>
          <a:p>
            <a:pPr algn="ctr" indent="0" marL="0">
              <a:buNone/>
            </a:pPr>
            <a:r>
              <a:rPr lang="en-US" sz="1600" b="1" dirty="0">
                <a:solidFill>
                  <a:schemeClr val="bg1"/>
                </a:solidFill>
              </a:rPr>
              <a:t>Pod web</a:t>
            </a:r>
            <a:endParaRPr lang="en-US" sz="1600" dirty="0"/>
          </a:p>
          <a:p>
            <a:pPr algn="ctr" indent="0" marL="0">
              <a:buNone/>
            </a:pPr>
            <a:r>
              <a:rPr lang="en-US" sz="1400" dirty="0">
                <a:solidFill>
                  <a:schemeClr val="bg1"/>
                </a:solidFill>
              </a:rPr>
              <a:t>nginx:1.27</a:t>
            </a:r>
            <a:endParaRPr lang="en-US" sz="1600" dirty="0"/>
          </a:p>
          <a:p>
            <a:pPr algn="ctr" indent="0" marL="0">
              <a:buNone/>
            </a:pPr>
            <a:r>
              <a:rPr lang="en-US" sz="800" dirty="0">
                <a:solidFill>
                  <a:schemeClr val="bg1"/>
                </a:solidFill>
              </a:rPr>
              <a:t> </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env APP_ENV</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env DB_PASSWORD</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/usr/share/nginx/</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html/index.html</a:t>
            </a:r>
            <a:endParaRPr lang="en-US" sz="1600" dirty="0"/>
          </a:p>
        </p:txBody>
      </p:sp>
      <p:sp>
        <p:nvSpPr>
          <p:cNvPr id="11" name="arrow"/>
          <p:cNvSpPr/>
          <p:nvPr/>
        </p:nvSpPr>
        <p:spPr>
          <a:xfrm>
            <a:off x="3108960" y="2724912"/>
            <a:ext cx="502920" cy="0"/>
          </a:xfrm>
          <a:prstGeom prst="line">
            <a:avLst/>
          </a:prstGeom>
          <a:noFill/>
          <a:ln w="28575">
            <a:solidFill>
              <a:schemeClr val="accent4"/>
            </a:solidFill>
            <a:prstDash val="solid"/>
            <a:tailEnd type="triangle"/>
          </a:ln>
        </p:spPr>
      </p:sp>
      <p:sp>
        <p:nvSpPr>
          <p:cNvPr id="12" name="arrow"/>
          <p:cNvSpPr/>
          <p:nvPr/>
        </p:nvSpPr>
        <p:spPr>
          <a:xfrm>
            <a:off x="3108960" y="4315968"/>
            <a:ext cx="502920" cy="0"/>
          </a:xfrm>
          <a:prstGeom prst="line">
            <a:avLst/>
          </a:prstGeom>
          <a:noFill/>
          <a:ln w="28575">
            <a:solidFill>
              <a:schemeClr val="accent5"/>
            </a:solidFill>
            <a:prstDash val="solid"/>
            <a:tailEnd type="triangle"/>
          </a:ln>
        </p:spPr>
      </p:sp>
      <p:sp>
        <p:nvSpPr>
          <p:cNvPr id="13" name="namespace prod"/>
          <p:cNvSpPr/>
          <p:nvPr/>
        </p:nvSpPr>
        <p:spPr>
          <a:xfrm>
            <a:off x="6245352" y="1371600"/>
            <a:ext cx="5394960" cy="3977640"/>
          </a:xfrm>
          <a:prstGeom prst="roundRect">
            <a:avLst>
              <a:gd name="adj" fmla="val 1379"/>
            </a:avLst>
          </a:prstGeom>
          <a:solidFill>
            <a:schemeClr val="accent5">
              <a:alpha val="7000"/>
            </a:schemeClr>
          </a:solidFill>
          <a:ln w="15875">
            <a:solidFill>
              <a:schemeClr val="accent5"/>
            </a:solidFill>
            <a:prstDash val="dash"/>
          </a:ln>
        </p:spPr>
      </p:sp>
      <p:sp>
        <p:nvSpPr>
          <p:cNvPr id="14" name="Text 12"/>
          <p:cNvSpPr txBox="1"/>
          <p:nvPr/>
        </p:nvSpPr>
        <p:spPr>
          <a:xfrm>
            <a:off x="6519672" y="1481328"/>
            <a:ext cx="3657600" cy="320040"/>
          </a:xfrm>
          <a:prstGeom prst="rect">
            <a:avLst/>
          </a:prstGeom>
          <a:noFill/>
          <a:ln/>
        </p:spPr>
        <p:txBody>
          <a:bodyPr wrap="square" lIns="0" tIns="0" rIns="0" bIns="0" rtlCol="0" anchor="t"/>
          <a:lstStyle/>
          <a:p>
            <a:pPr indent="0" marL="0">
              <a:buNone/>
            </a:pPr>
            <a:r>
              <a:rPr lang="en-US" sz="1600" b="1" dirty="0">
                <a:solidFill>
                  <a:schemeClr val="accent5"/>
                </a:solidFill>
              </a:rPr>
              <a:t>namespace: prod</a:t>
            </a:r>
            <a:endParaRPr lang="en-US" sz="1600" dirty="0"/>
          </a:p>
        </p:txBody>
      </p:sp>
      <p:sp>
        <p:nvSpPr>
          <p:cNvPr id="15" name="Text 13"/>
          <p:cNvSpPr txBox="1"/>
          <p:nvPr/>
        </p:nvSpPr>
        <p:spPr>
          <a:xfrm>
            <a:off x="6519672" y="2103120"/>
            <a:ext cx="2286000" cy="1234440"/>
          </a:xfrm>
          <a:prstGeom prst="roundRect">
            <a:avLst>
              <a:gd name="adj" fmla="val 5926"/>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500" b="1" dirty="0">
                <a:solidFill>
                  <a:schemeClr val="tx2"/>
                </a:solidFill>
              </a:rPr>
              <a:t>ConfigMap site</a:t>
            </a:r>
            <a:endParaRPr lang="en-US" sz="1400" dirty="0"/>
          </a:p>
          <a:p>
            <a:pPr algn="ctr" indent="0" marL="0">
              <a:buNone/>
            </a:pPr>
            <a:r>
              <a:rPr lang="en-US" sz="1300" dirty="0">
                <a:solidFill>
                  <a:schemeClr val="tx2"/>
                </a:solidFill>
              </a:rPr>
              <a:t>APP_ENV=prod</a:t>
            </a:r>
            <a:endParaRPr lang="en-US" sz="1400" dirty="0"/>
          </a:p>
          <a:p>
            <a:pPr algn="ctr" indent="0" marL="0">
              <a:buNone/>
            </a:pPr>
            <a:r>
              <a:rPr lang="en-US" sz="1300" dirty="0">
                <a:solidFill>
                  <a:schemeClr val="tx2"/>
                </a:solidFill>
              </a:rPr>
              <a:t>index.html = PROD page</a:t>
            </a:r>
            <a:endParaRPr lang="en-US" sz="1400" dirty="0"/>
          </a:p>
        </p:txBody>
      </p:sp>
      <p:sp>
        <p:nvSpPr>
          <p:cNvPr id="16" name="Text 14"/>
          <p:cNvSpPr txBox="1"/>
          <p:nvPr/>
        </p:nvSpPr>
        <p:spPr>
          <a:xfrm>
            <a:off x="6519672" y="3703320"/>
            <a:ext cx="2286000" cy="1234440"/>
          </a:xfrm>
          <a:prstGeom prst="roundRect">
            <a:avLst>
              <a:gd name="adj" fmla="val 5926"/>
            </a:avLst>
          </a:prstGeom>
          <a:solidFill>
            <a:schemeClr val="accent5">
              <a:alpha val="18000"/>
            </a:schemeClr>
          </a:solidFill>
          <a:ln w="12700">
            <a:solidFill>
              <a:schemeClr val="accent5"/>
            </a:solidFill>
          </a:ln>
        </p:spPr>
        <p:txBody>
          <a:bodyPr wrap="square" lIns="50800" tIns="101600" rIns="101600" bIns="50800" rtlCol="0" anchor="ctr"/>
          <a:lstStyle/>
          <a:p>
            <a:pPr algn="ctr" indent="0" marL="0">
              <a:buNone/>
            </a:pPr>
            <a:r>
              <a:rPr lang="en-US" sz="1500" b="1" dirty="0">
                <a:solidFill>
                  <a:schemeClr val="tx2"/>
                </a:solidFill>
              </a:rPr>
              <a:t>Secret db-secret</a:t>
            </a:r>
            <a:endParaRPr lang="en-US" sz="1400" dirty="0"/>
          </a:p>
          <a:p>
            <a:pPr algn="ctr" indent="0" marL="0">
              <a:buNone/>
            </a:pPr>
            <a:r>
              <a:rPr lang="en-US" sz="1300" dirty="0">
                <a:solidFill>
                  <a:schemeClr val="tx2"/>
                </a:solidFill>
              </a:rPr>
              <a:t>password=prod-pass</a:t>
            </a:r>
            <a:endParaRPr lang="en-US" sz="1400" dirty="0"/>
          </a:p>
        </p:txBody>
      </p:sp>
      <p:sp>
        <p:nvSpPr>
          <p:cNvPr id="17" name="Text 15"/>
          <p:cNvSpPr txBox="1"/>
          <p:nvPr/>
        </p:nvSpPr>
        <p:spPr>
          <a:xfrm>
            <a:off x="9308592" y="2103120"/>
            <a:ext cx="2057400" cy="2834640"/>
          </a:xfrm>
          <a:prstGeom prst="roundRect">
            <a:avLst>
              <a:gd name="adj" fmla="val 3556"/>
            </a:avLst>
          </a:prstGeom>
          <a:solidFill>
            <a:schemeClr val="tx2"/>
          </a:solidFill>
          <a:ln w="12700">
            <a:solidFill>
              <a:schemeClr val="tx2"/>
            </a:solidFill>
          </a:ln>
        </p:spPr>
        <p:txBody>
          <a:bodyPr wrap="square" lIns="50800" tIns="76200" rIns="76200" bIns="50800" rtlCol="0" anchor="ctr"/>
          <a:lstStyle/>
          <a:p>
            <a:pPr algn="ctr" indent="0" marL="0">
              <a:buNone/>
            </a:pPr>
            <a:r>
              <a:rPr lang="en-US" sz="1600" b="1" dirty="0">
                <a:solidFill>
                  <a:schemeClr val="bg1"/>
                </a:solidFill>
              </a:rPr>
              <a:t>Pod web</a:t>
            </a:r>
            <a:endParaRPr lang="en-US" sz="1600" dirty="0"/>
          </a:p>
          <a:p>
            <a:pPr algn="ctr" indent="0" marL="0">
              <a:buNone/>
            </a:pPr>
            <a:r>
              <a:rPr lang="en-US" sz="1400" dirty="0">
                <a:solidFill>
                  <a:schemeClr val="bg1"/>
                </a:solidFill>
              </a:rPr>
              <a:t>nginx:1.27</a:t>
            </a:r>
            <a:endParaRPr lang="en-US" sz="1600" dirty="0"/>
          </a:p>
          <a:p>
            <a:pPr algn="ctr" indent="0" marL="0">
              <a:buNone/>
            </a:pPr>
            <a:r>
              <a:rPr lang="en-US" sz="800" dirty="0">
                <a:solidFill>
                  <a:schemeClr val="bg1"/>
                </a:solidFill>
              </a:rPr>
              <a:t> </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env APP_ENV</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env DB_PASSWORD</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/usr/share/nginx/</a:t>
            </a:r>
            <a:endParaRPr lang="en-US" sz="16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html/index.html</a:t>
            </a:r>
            <a:endParaRPr lang="en-US" sz="1600" dirty="0"/>
          </a:p>
        </p:txBody>
      </p:sp>
      <p:sp>
        <p:nvSpPr>
          <p:cNvPr id="18" name="arrow"/>
          <p:cNvSpPr/>
          <p:nvPr/>
        </p:nvSpPr>
        <p:spPr>
          <a:xfrm>
            <a:off x="8805672" y="2724912"/>
            <a:ext cx="502920" cy="0"/>
          </a:xfrm>
          <a:prstGeom prst="line">
            <a:avLst/>
          </a:prstGeom>
          <a:noFill/>
          <a:ln w="28575">
            <a:solidFill>
              <a:schemeClr val="accent4"/>
            </a:solidFill>
            <a:prstDash val="solid"/>
            <a:tailEnd type="triangle"/>
          </a:ln>
        </p:spPr>
      </p:sp>
      <p:sp>
        <p:nvSpPr>
          <p:cNvPr id="19" name="arrow"/>
          <p:cNvSpPr/>
          <p:nvPr/>
        </p:nvSpPr>
        <p:spPr>
          <a:xfrm>
            <a:off x="8805672" y="4315968"/>
            <a:ext cx="502920" cy="0"/>
          </a:xfrm>
          <a:prstGeom prst="line">
            <a:avLst/>
          </a:prstGeom>
          <a:noFill/>
          <a:ln w="28575">
            <a:solidFill>
              <a:schemeClr val="accent5"/>
            </a:solidFill>
            <a:prstDash val="solid"/>
            <a:tailEnd type="triangle"/>
          </a:ln>
        </p:spPr>
      </p:sp>
      <p:sp>
        <p:nvSpPr>
          <p:cNvPr id="20" name="config note"/>
          <p:cNvSpPr/>
          <p:nvPr/>
        </p:nvSpPr>
        <p:spPr>
          <a:xfrm>
            <a:off x="548640" y="5532120"/>
            <a:ext cx="11094415" cy="640080"/>
          </a:xfrm>
          <a:prstGeom prst="roundRect">
            <a:avLst>
              <a:gd name="adj" fmla="val 11429"/>
            </a:avLst>
          </a:prstGeom>
          <a:solidFill>
            <a:schemeClr val="accent2">
              <a:alpha val="22000"/>
            </a:schemeClr>
          </a:solidFill>
          <a:ln w="9525">
            <a:solidFill>
              <a:schemeClr val="accent2"/>
            </a:solidFill>
            <a:prstDash val="solid"/>
          </a:ln>
        </p:spPr>
      </p:sp>
      <p:sp>
        <p:nvSpPr>
          <p:cNvPr id="21" name="Text 19"/>
          <p:cNvSpPr txBox="1"/>
          <p:nvPr/>
        </p:nvSpPr>
        <p:spPr>
          <a:xfrm>
            <a:off x="777240" y="5532120"/>
            <a:ext cx="10637215" cy="640080"/>
          </a:xfrm>
          <a:prstGeom prst="rect">
            <a:avLst/>
          </a:prstGeom>
          <a:noFill/>
          <a:ln/>
        </p:spPr>
        <p:txBody>
          <a:bodyPr wrap="square" lIns="0" tIns="0" rIns="0" bIns="0" rtlCol="0" anchor="ctr"/>
          <a:lstStyle/>
          <a:p>
            <a:pPr indent="0" marL="0">
              <a:buNone/>
            </a:pPr>
            <a:r>
              <a:rPr lang="en-US" sz="1500" b="1" dirty="0">
                <a:solidFill>
                  <a:schemeClr val="tx2"/>
                </a:solidFill>
              </a:rPr>
              <a:t>Same image, same Deployment YAML. </a:t>
            </a:r>
            <a:pPr indent="0" marL="0">
              <a:buNone/>
            </a:pPr>
            <a:r>
              <a:rPr lang="en-US" sz="1500" dirty="0">
                <a:solidFill>
                  <a:schemeClr val="tx1"/>
                </a:solidFill>
              </a:rPr>
              <a:t>Only the ConfigMap and Secret differ per namespace.</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namespace dev</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 namespace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Separate environments or teams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config set-context --current --namespace=dev</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Sets your default namespace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Stop typing -n dev on every command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configmap app-config --from-literal=APP_ENV=dev</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 ConfigMap from a value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Per-environment settings, no rebuild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secret generic db-secret --from-literal=password=ChangeMe123</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Creates a Secret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Pass credentials to a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secret db-secret -o jsonpath='{.data.password}' | base64 -d</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Decodes a Secret value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why Secrets need RBAC</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exec deploy/web -- env | grep APP_</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Prints env vars inside the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Verify config reached the container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rollout restart deploy/web</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Re-creates Pods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Make env var changes take effect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all -n dev</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main objects in a namespace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See what an environment contains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ConfigMap and Deployment</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6" name="terminal configmap.yaml"/>
          <p:cNvSpPr/>
          <p:nvPr/>
        </p:nvSpPr>
        <p:spPr>
          <a:xfrm>
            <a:off x="548640" y="1371600"/>
            <a:ext cx="5410048" cy="3535680"/>
          </a:xfrm>
          <a:prstGeom prst="roundRect">
            <a:avLst>
              <a:gd name="adj" fmla="val 1552"/>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configmap.yaml</a:t>
            </a:r>
            <a:endParaRPr lang="en-US" sz="1100" dirty="0"/>
          </a:p>
        </p:txBody>
      </p:sp>
      <p:sp>
        <p:nvSpPr>
          <p:cNvPr id="11" name="terminal text"/>
          <p:cNvSpPr txBox="1"/>
          <p:nvPr/>
        </p:nvSpPr>
        <p:spPr>
          <a:xfrm>
            <a:off x="749808" y="1828800"/>
            <a:ext cx="5007712" cy="298704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ConfigMap</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site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data:</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APP_ENV: dev</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index.html: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&lt;h1&gt;Hello from DEV&lt;/h1&gt;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&lt;p&gt;Winter Arc · Day 4&lt;/p&gt;</a:t>
            </a:r>
            <a:endParaRPr lang="en-US" sz="1100" dirty="0"/>
          </a:p>
        </p:txBody>
      </p:sp>
      <p:sp>
        <p:nvSpPr>
          <p:cNvPr id="12" name="Text 10"/>
          <p:cNvSpPr txBox="1"/>
          <p:nvPr/>
        </p:nvSpPr>
        <p:spPr>
          <a:xfrm>
            <a:off x="548640" y="5044440"/>
            <a:ext cx="5410048" cy="548640"/>
          </a:xfrm>
          <a:prstGeom prst="rect">
            <a:avLst/>
          </a:prstGeom>
          <a:noFill/>
          <a:ln/>
        </p:spPr>
        <p:txBody>
          <a:bodyPr wrap="square" lIns="0" tIns="0" rIns="0" bIns="0" rtlCol="0" anchor="t"/>
          <a:lstStyle/>
          <a:p>
            <a:pPr indent="0" marL="0">
              <a:buNone/>
            </a:pPr>
            <a:r>
              <a:rPr lang="en-US" sz="1400" dirty="0">
                <a:solidFill>
                  <a:schemeClr val="tx1"/>
                </a:solidFill>
              </a:rPr>
              <a:t>One key can be a plain value (APP_ENV) or a whole file (index.html).</a:t>
            </a:r>
            <a:endParaRPr lang="en-US" sz="1400" dirty="0"/>
          </a:p>
        </p:txBody>
      </p:sp>
      <p:sp>
        <p:nvSpPr>
          <p:cNvPr id="13" name="terminal deployment.yaml  (Pod template)"/>
          <p:cNvSpPr/>
          <p:nvPr/>
        </p:nvSpPr>
        <p:spPr>
          <a:xfrm>
            <a:off x="6233008" y="1371600"/>
            <a:ext cx="5410048" cy="3535680"/>
          </a:xfrm>
          <a:prstGeom prst="roundRect">
            <a:avLst>
              <a:gd name="adj" fmla="val 1552"/>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deployment.yaml  (Pod template)</a:t>
            </a:r>
            <a:endParaRPr lang="en-US" sz="1100" dirty="0"/>
          </a:p>
        </p:txBody>
      </p:sp>
      <p:sp>
        <p:nvSpPr>
          <p:cNvPr id="18" name="terminal text"/>
          <p:cNvSpPr txBox="1"/>
          <p:nvPr/>
        </p:nvSpPr>
        <p:spPr>
          <a:xfrm>
            <a:off x="6434176" y="1828800"/>
            <a:ext cx="5007712" cy="298704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containers:</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nginx</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 nginx:1.27</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env:</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APP_ENV</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valueFrom: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configMapKeyRef: {name: site, key: APP_ENV}</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DB_PASSWORD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valueFrom: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secretKeyRef: {name: db-secret, key: password}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volumeMounts: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html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mountPath: /usr/share/nginx/html</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volumes:</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html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configMap: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site</a:t>
            </a:r>
            <a:endParaRPr lang="en-US" sz="1100" dirty="0"/>
          </a:p>
        </p:txBody>
      </p:sp>
      <p:sp>
        <p:nvSpPr>
          <p:cNvPr id="19" name="Text 17"/>
          <p:cNvSpPr txBox="1"/>
          <p:nvPr/>
        </p:nvSpPr>
        <p:spPr>
          <a:xfrm>
            <a:off x="6233008" y="5044440"/>
            <a:ext cx="5410048" cy="548640"/>
          </a:xfrm>
          <a:prstGeom prst="rect">
            <a:avLst/>
          </a:prstGeom>
          <a:noFill/>
          <a:ln/>
        </p:spPr>
        <p:txBody>
          <a:bodyPr wrap="square" lIns="0" tIns="0" rIns="0" bIns="0" rtlCol="0" anchor="t"/>
          <a:lstStyle/>
          <a:p>
            <a:pPr indent="0" marL="0">
              <a:buNone/>
            </a:pPr>
            <a:r>
              <a:rPr lang="en-US" sz="1400" dirty="0">
                <a:solidFill>
                  <a:schemeClr val="tx1"/>
                </a:solidFill>
              </a:rPr>
              <a:t>The same Deployment YAML goes to dev and prod. Only the ConfigMap and Secret differ.</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Same image, two environments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You run the same nginx image in dev and prod. The page and settings differ per environment, and the DB password must not live in the image or the Deployment.</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Namespaces. </a:t>
            </a:r>
            <a:pPr indent="0" marL="0">
              <a:buNone/>
            </a:pPr>
            <a:r>
              <a:rPr lang="en-US" sz="1400" dirty="0">
                <a:solidFill>
                  <a:schemeClr val="tx1"/>
                </a:solidFill>
              </a:rPr>
              <a:t>Create dev and prod.</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Config. </a:t>
            </a:r>
            <a:pPr indent="0" marL="0">
              <a:buNone/>
            </a:pPr>
            <a:r>
              <a:rPr lang="en-US" sz="1400" dirty="0">
                <a:solidFill>
                  <a:schemeClr val="tx1"/>
                </a:solidFill>
              </a:rPr>
              <a:t>In each namespace create the ConfigMap site with a different page (DEV vs PROD) and APP_ENV.</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Secret. </a:t>
            </a:r>
            <a:pPr indent="0" marL="0">
              <a:buNone/>
            </a:pPr>
            <a:r>
              <a:rPr lang="en-US" sz="1400" dirty="0">
                <a:solidFill>
                  <a:schemeClr val="tx1"/>
                </a:solidFill>
              </a:rPr>
              <a:t>Create db-secret in each namespace with a different password.</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Deploy. </a:t>
            </a:r>
            <a:pPr indent="0" marL="0">
              <a:buNone/>
            </a:pPr>
            <a:r>
              <a:rPr lang="en-US" sz="1400" dirty="0">
                <a:solidFill>
                  <a:schemeClr val="tx1"/>
                </a:solidFill>
              </a:rPr>
              <a:t>Apply the same deployment.yaml to both namespaces with -n.</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Verify. </a:t>
            </a:r>
            <a:pPr indent="0" marL="0">
              <a:buNone/>
            </a:pPr>
            <a:r>
              <a:rPr lang="en-US" sz="1400" dirty="0">
                <a:solidFill>
                  <a:schemeClr val="tx1"/>
                </a:solidFill>
              </a:rPr>
              <a:t>Port-forward dev to 8081 and prod to 8082. Curl both and check env inside each Pod.</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Change config. </a:t>
            </a:r>
            <a:pPr indent="0" marL="0">
              <a:buNone/>
            </a:pPr>
            <a:r>
              <a:rPr lang="en-US" sz="1400" dirty="0">
                <a:solidFill>
                  <a:schemeClr val="tx1"/>
                </a:solidFill>
              </a:rPr>
              <a:t>Edit the dev ConfigMap. The page updates in about a minute; APP_ENV only after rollout restart.</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ns dev &amp;&amp; kubectl create ns prod</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apply -f configmap-dev.yaml  -n dev</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apply -f configmap-prod.yaml -n prod</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secret generic db-secret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--from-literal=password=dev-pass -n dev</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secret generic db-secret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--from-literal=password=prod-pass -n prod</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apply -f deployment.yaml -n dev</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apply -f deployment.yaml -n prod</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port-forward -n dev  deploy/web 8081:80 &amp;</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port-forward -n prod deploy/web 8082:80 &amp;</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curl localhost:8081 ; curl localhost:8082</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exec -n dev deploy/web -- env | grep -E 'APP_|DB_'</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edit cm site -n dev</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web Pods are Running in both dev and prod</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curl shows the DEV page on 8081 and the PROD page on 8082</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env in each Pod shows a different APP_ENV and DB_PASSWORD</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After editing the ConfigMap the page changed without a restart</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After rollout restart the new APP_ENV appears</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CreateContainerConfigError?</a:t>
            </a:r>
            <a:pPr indent="0" marL="0">
              <a:spcAft>
                <a:spcPts val="700"/>
              </a:spcAft>
              <a:buNone/>
            </a:pPr>
            <a:r>
              <a:rPr lang="en-US" sz="1400" dirty="0">
                <a:solidFill>
                  <a:schemeClr val="tx1"/>
                </a:solidFill>
              </a:rPr>
              <a:t> A referenced ConfigMap or Secret key is missing or in another namespace.</a:t>
            </a:r>
            <a:endParaRPr lang="en-US" sz="1400" dirty="0"/>
          </a:p>
          <a:p>
            <a:pPr indent="0" marL="0">
              <a:spcAft>
                <a:spcPts val="700"/>
              </a:spcAft>
              <a:buNone/>
            </a:pPr>
            <a:r>
              <a:rPr lang="en-US" sz="1400" b="1" dirty="0">
                <a:solidFill>
                  <a:schemeClr val="tx1"/>
                </a:solidFill>
              </a:rPr>
              <a:t>Forgot -n?</a:t>
            </a:r>
            <a:pPr indent="0" marL="0">
              <a:spcAft>
                <a:spcPts val="700"/>
              </a:spcAft>
              <a:buNone/>
            </a:pPr>
            <a:r>
              <a:rPr lang="en-US" sz="1400" dirty="0">
                <a:solidFill>
                  <a:schemeClr val="tx1"/>
                </a:solidFill>
              </a:rPr>
              <a:t> Objects went to default. Find them with kubectl get all -A | grep web.</a:t>
            </a:r>
            <a:endParaRPr lang="en-US" sz="1400" dirty="0"/>
          </a:p>
          <a:p>
            <a:pPr indent="0" marL="0">
              <a:spcAft>
                <a:spcPts val="700"/>
              </a:spcAft>
              <a:buNone/>
            </a:pPr>
            <a:r>
              <a:rPr lang="en-US" sz="1400" b="1" dirty="0">
                <a:solidFill>
                  <a:schemeClr val="tx1"/>
                </a:solidFill>
              </a:rPr>
              <a:t>Page not updating?</a:t>
            </a:r>
            <a:pPr indent="0" marL="0">
              <a:spcAft>
                <a:spcPts val="700"/>
              </a:spcAft>
              <a:buNone/>
            </a:pPr>
            <a:r>
              <a:rPr lang="en-US" sz="1400" dirty="0">
                <a:solidFill>
                  <a:schemeClr val="tx1"/>
                </a:solidFill>
              </a:rPr>
              <a:t> Mounted files take up to about 60 s, and subPath mounts never update.</a:t>
            </a:r>
            <a:endParaRPr lang="en-US" sz="1400" dirty="0"/>
          </a:p>
          <a:p>
            <a:pPr indent="0" marL="0">
              <a:spcAft>
                <a:spcPts val="700"/>
              </a:spcAft>
              <a:buNone/>
            </a:pPr>
            <a:r>
              <a:rPr lang="en-US" sz="1400" b="1" dirty="0">
                <a:solidFill>
                  <a:schemeClr val="tx1"/>
                </a:solidFill>
              </a:rPr>
              <a:t>Decode a Secret:</a:t>
            </a:r>
            <a:pPr indent="0" marL="0">
              <a:spcAft>
                <a:spcPts val="700"/>
              </a:spcAft>
              <a:buNone/>
            </a:pPr>
            <a:r>
              <a:rPr lang="en-US" sz="1400" dirty="0">
                <a:solidFill>
                  <a:schemeClr val="tx1"/>
                </a:solidFill>
              </a:rPr>
              <a:t> kubectl get secret db-secret -n dev -o jsonpath='{.data.password}' | base64 -d</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day4-config/ with ConfigMap and Deployment YAML for both environments (never commit real secrets), screenshots of both pages, and a README on env vs volume updates.</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4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4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ConfigMap vs Secret?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Both inject config. Secrets are for sensitive data: separate RBAC, optional encryption at rest, and values kept out of kubectl describe.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Are Kubernetes Secrets encrypted?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By default only base64-encoded in etcd. Enable encryption at rest, restrict RBAC, or use an external manager such as Vault.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Env var or mounted file: which updates live?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Mounted files refresh in about a minute (not with subPath). Env vars are fixed at start, so you need a rollout restart.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What are namespaces for, and what don’t they do?</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They group and quota resources per team or environment and scope RBAC. They do not isolate network traffic or nodes by themselves.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How do you make config changes safe?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Make the ConfigMap immutable, version its name (site-v2) and update the Deployment, so a change is a normal rolling update you can undo.</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FaHdd" descr="FaHdd">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5</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Storage &amp; StatefulSets</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Intermediate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PV · PVC · StorageClass · StatefulSets · Headless Service</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give a Pod storage that outlives it, explain PV, PVC and StorageClass, and run a database as a StatefulSet.</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Inspect the default StorageClass</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Run Postgres as a StatefulSet</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Delete the Pod and keep the data</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Clean up PVCs on purpose</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A Postgres database that keeps its data after Pod deletion</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Storage &amp; StatefulSets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6" name="card Pod storage is temporary"/>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Memory" descr="FaMemory">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Pod storage is temporary</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A container’s filesystem disappears with the container.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emptyDir</a:t>
            </a:r>
            <a:pPr indent="0" marL="0">
              <a:spcAft>
                <a:spcPts val="600"/>
              </a:spcAft>
              <a:buNone/>
            </a:pPr>
            <a:r>
              <a:rPr lang="en-US" sz="1500" dirty="0">
                <a:solidFill>
                  <a:schemeClr val="tx1"/>
                </a:solidFill>
              </a:rPr>
              <a:t> lives as long as the Pod.</a:t>
            </a:r>
            <a:endParaRPr lang="en-US" sz="1500" dirty="0"/>
          </a:p>
          <a:p>
            <a:pPr indent="0" marL="0">
              <a:spcAft>
                <a:spcPts val="600"/>
              </a:spcAft>
              <a:buNone/>
            </a:pPr>
            <a:r>
              <a:rPr lang="en-US" sz="1500" dirty="0">
                <a:solidFill>
                  <a:schemeClr val="tx1"/>
                </a:solidFill>
              </a:rPr>
              <a:t>Data that must survive needs a </a:t>
            </a:r>
            <a:pPr indent="0" marL="0">
              <a:spcAft>
                <a:spcPts val="600"/>
              </a:spcAft>
              <a:buNone/>
            </a:pPr>
            <a:r>
              <a:rPr lang="en-US" sz="1500" b="1" dirty="0">
                <a:solidFill>
                  <a:schemeClr val="tx1"/>
                </a:solidFill>
              </a:rPr>
              <a:t>PersistentVolume</a:t>
            </a:r>
            <a:pPr indent="0" marL="0">
              <a:spcAft>
                <a:spcPts val="600"/>
              </a:spcAft>
              <a:buNone/>
            </a:pPr>
            <a:r>
              <a:rPr lang="en-US" sz="1500" dirty="0">
                <a:solidFill>
                  <a:schemeClr val="tx1"/>
                </a:solidFill>
              </a:rPr>
              <a:t>.</a:t>
            </a:r>
            <a:endParaRPr lang="en-US" sz="1500" dirty="0"/>
          </a:p>
        </p:txBody>
      </p:sp>
      <p:sp>
        <p:nvSpPr>
          <p:cNvPr id="11" name="card PV, PVC, StorageClass"/>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Database" descr="FaDatabase">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PV, PVC, StorageClass</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PV</a:t>
            </a:r>
            <a:pPr indent="0" marL="0">
              <a:spcAft>
                <a:spcPts val="600"/>
              </a:spcAft>
              <a:buNone/>
            </a:pPr>
            <a:r>
              <a:rPr lang="en-US" sz="1500" dirty="0">
                <a:solidFill>
                  <a:schemeClr val="tx1"/>
                </a:solidFill>
              </a:rPr>
              <a:t> = a piece of storage. </a:t>
            </a:r>
            <a:pPr indent="0" marL="0">
              <a:spcAft>
                <a:spcPts val="600"/>
              </a:spcAft>
              <a:buNone/>
            </a:pPr>
            <a:r>
              <a:rPr lang="en-US" sz="1500" b="1" dirty="0">
                <a:solidFill>
                  <a:schemeClr val="tx1"/>
                </a:solidFill>
              </a:rPr>
              <a:t>PVC</a:t>
            </a:r>
            <a:pPr indent="0" marL="0">
              <a:spcAft>
                <a:spcPts val="600"/>
              </a:spcAft>
              <a:buNone/>
            </a:pPr>
            <a:r>
              <a:rPr lang="en-US" sz="1500" dirty="0">
                <a:solidFill>
                  <a:schemeClr val="tx1"/>
                </a:solidFill>
              </a:rPr>
              <a:t> = a Pod’s request for it (size, access mode). </a:t>
            </a:r>
            <a:pPr indent="0" marL="0">
              <a:spcAft>
                <a:spcPts val="600"/>
              </a:spcAft>
              <a:buNone/>
            </a:pPr>
            <a:r>
              <a:rPr lang="en-US" sz="1500" b="1" dirty="0">
                <a:solidFill>
                  <a:schemeClr val="tx1"/>
                </a:solidFill>
              </a:rPr>
              <a:t>StorageClass</a:t>
            </a:r>
            <a:pPr indent="0" marL="0">
              <a:spcAft>
                <a:spcPts val="600"/>
              </a:spcAft>
              <a:buNone/>
            </a:pPr>
            <a:r>
              <a:rPr lang="en-US" sz="1500" dirty="0">
                <a:solidFill>
                  <a:schemeClr val="tx1"/>
                </a:solidFill>
              </a:rPr>
              <a:t> = the recipe that creates PVs on demand.</a:t>
            </a:r>
            <a:endParaRPr lang="en-US" sz="1500" dirty="0"/>
          </a:p>
          <a:p>
            <a:pPr indent="0" marL="0">
              <a:spcAft>
                <a:spcPts val="600"/>
              </a:spcAft>
              <a:buNone/>
            </a:pPr>
            <a:r>
              <a:rPr lang="en-US" sz="1500" dirty="0">
                <a:solidFill>
                  <a:schemeClr val="tx1"/>
                </a:solidFill>
              </a:rPr>
              <a:t>kind ships a default class called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standard</a:t>
            </a:r>
            <a:pPr indent="0" marL="0">
              <a:spcAft>
                <a:spcPts val="600"/>
              </a:spcAft>
              <a:buNone/>
            </a:pPr>
            <a:r>
              <a:rPr lang="en-US" sz="1500" dirty="0">
                <a:solidFill>
                  <a:schemeClr val="tx1"/>
                </a:solidFill>
              </a:rPr>
              <a:t> (local-path).</a:t>
            </a:r>
            <a:endParaRPr lang="en-US" sz="1500" dirty="0"/>
          </a:p>
        </p:txBody>
      </p:sp>
      <p:sp>
        <p:nvSpPr>
          <p:cNvPr id="16" name="card StatefulSet"/>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Boxes" descr="FaBoxes">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StatefulSet</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For stateful apps: stable Pod names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pg-0</a:t>
            </a:r>
            <a:pPr indent="0" marL="0">
              <a:spcAft>
                <a:spcPts val="600"/>
              </a:spcAft>
              <a:buNone/>
            </a:pPr>
            <a:r>
              <a:rPr lang="en-US" sz="1500" dirty="0">
                <a:solidFill>
                  <a:schemeClr val="tx1"/>
                </a:solidFill>
              </a:rPr>
              <a: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pg-1</a:t>
            </a:r>
            <a:pPr indent="0" marL="0">
              <a:spcAft>
                <a:spcPts val="600"/>
              </a:spcAft>
              <a:buNone/>
            </a:pPr>
            <a:r>
              <a:rPr lang="en-US" sz="1500" dirty="0">
                <a:solidFill>
                  <a:schemeClr val="tx1"/>
                </a:solidFill>
              </a:rPr>
              <a:t>), ordered start, and one PVC per Pod from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volumeClaimTemplates</a:t>
            </a:r>
            <a:pPr indent="0" marL="0">
              <a:spcAft>
                <a:spcPts val="600"/>
              </a:spcAft>
              <a:buNone/>
            </a:pPr>
            <a:r>
              <a:rPr lang="en-US" sz="1500" dirty="0">
                <a:solidFill>
                  <a:schemeClr val="tx1"/>
                </a:solidFill>
              </a:rPr>
              <a:t>.</a:t>
            </a:r>
            <a:endParaRPr lang="en-US" sz="1500" dirty="0"/>
          </a:p>
          <a:p>
            <a:pPr indent="0" marL="0">
              <a:spcAft>
                <a:spcPts val="600"/>
              </a:spcAft>
              <a:buNone/>
            </a:pPr>
            <a:r>
              <a:rPr lang="en-US" sz="1500" dirty="0">
                <a:solidFill>
                  <a:schemeClr val="tx1"/>
                </a:solidFill>
              </a:rPr>
              <a:t>A re-created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pg-0</a:t>
            </a:r>
            <a:pPr indent="0" marL="0">
              <a:spcAft>
                <a:spcPts val="600"/>
              </a:spcAft>
              <a:buNone/>
            </a:pPr>
            <a:r>
              <a:rPr lang="en-US" sz="1500" dirty="0">
                <a:solidFill>
                  <a:schemeClr val="tx1"/>
                </a:solidFill>
              </a:rPr>
              <a:t> re-attaches to the same data.</a:t>
            </a:r>
            <a:endParaRPr lang="en-US" sz="1500" dirty="0"/>
          </a:p>
        </p:txBody>
      </p:sp>
      <p:sp>
        <p:nvSpPr>
          <p:cNvPr id="21" name="card Headless Service"/>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ProjectDiagram" descr="FaProjectDiagram">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Headless Service</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clusterIP: None</a:t>
            </a:r>
            <a:pPr indent="0" marL="0">
              <a:spcAft>
                <a:spcPts val="600"/>
              </a:spcAft>
              <a:buNone/>
            </a:pPr>
            <a:r>
              <a:rPr lang="en-US" sz="1500" dirty="0">
                <a:solidFill>
                  <a:schemeClr val="tx1"/>
                </a:solidFill>
              </a:rPr>
              <a:t> gives each StatefulSet Pod its own DNS name, like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pg-0.pg.default.svc</a:t>
            </a:r>
            <a:pPr indent="0" marL="0">
              <a:spcAft>
                <a:spcPts val="600"/>
              </a:spcAft>
              <a:buNone/>
            </a:pPr>
            <a:r>
              <a:rPr lang="en-US" sz="1500" dirty="0">
                <a:solidFill>
                  <a:schemeClr val="tx1"/>
                </a:solidFill>
              </a:rPr>
              <a:t>.</a:t>
            </a:r>
            <a:endParaRPr lang="en-US" sz="1400" dirty="0"/>
          </a:p>
          <a:p>
            <a:pPr indent="0" marL="0">
              <a:spcAft>
                <a:spcPts val="600"/>
              </a:spcAft>
              <a:buNone/>
            </a:pPr>
            <a:r>
              <a:rPr lang="en-US" sz="1500" dirty="0">
                <a:solidFill>
                  <a:schemeClr val="tx1"/>
                </a:solidFill>
              </a:rPr>
              <a:t>Apps and replicas can address one specific Pod instead of load-balancing.</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From Pod to disk</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6" name="Text 4"/>
          <p:cNvSpPr txBox="1"/>
          <p:nvPr/>
        </p:nvSpPr>
        <p:spPr>
          <a:xfrm>
            <a:off x="548640" y="1874520"/>
            <a:ext cx="5486400" cy="548640"/>
          </a:xfrm>
          <a:prstGeom prst="rect">
            <a:avLst/>
          </a:prstGeom>
          <a:noFill/>
          <a:ln/>
        </p:spPr>
        <p:txBody>
          <a:bodyPr wrap="square" lIns="0" tIns="0" rIns="0" bIns="0" rtlCol="0" anchor="t"/>
          <a:lstStyle/>
          <a:p>
            <a:pPr indent="0" marL="0">
              <a:buNone/>
            </a:pPr>
            <a:r>
              <a:rPr lang="en-US" sz="1400" b="1" spc="100" kern="0" dirty="0">
                <a:solidFill>
                  <a:schemeClr val="accent1"/>
                </a:solidFill>
              </a:rPr>
              <a:t>THE CHAIN: Pod → claim → volume → disk on the node</a:t>
            </a:r>
            <a:endParaRPr lang="en-US" sz="1400" dirty="0"/>
          </a:p>
        </p:txBody>
      </p:sp>
      <p:sp>
        <p:nvSpPr>
          <p:cNvPr id="7" name="Text 5"/>
          <p:cNvSpPr txBox="1"/>
          <p:nvPr/>
        </p:nvSpPr>
        <p:spPr>
          <a:xfrm>
            <a:off x="6309360" y="1371600"/>
            <a:ext cx="2377440" cy="914400"/>
          </a:xfrm>
          <a:prstGeom prst="roundRect">
            <a:avLst>
              <a:gd name="adj" fmla="val 8000"/>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400" b="1" dirty="0">
                <a:solidFill>
                  <a:schemeClr val="tx2"/>
                </a:solidFill>
              </a:rPr>
              <a:t>StorageClass standard</a:t>
            </a:r>
            <a:endParaRPr lang="en-US" sz="1400" dirty="0"/>
          </a:p>
          <a:p>
            <a:pPr algn="ctr" indent="0" marL="0">
              <a:buNone/>
            </a:pPr>
            <a:r>
              <a:rPr lang="en-US" sz="1200" dirty="0">
                <a:solidFill>
                  <a:schemeClr val="tx2"/>
                </a:solidFill>
              </a:rPr>
              <a:t>rancher.io/local-path</a:t>
            </a:r>
            <a:endParaRPr lang="en-US" sz="1400" dirty="0"/>
          </a:p>
        </p:txBody>
      </p:sp>
      <p:sp>
        <p:nvSpPr>
          <p:cNvPr id="8" name="arrow"/>
          <p:cNvSpPr/>
          <p:nvPr/>
        </p:nvSpPr>
        <p:spPr>
          <a:xfrm>
            <a:off x="7498080" y="2286000"/>
            <a:ext cx="0" cy="548640"/>
          </a:xfrm>
          <a:prstGeom prst="line">
            <a:avLst/>
          </a:prstGeom>
          <a:noFill/>
          <a:ln w="28575">
            <a:solidFill>
              <a:schemeClr val="accent4"/>
            </a:solidFill>
            <a:prstDash val="solid"/>
            <a:tailEnd type="triangle"/>
          </a:ln>
        </p:spPr>
      </p:sp>
      <p:sp>
        <p:nvSpPr>
          <p:cNvPr id="9" name="Text 7"/>
          <p:cNvSpPr txBox="1"/>
          <p:nvPr/>
        </p:nvSpPr>
        <p:spPr>
          <a:xfrm>
            <a:off x="7680960" y="2395728"/>
            <a:ext cx="3291840" cy="274320"/>
          </a:xfrm>
          <a:prstGeom prst="rect">
            <a:avLst/>
          </a:prstGeom>
          <a:noFill/>
          <a:ln/>
        </p:spPr>
        <p:txBody>
          <a:bodyPr wrap="square" lIns="0" tIns="0" rIns="0" bIns="0" rtlCol="0" anchor="t"/>
          <a:lstStyle/>
          <a:p>
            <a:pPr indent="0" marL="0">
              <a:buNone/>
            </a:pPr>
            <a:r>
              <a:rPr lang="en-US" sz="1300" dirty="0">
                <a:solidFill>
                  <a:schemeClr val="tx1"/>
                </a:solidFill>
              </a:rPr>
              <a:t>creates the PV on demand</a:t>
            </a:r>
            <a:endParaRPr lang="en-US" sz="1300" dirty="0"/>
          </a:p>
        </p:txBody>
      </p:sp>
      <p:sp>
        <p:nvSpPr>
          <p:cNvPr id="10" name="Text 8"/>
          <p:cNvSpPr txBox="1"/>
          <p:nvPr/>
        </p:nvSpPr>
        <p:spPr>
          <a:xfrm>
            <a:off x="548640" y="2834640"/>
            <a:ext cx="2377440" cy="1188720"/>
          </a:xfrm>
          <a:prstGeom prst="roundRect">
            <a:avLst>
              <a:gd name="adj" fmla="val 6154"/>
            </a:avLst>
          </a:prstGeom>
          <a:solidFill>
            <a:schemeClr val="tx2"/>
          </a:solidFill>
          <a:ln w="12700">
            <a:solidFill>
              <a:schemeClr val="tx2"/>
            </a:solidFill>
          </a:ln>
        </p:spPr>
        <p:txBody>
          <a:bodyPr wrap="square" lIns="50800" tIns="101600" rIns="101600" bIns="50800" rtlCol="0" anchor="ctr"/>
          <a:lstStyle/>
          <a:p>
            <a:pPr algn="ctr" indent="0" marL="0">
              <a:buNone/>
            </a:pPr>
            <a:r>
              <a:rPr lang="en-US" sz="1400" b="1" dirty="0">
                <a:solidFill>
                  <a:schemeClr val="bg1"/>
                </a:solidFill>
              </a:rPr>
              <a:t>Pod pg-0</a:t>
            </a:r>
            <a:endParaRPr lang="en-US" sz="1400" dirty="0"/>
          </a:p>
          <a:p>
            <a:pPr algn="ctr" indent="0" marL="0">
              <a:buNone/>
            </a:pPr>
            <a:r>
              <a:rPr lang="en-US" sz="1200" dirty="0">
                <a:solidFill>
                  <a:schemeClr val="bg1"/>
                </a:solidFill>
              </a:rPr>
              <a:t>mounts /var/lib/postgresql/data</a:t>
            </a:r>
            <a:endParaRPr lang="en-US" sz="1400" dirty="0"/>
          </a:p>
        </p:txBody>
      </p:sp>
      <p:sp>
        <p:nvSpPr>
          <p:cNvPr id="11" name="arrow"/>
          <p:cNvSpPr/>
          <p:nvPr/>
        </p:nvSpPr>
        <p:spPr>
          <a:xfrm>
            <a:off x="2962656" y="3429000"/>
            <a:ext cx="429768" cy="0"/>
          </a:xfrm>
          <a:prstGeom prst="line">
            <a:avLst/>
          </a:prstGeom>
          <a:noFill/>
          <a:ln w="28575">
            <a:solidFill>
              <a:schemeClr val="accent1"/>
            </a:solidFill>
            <a:prstDash val="solid"/>
            <a:tailEnd type="triangle"/>
          </a:ln>
        </p:spPr>
      </p:sp>
      <p:sp>
        <p:nvSpPr>
          <p:cNvPr id="12" name="Text 10"/>
          <p:cNvSpPr txBox="1"/>
          <p:nvPr/>
        </p:nvSpPr>
        <p:spPr>
          <a:xfrm>
            <a:off x="3429000" y="2834640"/>
            <a:ext cx="2377440" cy="1188720"/>
          </a:xfrm>
          <a:prstGeom prst="roundRect">
            <a:avLst>
              <a:gd name="adj" fmla="val 6154"/>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400" b="1" dirty="0">
                <a:solidFill>
                  <a:schemeClr val="tx2"/>
                </a:solidFill>
              </a:rPr>
              <a:t>PVC data-pg-0</a:t>
            </a:r>
            <a:endParaRPr lang="en-US" sz="1400" dirty="0"/>
          </a:p>
          <a:p>
            <a:pPr algn="ctr" indent="0" marL="0">
              <a:buNone/>
            </a:pPr>
            <a:r>
              <a:rPr lang="en-US" sz="1200" dirty="0">
                <a:solidFill>
                  <a:schemeClr val="tx2"/>
                </a:solidFill>
              </a:rPr>
              <a:t>asks for 1Gi · ReadWriteOnce</a:t>
            </a:r>
            <a:endParaRPr lang="en-US" sz="1400" dirty="0"/>
          </a:p>
        </p:txBody>
      </p:sp>
      <p:sp>
        <p:nvSpPr>
          <p:cNvPr id="13" name="arrow"/>
          <p:cNvSpPr/>
          <p:nvPr/>
        </p:nvSpPr>
        <p:spPr>
          <a:xfrm>
            <a:off x="5843016" y="3429000"/>
            <a:ext cx="429768" cy="0"/>
          </a:xfrm>
          <a:prstGeom prst="line">
            <a:avLst/>
          </a:prstGeom>
          <a:noFill/>
          <a:ln w="28575">
            <a:solidFill>
              <a:schemeClr val="accent1"/>
            </a:solidFill>
            <a:prstDash val="solid"/>
            <a:tailEnd type="triangle"/>
          </a:ln>
        </p:spPr>
      </p:sp>
      <p:sp>
        <p:nvSpPr>
          <p:cNvPr id="14" name="Text 12"/>
          <p:cNvSpPr txBox="1"/>
          <p:nvPr/>
        </p:nvSpPr>
        <p:spPr>
          <a:xfrm>
            <a:off x="6309360" y="2834640"/>
            <a:ext cx="2377440" cy="1188720"/>
          </a:xfrm>
          <a:prstGeom prst="roundRect">
            <a:avLst>
              <a:gd name="adj" fmla="val 6154"/>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400" b="1" dirty="0">
                <a:solidFill>
                  <a:schemeClr val="tx2"/>
                </a:solidFill>
              </a:rPr>
              <a:t>PV pvc-…</a:t>
            </a:r>
            <a:endParaRPr lang="en-US" sz="1400" dirty="0"/>
          </a:p>
          <a:p>
            <a:pPr algn="ctr" indent="0" marL="0">
              <a:buNone/>
            </a:pPr>
            <a:r>
              <a:rPr lang="en-US" sz="1200" dirty="0">
                <a:solidFill>
                  <a:schemeClr val="tx2"/>
                </a:solidFill>
              </a:rPr>
              <a:t>the actual volume (Bound)</a:t>
            </a:r>
            <a:endParaRPr lang="en-US" sz="1400" dirty="0"/>
          </a:p>
        </p:txBody>
      </p:sp>
      <p:sp>
        <p:nvSpPr>
          <p:cNvPr id="15" name="arrow"/>
          <p:cNvSpPr/>
          <p:nvPr/>
        </p:nvSpPr>
        <p:spPr>
          <a:xfrm>
            <a:off x="8723376" y="3429000"/>
            <a:ext cx="429768" cy="0"/>
          </a:xfrm>
          <a:prstGeom prst="line">
            <a:avLst/>
          </a:prstGeom>
          <a:noFill/>
          <a:ln w="28575">
            <a:solidFill>
              <a:schemeClr val="accent1"/>
            </a:solidFill>
            <a:prstDash val="solid"/>
            <a:tailEnd type="triangle"/>
          </a:ln>
        </p:spPr>
      </p:sp>
      <p:sp>
        <p:nvSpPr>
          <p:cNvPr id="16" name="Text 14"/>
          <p:cNvSpPr txBox="1"/>
          <p:nvPr/>
        </p:nvSpPr>
        <p:spPr>
          <a:xfrm>
            <a:off x="9189720" y="2834640"/>
            <a:ext cx="2377440" cy="1188720"/>
          </a:xfrm>
          <a:prstGeom prst="roundRect">
            <a:avLst>
              <a:gd name="adj" fmla="val 6154"/>
            </a:avLst>
          </a:prstGeom>
          <a:solidFill>
            <a:schemeClr val="accent5">
              <a:alpha val="18000"/>
            </a:schemeClr>
          </a:solidFill>
          <a:ln w="12700">
            <a:solidFill>
              <a:schemeClr val="accent5"/>
            </a:solidFill>
          </a:ln>
        </p:spPr>
        <p:txBody>
          <a:bodyPr wrap="square" lIns="50800" tIns="101600" rIns="101600" bIns="50800" rtlCol="0" anchor="ctr"/>
          <a:lstStyle/>
          <a:p>
            <a:pPr algn="ctr" indent="0" marL="0">
              <a:buNone/>
            </a:pPr>
            <a:r>
              <a:rPr lang="en-US" sz="1400" b="1" dirty="0">
                <a:solidFill>
                  <a:schemeClr val="tx2"/>
                </a:solidFill>
              </a:rPr>
              <a:t>Node directory</a:t>
            </a:r>
            <a:endParaRPr lang="en-US" sz="1400" dirty="0"/>
          </a:p>
          <a:p>
            <a:pPr algn="ctr" indent="0" marL="0">
              <a:buNone/>
            </a:pPr>
            <a:r>
              <a:rPr lang="en-US" sz="1200" dirty="0">
                <a:solidFill>
                  <a:schemeClr val="tx2"/>
                </a:solidFill>
              </a:rPr>
              <a:t>/var/local-path-provisioner/…</a:t>
            </a:r>
            <a:endParaRPr lang="en-US" sz="1400" dirty="0"/>
          </a:p>
        </p:txBody>
      </p:sp>
      <p:sp>
        <p:nvSpPr>
          <p:cNvPr id="17" name="Text 15"/>
          <p:cNvSpPr txBox="1"/>
          <p:nvPr/>
        </p:nvSpPr>
        <p:spPr>
          <a:xfrm>
            <a:off x="548640" y="4434840"/>
            <a:ext cx="7315200" cy="274320"/>
          </a:xfrm>
          <a:prstGeom prst="rect">
            <a:avLst/>
          </a:prstGeom>
          <a:noFill/>
          <a:ln/>
        </p:spPr>
        <p:txBody>
          <a:bodyPr wrap="square" lIns="0" tIns="0" rIns="0" bIns="0" rtlCol="0" anchor="t"/>
          <a:lstStyle/>
          <a:p>
            <a:pPr indent="0" marL="0">
              <a:buNone/>
            </a:pPr>
            <a:r>
              <a:rPr lang="en-US" sz="1400" b="1" spc="100" kern="0" dirty="0">
                <a:solidFill>
                  <a:schemeClr val="accent1"/>
                </a:solidFill>
              </a:rPr>
              <a:t>WHY A STATEFULSET: stable name + stable storage</a:t>
            </a:r>
            <a:endParaRPr lang="en-US" sz="1400" dirty="0"/>
          </a:p>
        </p:txBody>
      </p:sp>
      <p:sp>
        <p:nvSpPr>
          <p:cNvPr id="18" name="Text 16"/>
          <p:cNvSpPr txBox="1"/>
          <p:nvPr/>
        </p:nvSpPr>
        <p:spPr>
          <a:xfrm>
            <a:off x="548640" y="4846320"/>
            <a:ext cx="3319272" cy="1097280"/>
          </a:xfrm>
          <a:prstGeom prst="roundRect">
            <a:avLst>
              <a:gd name="adj" fmla="val 6667"/>
            </a:avLst>
          </a:prstGeom>
          <a:solidFill>
            <a:schemeClr val="bg1"/>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1 · Delete the Pod</a:t>
            </a:r>
            <a:endParaRPr lang="en-US" sz="1400" dirty="0"/>
          </a:p>
          <a:p>
            <a:pPr algn="ctr" indent="0" marL="0">
              <a:buNone/>
            </a:pPr>
            <a:r>
              <a:rPr lang="en-US" sz="1300" dirty="0">
                <a:solidFill>
                  <a:schemeClr val="tx2"/>
                </a:solidFill>
              </a:rPr>
              <a:t>kubectl delete pod pg-0</a:t>
            </a:r>
            <a:endParaRPr lang="en-US" sz="1400" dirty="0"/>
          </a:p>
        </p:txBody>
      </p:sp>
      <p:sp>
        <p:nvSpPr>
          <p:cNvPr id="19" name="arrow"/>
          <p:cNvSpPr/>
          <p:nvPr/>
        </p:nvSpPr>
        <p:spPr>
          <a:xfrm>
            <a:off x="3904488" y="5394960"/>
            <a:ext cx="493776" cy="0"/>
          </a:xfrm>
          <a:prstGeom prst="line">
            <a:avLst/>
          </a:prstGeom>
          <a:noFill/>
          <a:ln w="28575">
            <a:solidFill>
              <a:schemeClr val="accent1"/>
            </a:solidFill>
            <a:prstDash val="solid"/>
            <a:tailEnd type="triangle"/>
          </a:ln>
        </p:spPr>
      </p:sp>
      <p:sp>
        <p:nvSpPr>
          <p:cNvPr id="20" name="Text 18"/>
          <p:cNvSpPr txBox="1"/>
          <p:nvPr/>
        </p:nvSpPr>
        <p:spPr>
          <a:xfrm>
            <a:off x="4434840" y="4846320"/>
            <a:ext cx="3319272" cy="1097280"/>
          </a:xfrm>
          <a:prstGeom prst="roundRect">
            <a:avLst>
              <a:gd name="adj" fmla="val 6667"/>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2 · New Pod, same name</a:t>
            </a:r>
            <a:endParaRPr lang="en-US" sz="1400" dirty="0"/>
          </a:p>
          <a:p>
            <a:pPr algn="ctr" indent="0" marL="0">
              <a:buNone/>
            </a:pPr>
            <a:r>
              <a:rPr lang="en-US" sz="1300" dirty="0">
                <a:solidFill>
                  <a:schemeClr val="tx2"/>
                </a:solidFill>
              </a:rPr>
              <a:t>pg-0 is created again</a:t>
            </a:r>
            <a:endParaRPr lang="en-US" sz="1400" dirty="0"/>
          </a:p>
        </p:txBody>
      </p:sp>
      <p:sp>
        <p:nvSpPr>
          <p:cNvPr id="21" name="arrow"/>
          <p:cNvSpPr/>
          <p:nvPr/>
        </p:nvSpPr>
        <p:spPr>
          <a:xfrm>
            <a:off x="7790688" y="5394960"/>
            <a:ext cx="493776" cy="0"/>
          </a:xfrm>
          <a:prstGeom prst="line">
            <a:avLst/>
          </a:prstGeom>
          <a:noFill/>
          <a:ln w="28575">
            <a:solidFill>
              <a:schemeClr val="accent1"/>
            </a:solidFill>
            <a:prstDash val="solid"/>
            <a:tailEnd type="triangle"/>
          </a:ln>
        </p:spPr>
      </p:sp>
      <p:sp>
        <p:nvSpPr>
          <p:cNvPr id="22" name="Text 20"/>
          <p:cNvSpPr txBox="1"/>
          <p:nvPr/>
        </p:nvSpPr>
        <p:spPr>
          <a:xfrm>
            <a:off x="8321040" y="4846320"/>
            <a:ext cx="3319272" cy="1097280"/>
          </a:xfrm>
          <a:prstGeom prst="roundRect">
            <a:avLst>
              <a:gd name="adj" fmla="val 6667"/>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500" b="1" dirty="0">
                <a:solidFill>
                  <a:schemeClr val="tx2"/>
                </a:solidFill>
              </a:rPr>
              <a:t>3 · Same PVC, same data</a:t>
            </a:r>
            <a:endParaRPr lang="en-US" sz="1400" dirty="0"/>
          </a:p>
          <a:p>
            <a:pPr algn="ctr" indent="0" marL="0">
              <a:buNone/>
            </a:pPr>
            <a:r>
              <a:rPr lang="en-US" sz="1300" dirty="0">
                <a:solidFill>
                  <a:schemeClr val="tx2"/>
                </a:solidFill>
              </a:rPr>
              <a:t>data-pg-0 re-attaches</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storageclass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Lists StorageClasses and the default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Know how PVCs will be provisioned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pvc,pv</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claims and volumes with status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Check a claim is Bound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describe pvc data-pg-0</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status, volume and Events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Debug a Pending claim</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statefulset,pods -l app=pg</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the StatefulSet and its Pods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Verify ordered, stable names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exec -it pg-0 -- psql -U postgres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Opens a SQL shell in the DB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Run queries, check data</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delete pod pg-0</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Deletes one Pod only</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Prove it returns with the same name and data</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delete statefulset pg</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Deletes the StatefulSet, keeps the PVCs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is kept on purpose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docker exec &lt;node&gt; ls /var/local-path-provisioner</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Lists volume folders on a kind node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See where the “disk” really lives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StatefulSet manifest</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6" name="terminal statefulset.yaml  (1/2)"/>
          <p:cNvSpPr/>
          <p:nvPr/>
        </p:nvSpPr>
        <p:spPr>
          <a:xfrm>
            <a:off x="548640" y="1371600"/>
            <a:ext cx="5410048" cy="4038600"/>
          </a:xfrm>
          <a:prstGeom prst="roundRect">
            <a:avLst>
              <a:gd name="adj" fmla="val 1358"/>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statefulset.yaml  (1/2)</a:t>
            </a:r>
            <a:endParaRPr lang="en-US" sz="1100" dirty="0"/>
          </a:p>
        </p:txBody>
      </p:sp>
      <p:sp>
        <p:nvSpPr>
          <p:cNvPr id="11" name="terminal text"/>
          <p:cNvSpPr txBox="1"/>
          <p:nvPr/>
        </p:nvSpPr>
        <p:spPr>
          <a:xfrm>
            <a:off x="749808" y="1828800"/>
            <a:ext cx="5007712" cy="348996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Service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pg</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spec:</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clusterIP: None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selector: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app: pg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ports: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port:</a:t>
            </a:r>
            <a:pPr indent="0" marL="0">
              <a:buNone/>
            </a:pPr>
            <a:r>
              <a:rPr lang="en-US" sz="1100" dirty="0">
                <a:solidFill>
                  <a:schemeClr val="bg1"/>
                </a:solidFill>
                <a:latin typeface="Courier New" pitchFamily="34" charset="0"/>
                <a:ea typeface="Courier New" pitchFamily="34" charset="-122"/>
                <a:cs typeface="Courier New" pitchFamily="34" charset="-120"/>
              </a:rPr>
              <a:t> 5432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apps/v1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StatefulSet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pg</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spec:</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serviceName: pg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replicas: 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selector: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matchLabels: {app: pg}</a:t>
            </a:r>
            <a:endParaRPr lang="en-US" sz="1100" dirty="0"/>
          </a:p>
        </p:txBody>
      </p:sp>
      <p:sp>
        <p:nvSpPr>
          <p:cNvPr id="12" name="Text 10"/>
          <p:cNvSpPr txBox="1"/>
          <p:nvPr/>
        </p:nvSpPr>
        <p:spPr>
          <a:xfrm>
            <a:off x="548640" y="5547360"/>
            <a:ext cx="5410048" cy="548640"/>
          </a:xfrm>
          <a:prstGeom prst="rect">
            <a:avLst/>
          </a:prstGeom>
          <a:noFill/>
          <a:ln/>
        </p:spPr>
        <p:txBody>
          <a:bodyPr wrap="square" lIns="0" tIns="0" rIns="0" bIns="0" rtlCol="0" anchor="t"/>
          <a:lstStyle/>
          <a:p>
            <a:pPr indent="0" marL="0">
              <a:buNone/>
            </a:pPr>
            <a:r>
              <a:rPr lang="en-US" sz="1400" dirty="0">
                <a:solidFill>
                  <a:schemeClr val="tx1"/>
                </a:solidFill>
              </a:rPr>
              <a:t>The headless Service (clusterIP: None) gives pg-0 a stable DNS name.</a:t>
            </a:r>
            <a:endParaRPr lang="en-US" sz="1400" dirty="0"/>
          </a:p>
        </p:txBody>
      </p:sp>
      <p:sp>
        <p:nvSpPr>
          <p:cNvPr id="13" name="terminal statefulset.yaml  (2/2)"/>
          <p:cNvSpPr/>
          <p:nvPr/>
        </p:nvSpPr>
        <p:spPr>
          <a:xfrm>
            <a:off x="6233008" y="1371600"/>
            <a:ext cx="5410048" cy="4038600"/>
          </a:xfrm>
          <a:prstGeom prst="roundRect">
            <a:avLst>
              <a:gd name="adj" fmla="val 1358"/>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statefulset.yaml  (2/2)</a:t>
            </a:r>
            <a:endParaRPr lang="en-US" sz="1100" dirty="0"/>
          </a:p>
        </p:txBody>
      </p:sp>
      <p:sp>
        <p:nvSpPr>
          <p:cNvPr id="18" name="terminal text"/>
          <p:cNvSpPr txBox="1"/>
          <p:nvPr/>
        </p:nvSpPr>
        <p:spPr>
          <a:xfrm>
            <a:off x="6434176" y="1828800"/>
            <a:ext cx="5007712" cy="348996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  template: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metadata: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labels: {app: pg}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spec: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containers: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postgres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 postgres:16-alpine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envFrom: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secretRef:</a:t>
            </a:r>
            <a:pPr indent="0" marL="0">
              <a:buNone/>
            </a:pPr>
            <a:r>
              <a:rPr lang="en-US" sz="1100" dirty="0">
                <a:solidFill>
                  <a:schemeClr val="bg1"/>
                </a:solidFill>
                <a:latin typeface="Courier New" pitchFamily="34" charset="0"/>
                <a:ea typeface="Courier New" pitchFamily="34" charset="-122"/>
                <a:cs typeface="Courier New" pitchFamily="34" charset="-120"/>
              </a:rPr>
              <a:t> {name: pg-secret}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volumeMounts: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data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mountPath: /var/lib/postgresql/data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volumeClaimTemplates: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r>
              <a:rPr lang="en-US" sz="1100" dirty="0">
                <a:solidFill>
                  <a:schemeClr val="bg1"/>
                </a:solidFill>
                <a:latin typeface="Courier New" pitchFamily="34" charset="0"/>
                <a:ea typeface="Courier New" pitchFamily="34" charset="-122"/>
                <a:cs typeface="Courier New" pitchFamily="34" charset="-120"/>
              </a:rPr>
              <a:t> {name: data}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spec: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accessModes: ["ReadWriteOnce"]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resources: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requests: {storage: 1Gi}</a:t>
            </a:r>
            <a:endParaRPr lang="en-US" sz="1100" dirty="0"/>
          </a:p>
        </p:txBody>
      </p:sp>
      <p:sp>
        <p:nvSpPr>
          <p:cNvPr id="19" name="Text 17"/>
          <p:cNvSpPr txBox="1"/>
          <p:nvPr/>
        </p:nvSpPr>
        <p:spPr>
          <a:xfrm>
            <a:off x="6233008" y="5547360"/>
            <a:ext cx="5410048" cy="548640"/>
          </a:xfrm>
          <a:prstGeom prst="rect">
            <a:avLst/>
          </a:prstGeom>
          <a:noFill/>
          <a:ln/>
        </p:spPr>
        <p:txBody>
          <a:bodyPr wrap="square" lIns="0" tIns="0" rIns="0" bIns="0" rtlCol="0" anchor="t"/>
          <a:lstStyle/>
          <a:p>
            <a:pPr indent="0" marL="0">
              <a:buNone/>
            </a:pPr>
            <a:r>
              <a:rPr lang="en-US" sz="1400" dirty="0">
                <a:solidFill>
                  <a:schemeClr val="tx1"/>
                </a:solidFill>
              </a:rPr>
              <a:t>envFrom loads every key of the Secret as an env var. volumeClaimTemplates creates one PVC per Pod: data-pg-0, data-pg-1 …</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Prove your data survives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The team needs a Postgres database. If the Pod dies, the data must not. You prove it, then clean up the storage on purpose.</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Look around. </a:t>
            </a:r>
            <a:pPr indent="0" marL="0">
              <a:buNone/>
            </a:pPr>
            <a:r>
              <a:rPr lang="en-US" sz="1400" dirty="0">
                <a:solidFill>
                  <a:schemeClr val="tx1"/>
                </a:solidFill>
              </a:rPr>
              <a:t>List StorageClasses and note which one is the default.</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Create the secret. </a:t>
            </a:r>
            <a:pPr indent="0" marL="0">
              <a:buNone/>
            </a:pPr>
            <a:r>
              <a:rPr lang="en-US" sz="1400" dirty="0">
                <a:solidFill>
                  <a:schemeClr val="tx1"/>
                </a:solidFill>
              </a:rPr>
              <a:t>Store POSTGRES_PASSWORD in a Secret named pg-secret.</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Deploy. </a:t>
            </a:r>
            <a:pPr indent="0" marL="0">
              <a:buNone/>
            </a:pPr>
            <a:r>
              <a:rPr lang="en-US" sz="1400" dirty="0">
                <a:solidFill>
                  <a:schemeClr val="tx1"/>
                </a:solidFill>
              </a:rPr>
              <a:t>Apply statefulset.yaml, wait for pg-0 to be Running and check the PVC is Bound.</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Write data. </a:t>
            </a:r>
            <a:pPr indent="0" marL="0">
              <a:buNone/>
            </a:pPr>
            <a:r>
              <a:rPr lang="en-US" sz="1400" dirty="0">
                <a:solidFill>
                  <a:schemeClr val="tx1"/>
                </a:solidFill>
              </a:rPr>
              <a:t>Open psql, create a table and insert a row.</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Kill the Pod. </a:t>
            </a:r>
            <a:pPr indent="0" marL="0">
              <a:buNone/>
            </a:pPr>
            <a:r>
              <a:rPr lang="en-US" sz="1400" dirty="0">
                <a:solidFill>
                  <a:schemeClr val="tx1"/>
                </a:solidFill>
              </a:rPr>
              <a:t>Delete pg-0, wait for it to return and query again. The row is still there.</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Clean up. </a:t>
            </a:r>
            <a:pPr indent="0" marL="0">
              <a:buNone/>
            </a:pPr>
            <a:r>
              <a:rPr lang="en-US" sz="1400" dirty="0">
                <a:solidFill>
                  <a:schemeClr val="tx1"/>
                </a:solidFill>
              </a:rPr>
              <a:t>Delete the StatefulSet, notice the PVC remains, then delete the PVC yourself.</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storageclass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create secret generic pg-secret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--from-literal=POSTGRES_PASSWORD=ChangeMe123</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apply -f statefulset.yaml</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pods,pvc -w</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exec -it pg-0 -- psql -U postgres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postgres=# </a:t>
            </a:r>
            <a:pPr indent="0" marL="0">
              <a:buNone/>
            </a:pPr>
            <a:r>
              <a:rPr lang="en-US" sz="1100" dirty="0">
                <a:solidFill>
                  <a:schemeClr val="bg1"/>
                </a:solidFill>
                <a:latin typeface="Courier New" pitchFamily="34" charset="0"/>
                <a:ea typeface="Courier New" pitchFamily="34" charset="-122"/>
                <a:cs typeface="Courier New" pitchFamily="34" charset="-120"/>
              </a:rPr>
              <a:t>CREATE TABLE notes(id serial, msg text);</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postgres=# </a:t>
            </a:r>
            <a:pPr indent="0" marL="0">
              <a:buNone/>
            </a:pPr>
            <a:r>
              <a:rPr lang="en-US" sz="1100" dirty="0">
                <a:solidFill>
                  <a:schemeClr val="bg1"/>
                </a:solidFill>
                <a:latin typeface="Courier New" pitchFamily="34" charset="0"/>
                <a:ea typeface="Courier New" pitchFamily="34" charset="-122"/>
                <a:cs typeface="Courier New" pitchFamily="34" charset="-120"/>
              </a:rPr>
              <a:t>INSERT INTO notes(msg) VALUES ('survives!');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postgres=# </a:t>
            </a:r>
            <a:pPr indent="0" marL="0">
              <a:buNone/>
            </a:pPr>
            <a:r>
              <a:rPr lang="en-US" sz="1100" dirty="0">
                <a:solidFill>
                  <a:schemeClr val="bg1"/>
                </a:solidFill>
                <a:latin typeface="Courier New" pitchFamily="34" charset="0"/>
                <a:ea typeface="Courier New" pitchFamily="34" charset="-122"/>
                <a:cs typeface="Courier New" pitchFamily="34" charset="-120"/>
              </a:rPr>
              <a:t>\q</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delete pod pg-0</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wait --for=condition=Ready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pod/pg-0 --timeout=90s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exec pg-0 -- psql -U postgres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 'SELECT * FROM notes;'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delete statefulset pg</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pvc            </a:t>
            </a:r>
            <a:pPr indent="0" marL="0">
              <a:buNone/>
            </a:pPr>
            <a:r>
              <a:rPr lang="en-US" sz="1100" dirty="0">
                <a:solidFill>
                  <a:schemeClr val="accent6"/>
                </a:solidFill>
                <a:latin typeface="Courier New" pitchFamily="34" charset="0"/>
                <a:ea typeface="Courier New" pitchFamily="34" charset="-122"/>
                <a:cs typeface="Courier New" pitchFamily="34" charset="-120"/>
              </a:rPr>
              <a:t> # data-pg-0 is still there</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delete pvc data-pg-0</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StorageClass standard is marked (default)</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PVC data-pg-0 shows Bound</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The notes row is still there after deleting pg-0</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Pod pg-0 came back with the same name</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deleted the leftover PVC yourself and can explain why it was kept</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PVC Pending?</a:t>
            </a:r>
            <a:pPr indent="0" marL="0">
              <a:spcAft>
                <a:spcPts val="700"/>
              </a:spcAft>
              <a:buNone/>
            </a:pPr>
            <a:r>
              <a:rPr lang="en-US" sz="1400" dirty="0">
                <a:solidFill>
                  <a:schemeClr val="tx1"/>
                </a:solidFill>
              </a:rPr>
              <a:t> kind uses WaitForFirstConsumer: it binds only after a Pod uses it. Check the Pod is scheduled.</a:t>
            </a:r>
            <a:endParaRPr lang="en-US" sz="1400" dirty="0"/>
          </a:p>
          <a:p>
            <a:pPr indent="0" marL="0">
              <a:spcAft>
                <a:spcPts val="700"/>
              </a:spcAft>
              <a:buNone/>
            </a:pPr>
            <a:r>
              <a:rPr lang="en-US" sz="1400" b="1" dirty="0">
                <a:solidFill>
                  <a:schemeClr val="tx1"/>
                </a:solidFill>
              </a:rPr>
              <a:t>Postgres CrashLoopBackOff?</a:t>
            </a:r>
            <a:pPr indent="0" marL="0">
              <a:spcAft>
                <a:spcPts val="700"/>
              </a:spcAft>
              <a:buNone/>
            </a:pPr>
            <a:r>
              <a:rPr lang="en-US" sz="1400" dirty="0">
                <a:solidFill>
                  <a:schemeClr val="tx1"/>
                </a:solidFill>
              </a:rPr>
              <a:t> kubectl logs pg-0. A missing pg-secret is the usual cause.</a:t>
            </a:r>
            <a:endParaRPr lang="en-US" sz="1400" dirty="0"/>
          </a:p>
          <a:p>
            <a:pPr indent="0" marL="0">
              <a:spcAft>
                <a:spcPts val="700"/>
              </a:spcAft>
              <a:buNone/>
            </a:pPr>
            <a:r>
              <a:rPr lang="en-US" sz="1400" b="1" dirty="0">
                <a:solidFill>
                  <a:schemeClr val="tx1"/>
                </a:solidFill>
              </a:rPr>
              <a:t>exec fails right after delete?</a:t>
            </a:r>
            <a:pPr indent="0" marL="0">
              <a:spcAft>
                <a:spcPts val="700"/>
              </a:spcAft>
              <a:buNone/>
            </a:pPr>
            <a:r>
              <a:rPr lang="en-US" sz="1400" dirty="0">
                <a:solidFill>
                  <a:schemeClr val="tx1"/>
                </a:solidFill>
              </a:rPr>
              <a:t> Wait first: kubectl wait --for=condition=Ready pod/pg-0.</a:t>
            </a:r>
            <a:endParaRPr lang="en-US" sz="1400" dirty="0"/>
          </a:p>
          <a:p>
            <a:pPr indent="0" marL="0">
              <a:spcAft>
                <a:spcPts val="700"/>
              </a:spcAft>
              <a:buNone/>
            </a:pPr>
            <a:r>
              <a:rPr lang="en-US" sz="1400" b="1" dirty="0">
                <a:solidFill>
                  <a:schemeClr val="tx1"/>
                </a:solidFill>
              </a:rPr>
              <a:t>Deleting the kind cluster deletes all PV data.</a:t>
            </a:r>
            <a:pPr indent="0" marL="0">
              <a:spcAft>
                <a:spcPts val="700"/>
              </a:spcAft>
              <a:buNone/>
            </a:pPr>
            <a:r>
              <a:rPr lang="en-US" sz="1400" dirty="0">
                <a:solidFill>
                  <a:schemeClr val="tx1"/>
                </a:solidFill>
              </a:rPr>
              <a:t> The “disk” lives inside the node containers.</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day5-storage/ with statefulset.yaml, screenshots of kubectl get pvc and the SELECT before and after deleting the Pod, and a README on PV vs PVC.</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5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5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PV vs PVC vs StorageClass?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PV is the storage. PVC is a Pod’s request for it. StorageClass tells Kubernetes how to create PVs dynamically when a PVC appears.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Deployment vs StatefulSet?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Deployment Pods are interchangeable. A StatefulSet gives stable names, ordered rollout and a separate PVC per Pod.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You delete a StatefulSet. What happens to the data?</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Pods go but the PVCs stay by default, so data is not lost by accident. Delete the PVCs yourself when sure.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What do the access modes mean?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ReadWriteOnce: one node, read-write. ReadOnlyMany: many nodes, read-only. ReadWriteMany: many nodes, read-write (needs shared storage like NFS).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Why is kind’s local-path storage not for production?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Data sits on one node’s disk. Lose the node, lose the data. Production uses replicated or cloud-backed CSI volumes.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FaHeartbeat" descr="FaHeartbeat">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6</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Health, Resources &amp; Autoscaling</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Intermediate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Probes · Requests &amp; limits · QoS · metrics-server · HPA</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tell Kubernetes how to check your app is healthy, set resource requests and limits, and autoscale a Deployment under load.</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Install metrics-server on kind</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Set requests, limits and probes</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Create a HorizontalPodAutoscaler</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Generate load and watch it scale</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A Deployment that autoscales from 1 to 5 Pods under load</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Health, Resources &amp; Autoscaling</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6" name="card Probes"/>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Stethoscope" descr="FaStethoscope">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Probes</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Readiness:</a:t>
            </a:r>
            <a:pPr indent="0" marL="0">
              <a:spcAft>
                <a:spcPts val="600"/>
              </a:spcAft>
              <a:buNone/>
            </a:pPr>
            <a:r>
              <a:rPr lang="en-US" sz="1500" dirty="0">
                <a:solidFill>
                  <a:schemeClr val="tx1"/>
                </a:solidFill>
              </a:rPr>
              <a:t> ready for traffic? If not, the Pod leaves Service endpoints. </a:t>
            </a:r>
            <a:pPr indent="0" marL="0">
              <a:spcAft>
                <a:spcPts val="600"/>
              </a:spcAft>
              <a:buNone/>
            </a:pPr>
            <a:r>
              <a:rPr lang="en-US" sz="1500" b="1" dirty="0">
                <a:solidFill>
                  <a:schemeClr val="tx1"/>
                </a:solidFill>
              </a:rPr>
              <a:t>Liveness:</a:t>
            </a:r>
            <a:pPr indent="0" marL="0">
              <a:spcAft>
                <a:spcPts val="600"/>
              </a:spcAft>
              <a:buNone/>
            </a:pPr>
            <a:r>
              <a:rPr lang="en-US" sz="1500" dirty="0">
                <a:solidFill>
                  <a:schemeClr val="tx1"/>
                </a:solidFill>
              </a:rPr>
              <a:t> stuck? If it fails, the kubelet restarts the container. </a:t>
            </a:r>
            <a:pPr indent="0" marL="0">
              <a:spcAft>
                <a:spcPts val="600"/>
              </a:spcAft>
              <a:buNone/>
            </a:pPr>
            <a:r>
              <a:rPr lang="en-US" sz="1500" b="1" dirty="0">
                <a:solidFill>
                  <a:schemeClr val="tx1"/>
                </a:solidFill>
              </a:rPr>
              <a:t>Startup:</a:t>
            </a:r>
            <a:pPr indent="0" marL="0">
              <a:spcAft>
                <a:spcPts val="600"/>
              </a:spcAft>
              <a:buNone/>
            </a:pPr>
            <a:r>
              <a:rPr lang="en-US" sz="1500" dirty="0">
                <a:solidFill>
                  <a:schemeClr val="tx1"/>
                </a:solidFill>
              </a:rPr>
              <a:t> gives slow apps time to boot.</a:t>
            </a:r>
            <a:endParaRPr lang="en-US" sz="1500" dirty="0"/>
          </a:p>
        </p:txBody>
      </p:sp>
      <p:sp>
        <p:nvSpPr>
          <p:cNvPr id="11" name="card Requests and limits"/>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BalanceScale" descr="FaBalanceScale">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Requests and limits</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Request</a:t>
            </a:r>
            <a:pPr indent="0" marL="0">
              <a:spcAft>
                <a:spcPts val="600"/>
              </a:spcAft>
              <a:buNone/>
            </a:pPr>
            <a:r>
              <a:rPr lang="en-US" sz="1500" dirty="0">
                <a:solidFill>
                  <a:schemeClr val="tx1"/>
                </a:solidFill>
              </a:rPr>
              <a:t> = what the scheduler reserves. </a:t>
            </a:r>
            <a:pPr indent="0" marL="0">
              <a:spcAft>
                <a:spcPts val="600"/>
              </a:spcAft>
              <a:buNone/>
            </a:pPr>
            <a:r>
              <a:rPr lang="en-US" sz="1500" b="1" dirty="0">
                <a:solidFill>
                  <a:schemeClr val="tx1"/>
                </a:solidFill>
              </a:rPr>
              <a:t>Limit</a:t>
            </a:r>
            <a:pPr indent="0" marL="0">
              <a:spcAft>
                <a:spcPts val="600"/>
              </a:spcAft>
              <a:buNone/>
            </a:pPr>
            <a:r>
              <a:rPr lang="en-US" sz="1500" dirty="0">
                <a:solidFill>
                  <a:schemeClr val="tx1"/>
                </a:solidFill>
              </a:rPr>
              <a:t> = the ceiling. Over the CPU limit: throttled. Over the memory limit: </a:t>
            </a:r>
            <a:pPr indent="0" marL="0">
              <a:spcAft>
                <a:spcPts val="600"/>
              </a:spcAft>
              <a:buNone/>
            </a:pPr>
            <a:r>
              <a:rPr lang="en-US" sz="1500" b="1" dirty="0">
                <a:solidFill>
                  <a:schemeClr val="tx1"/>
                </a:solidFill>
              </a:rPr>
              <a:t>OOMKilled</a:t>
            </a:r>
            <a:pPr indent="0" marL="0">
              <a:spcAft>
                <a:spcPts val="600"/>
              </a:spcAft>
              <a:buNone/>
            </a:pPr>
            <a:r>
              <a:rPr lang="en-US" sz="1500" dirty="0">
                <a:solidFill>
                  <a:schemeClr val="tx1"/>
                </a:solidFill>
              </a:rPr>
              <a:t>.</a:t>
            </a:r>
            <a:endParaRPr lang="en-US" sz="1500" dirty="0"/>
          </a:p>
          <a:p>
            <a:pPr indent="0" marL="0">
              <a:spcAft>
                <a:spcPts val="600"/>
              </a:spcAft>
              <a:buNone/>
            </a:pPr>
            <a:r>
              <a:rPr lang="en-US" sz="1500" dirty="0">
                <a:solidFill>
                  <a:schemeClr val="tx1"/>
                </a:solidFill>
              </a:rPr>
              <a:t>Always set requests: scheduling and HPA depend on them.</a:t>
            </a:r>
            <a:endParaRPr lang="en-US" sz="1500" dirty="0"/>
          </a:p>
        </p:txBody>
      </p:sp>
      <p:sp>
        <p:nvSpPr>
          <p:cNvPr id="16" name="card QoS classes"/>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LayerGroup" descr="FaLayerGroup">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QoS classes</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Guaranteed</a:t>
            </a:r>
            <a:pPr indent="0" marL="0">
              <a:spcAft>
                <a:spcPts val="600"/>
              </a:spcAft>
              <a:buNone/>
            </a:pPr>
            <a:r>
              <a:rPr lang="en-US" sz="1500" dirty="0">
                <a:solidFill>
                  <a:schemeClr val="tx1"/>
                </a:solidFill>
              </a:rPr>
              <a:t> (requests = limits), </a:t>
            </a:r>
            <a:pPr indent="0" marL="0">
              <a:spcAft>
                <a:spcPts val="600"/>
              </a:spcAft>
              <a:buNone/>
            </a:pPr>
            <a:r>
              <a:rPr lang="en-US" sz="1500" b="1" dirty="0">
                <a:solidFill>
                  <a:schemeClr val="tx1"/>
                </a:solidFill>
              </a:rPr>
              <a:t>Burstable</a:t>
            </a:r>
            <a:pPr indent="0" marL="0">
              <a:spcAft>
                <a:spcPts val="600"/>
              </a:spcAft>
              <a:buNone/>
            </a:pPr>
            <a:r>
              <a:rPr lang="en-US" sz="1500" dirty="0">
                <a:solidFill>
                  <a:schemeClr val="tx1"/>
                </a:solidFill>
              </a:rPr>
              <a:t> (some requests), </a:t>
            </a:r>
            <a:pPr indent="0" marL="0">
              <a:spcAft>
                <a:spcPts val="600"/>
              </a:spcAft>
              <a:buNone/>
            </a:pPr>
            <a:r>
              <a:rPr lang="en-US" sz="1500" b="1" dirty="0">
                <a:solidFill>
                  <a:schemeClr val="tx1"/>
                </a:solidFill>
              </a:rPr>
              <a:t>BestEffort</a:t>
            </a:r>
            <a:pPr indent="0" marL="0">
              <a:spcAft>
                <a:spcPts val="600"/>
              </a:spcAft>
              <a:buNone/>
            </a:pPr>
            <a:r>
              <a:rPr lang="en-US" sz="1500" dirty="0">
                <a:solidFill>
                  <a:schemeClr val="tx1"/>
                </a:solidFill>
              </a:rPr>
              <a:t> (none).</a:t>
            </a:r>
            <a:endParaRPr lang="en-US" sz="1500" dirty="0"/>
          </a:p>
          <a:p>
            <a:pPr indent="0" marL="0">
              <a:spcAft>
                <a:spcPts val="600"/>
              </a:spcAft>
              <a:buNone/>
            </a:pPr>
            <a:r>
              <a:rPr lang="en-US" sz="1500" dirty="0">
                <a:solidFill>
                  <a:schemeClr val="tx1"/>
                </a:solidFill>
              </a:rPr>
              <a:t>When a node runs short, BestEffort Pods are evicted first.</a:t>
            </a:r>
            <a:endParaRPr lang="en-US" sz="1500" dirty="0"/>
          </a:p>
        </p:txBody>
      </p:sp>
      <p:sp>
        <p:nvSpPr>
          <p:cNvPr id="21" name="card HorizontalPodAutoscaler"/>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TachometerAlt" descr="FaTachometerAlt">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HorizontalPodAutoscaler</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metrics-server collects CPU and memory. The HPA compares usage to a target (say 50% of requests) and changes replicas between min and max.</a:t>
            </a:r>
            <a:endParaRPr lang="en-US" sz="1500" dirty="0"/>
          </a:p>
          <a:p>
            <a:pPr indent="0" marL="0">
              <a:spcAft>
                <a:spcPts val="600"/>
              </a:spcAft>
              <a:buNone/>
            </a:pPr>
            <a:r>
              <a:rPr lang="en-US" sz="1500" dirty="0">
                <a:solidFill>
                  <a:schemeClr val="tx1"/>
                </a:solidFill>
              </a:rPr>
              <a:t>On kind, metrics-server needs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--kubelet-insecure-tls</a:t>
            </a:r>
            <a:pPr indent="0" marL="0">
              <a:spcAft>
                <a:spcPts val="600"/>
              </a:spcAft>
              <a:buNone/>
            </a:pP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Probes and the autoscaling loop</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6" name="Text 4"/>
          <p:cNvSpPr txBox="1"/>
          <p:nvPr/>
        </p:nvSpPr>
        <p:spPr>
          <a:xfrm>
            <a:off x="548640" y="1371600"/>
            <a:ext cx="457200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PROBES</a:t>
            </a:r>
            <a:endParaRPr lang="en-US" sz="1400" dirty="0"/>
          </a:p>
        </p:txBody>
      </p:sp>
      <p:sp>
        <p:nvSpPr>
          <p:cNvPr id="7" name="Text 5"/>
          <p:cNvSpPr txBox="1"/>
          <p:nvPr/>
        </p:nvSpPr>
        <p:spPr>
          <a:xfrm>
            <a:off x="6400800" y="1371600"/>
            <a:ext cx="4572000" cy="274320"/>
          </a:xfrm>
          <a:prstGeom prst="rect">
            <a:avLst/>
          </a:prstGeom>
          <a:noFill/>
          <a:ln/>
        </p:spPr>
        <p:txBody>
          <a:bodyPr wrap="square" lIns="0" tIns="0" rIns="0" bIns="0" rtlCol="0" anchor="t"/>
          <a:lstStyle/>
          <a:p>
            <a:pPr indent="0" marL="0">
              <a:buNone/>
            </a:pPr>
            <a:r>
              <a:rPr lang="en-US" sz="1400" b="1" spc="200" kern="0" dirty="0">
                <a:solidFill>
                  <a:schemeClr val="accent1"/>
                </a:solidFill>
              </a:rPr>
              <a:t>AUTOSCALING LOOP</a:t>
            </a:r>
            <a:endParaRPr lang="en-US" sz="1400" dirty="0"/>
          </a:p>
        </p:txBody>
      </p:sp>
      <p:sp>
        <p:nvSpPr>
          <p:cNvPr id="8" name="Text 6"/>
          <p:cNvSpPr txBox="1"/>
          <p:nvPr/>
        </p:nvSpPr>
        <p:spPr>
          <a:xfrm>
            <a:off x="548640" y="1783080"/>
            <a:ext cx="5239512" cy="777240"/>
          </a:xfrm>
          <a:prstGeom prst="roundRect">
            <a:avLst>
              <a:gd name="adj" fmla="val 9412"/>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Pod starts</a:t>
            </a:r>
            <a:endParaRPr lang="en-US" sz="1400" dirty="0"/>
          </a:p>
          <a:p>
            <a:pPr algn="ctr" indent="0" marL="0">
              <a:buNone/>
            </a:pPr>
            <a:r>
              <a:rPr lang="en-US" sz="1300" dirty="0">
                <a:solidFill>
                  <a:schemeClr val="tx2"/>
                </a:solidFill>
              </a:rPr>
              <a:t>startup probe holds the others back</a:t>
            </a:r>
            <a:endParaRPr lang="en-US" sz="1400" dirty="0"/>
          </a:p>
        </p:txBody>
      </p:sp>
      <p:sp>
        <p:nvSpPr>
          <p:cNvPr id="9" name="arrow"/>
          <p:cNvSpPr/>
          <p:nvPr/>
        </p:nvSpPr>
        <p:spPr>
          <a:xfrm>
            <a:off x="3168396" y="2587752"/>
            <a:ext cx="0" cy="246888"/>
          </a:xfrm>
          <a:prstGeom prst="line">
            <a:avLst/>
          </a:prstGeom>
          <a:noFill/>
          <a:ln w="28575">
            <a:solidFill>
              <a:schemeClr val="accent1"/>
            </a:solidFill>
            <a:prstDash val="solid"/>
            <a:tailEnd type="triangle"/>
          </a:ln>
        </p:spPr>
      </p:sp>
      <p:sp>
        <p:nvSpPr>
          <p:cNvPr id="10" name="Text 8"/>
          <p:cNvSpPr txBox="1"/>
          <p:nvPr/>
        </p:nvSpPr>
        <p:spPr>
          <a:xfrm>
            <a:off x="548640" y="2862072"/>
            <a:ext cx="5239512" cy="777240"/>
          </a:xfrm>
          <a:prstGeom prst="roundRect">
            <a:avLst>
              <a:gd name="adj" fmla="val 9412"/>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500" b="1" dirty="0">
                <a:solidFill>
                  <a:schemeClr val="tx2"/>
                </a:solidFill>
              </a:rPr>
              <a:t>Readiness passes</a:t>
            </a:r>
            <a:endParaRPr lang="en-US" sz="1400" dirty="0"/>
          </a:p>
          <a:p>
            <a:pPr algn="ctr" indent="0" marL="0">
              <a:buNone/>
            </a:pPr>
            <a:r>
              <a:rPr lang="en-US" sz="1300" dirty="0">
                <a:solidFill>
                  <a:schemeClr val="tx2"/>
                </a:solidFill>
              </a:rPr>
              <a:t>Pod joins the Service endpoints</a:t>
            </a:r>
            <a:endParaRPr lang="en-US" sz="1400" dirty="0"/>
          </a:p>
        </p:txBody>
      </p:sp>
      <p:sp>
        <p:nvSpPr>
          <p:cNvPr id="11" name="arrow"/>
          <p:cNvSpPr/>
          <p:nvPr/>
        </p:nvSpPr>
        <p:spPr>
          <a:xfrm>
            <a:off x="3168396" y="3666744"/>
            <a:ext cx="0" cy="246888"/>
          </a:xfrm>
          <a:prstGeom prst="line">
            <a:avLst/>
          </a:prstGeom>
          <a:noFill/>
          <a:ln w="28575">
            <a:solidFill>
              <a:schemeClr val="accent1"/>
            </a:solidFill>
            <a:prstDash val="solid"/>
            <a:tailEnd type="triangle"/>
          </a:ln>
        </p:spPr>
      </p:sp>
      <p:sp>
        <p:nvSpPr>
          <p:cNvPr id="12" name="Text 10"/>
          <p:cNvSpPr txBox="1"/>
          <p:nvPr/>
        </p:nvSpPr>
        <p:spPr>
          <a:xfrm>
            <a:off x="548640" y="3941064"/>
            <a:ext cx="5239512" cy="777240"/>
          </a:xfrm>
          <a:prstGeom prst="roundRect">
            <a:avLst>
              <a:gd name="adj" fmla="val 9412"/>
            </a:avLst>
          </a:prstGeom>
          <a:solidFill>
            <a:schemeClr val="accent4">
              <a:alpha val="18000"/>
            </a:schemeClr>
          </a:solidFill>
          <a:ln w="12700">
            <a:solidFill>
              <a:schemeClr val="accent4"/>
            </a:solidFill>
          </a:ln>
        </p:spPr>
        <p:txBody>
          <a:bodyPr wrap="square" lIns="50800" tIns="101600" rIns="101600" bIns="50800" rtlCol="0" anchor="ctr"/>
          <a:lstStyle/>
          <a:p>
            <a:pPr algn="ctr" indent="0" marL="0">
              <a:buNone/>
            </a:pPr>
            <a:r>
              <a:rPr lang="en-US" sz="1500" b="1" dirty="0">
                <a:solidFill>
                  <a:schemeClr val="tx2"/>
                </a:solidFill>
              </a:rPr>
              <a:t>Readiness fails</a:t>
            </a:r>
            <a:endParaRPr lang="en-US" sz="1400" dirty="0"/>
          </a:p>
          <a:p>
            <a:pPr algn="ctr" indent="0" marL="0">
              <a:buNone/>
            </a:pPr>
            <a:r>
              <a:rPr lang="en-US" sz="1300" dirty="0">
                <a:solidFill>
                  <a:schemeClr val="tx2"/>
                </a:solidFill>
              </a:rPr>
              <a:t>Pod leaves endpoints, no restart</a:t>
            </a:r>
            <a:endParaRPr lang="en-US" sz="1400" dirty="0"/>
          </a:p>
        </p:txBody>
      </p:sp>
      <p:sp>
        <p:nvSpPr>
          <p:cNvPr id="13" name="arrow"/>
          <p:cNvSpPr/>
          <p:nvPr/>
        </p:nvSpPr>
        <p:spPr>
          <a:xfrm>
            <a:off x="3168396" y="4745736"/>
            <a:ext cx="0" cy="246888"/>
          </a:xfrm>
          <a:prstGeom prst="line">
            <a:avLst/>
          </a:prstGeom>
          <a:noFill/>
          <a:ln w="28575">
            <a:solidFill>
              <a:schemeClr val="accent1"/>
            </a:solidFill>
            <a:prstDash val="solid"/>
            <a:tailEnd type="triangle"/>
          </a:ln>
        </p:spPr>
      </p:sp>
      <p:sp>
        <p:nvSpPr>
          <p:cNvPr id="14" name="Text 12"/>
          <p:cNvSpPr txBox="1"/>
          <p:nvPr/>
        </p:nvSpPr>
        <p:spPr>
          <a:xfrm>
            <a:off x="548640" y="5020056"/>
            <a:ext cx="5239512" cy="777240"/>
          </a:xfrm>
          <a:prstGeom prst="roundRect">
            <a:avLst>
              <a:gd name="adj" fmla="val 9412"/>
            </a:avLst>
          </a:prstGeom>
          <a:solidFill>
            <a:schemeClr val="accent5">
              <a:alpha val="18000"/>
            </a:schemeClr>
          </a:solidFill>
          <a:ln w="12700">
            <a:solidFill>
              <a:schemeClr val="accent5"/>
            </a:solidFill>
          </a:ln>
        </p:spPr>
        <p:txBody>
          <a:bodyPr wrap="square" lIns="50800" tIns="101600" rIns="101600" bIns="50800" rtlCol="0" anchor="ctr"/>
          <a:lstStyle/>
          <a:p>
            <a:pPr algn="ctr" indent="0" marL="0">
              <a:buNone/>
            </a:pPr>
            <a:r>
              <a:rPr lang="en-US" sz="1500" b="1" dirty="0">
                <a:solidFill>
                  <a:schemeClr val="tx2"/>
                </a:solidFill>
              </a:rPr>
              <a:t>Liveness fails 3 times</a:t>
            </a:r>
            <a:endParaRPr lang="en-US" sz="1400" dirty="0"/>
          </a:p>
          <a:p>
            <a:pPr algn="ctr" indent="0" marL="0">
              <a:buNone/>
            </a:pPr>
            <a:r>
              <a:rPr lang="en-US" sz="1300" dirty="0">
                <a:solidFill>
                  <a:schemeClr val="tx2"/>
                </a:solidFill>
              </a:rPr>
              <a:t>kubelet restarts the container</a:t>
            </a:r>
            <a:endParaRPr lang="en-US" sz="1400" dirty="0"/>
          </a:p>
        </p:txBody>
      </p:sp>
      <p:sp>
        <p:nvSpPr>
          <p:cNvPr id="15" name="Text 13"/>
          <p:cNvSpPr txBox="1"/>
          <p:nvPr/>
        </p:nvSpPr>
        <p:spPr>
          <a:xfrm>
            <a:off x="6400800" y="1783080"/>
            <a:ext cx="5239512" cy="777240"/>
          </a:xfrm>
          <a:prstGeom prst="roundRect">
            <a:avLst>
              <a:gd name="adj" fmla="val 9412"/>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metrics-server</a:t>
            </a:r>
            <a:endParaRPr lang="en-US" sz="1400" dirty="0"/>
          </a:p>
          <a:p>
            <a:pPr algn="ctr" indent="0" marL="0">
              <a:buNone/>
            </a:pPr>
            <a:r>
              <a:rPr lang="en-US" sz="1300" dirty="0">
                <a:solidFill>
                  <a:schemeClr val="tx2"/>
                </a:solidFill>
              </a:rPr>
              <a:t>reads CPU and memory from each kubelet</a:t>
            </a:r>
            <a:endParaRPr lang="en-US" sz="1400" dirty="0"/>
          </a:p>
        </p:txBody>
      </p:sp>
      <p:sp>
        <p:nvSpPr>
          <p:cNvPr id="16" name="arrow"/>
          <p:cNvSpPr/>
          <p:nvPr/>
        </p:nvSpPr>
        <p:spPr>
          <a:xfrm>
            <a:off x="9020556" y="2587752"/>
            <a:ext cx="0" cy="246888"/>
          </a:xfrm>
          <a:prstGeom prst="line">
            <a:avLst/>
          </a:prstGeom>
          <a:noFill/>
          <a:ln w="28575">
            <a:solidFill>
              <a:schemeClr val="accent1"/>
            </a:solidFill>
            <a:prstDash val="solid"/>
            <a:tailEnd type="triangle"/>
          </a:ln>
        </p:spPr>
      </p:sp>
      <p:sp>
        <p:nvSpPr>
          <p:cNvPr id="17" name="Text 15"/>
          <p:cNvSpPr txBox="1"/>
          <p:nvPr/>
        </p:nvSpPr>
        <p:spPr>
          <a:xfrm>
            <a:off x="6400800" y="2862072"/>
            <a:ext cx="5239512" cy="777240"/>
          </a:xfrm>
          <a:prstGeom prst="roundRect">
            <a:avLst>
              <a:gd name="adj" fmla="val 9412"/>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500" b="1" dirty="0">
                <a:solidFill>
                  <a:schemeClr val="tx2"/>
                </a:solidFill>
              </a:rPr>
              <a:t>HPA compares usage to target</a:t>
            </a:r>
            <a:endParaRPr lang="en-US" sz="1400" dirty="0"/>
          </a:p>
          <a:p>
            <a:pPr algn="ctr" indent="0" marL="0">
              <a:buNone/>
            </a:pPr>
            <a:r>
              <a:rPr lang="en-US" sz="1300" dirty="0">
                <a:solidFill>
                  <a:schemeClr val="tx2"/>
                </a:solidFill>
              </a:rPr>
              <a:t>80% vs 50%: ceil(2 × 80 / 50) = 4</a:t>
            </a:r>
            <a:endParaRPr lang="en-US" sz="1400" dirty="0"/>
          </a:p>
        </p:txBody>
      </p:sp>
      <p:sp>
        <p:nvSpPr>
          <p:cNvPr id="18" name="arrow"/>
          <p:cNvSpPr/>
          <p:nvPr/>
        </p:nvSpPr>
        <p:spPr>
          <a:xfrm>
            <a:off x="9020556" y="3666744"/>
            <a:ext cx="0" cy="246888"/>
          </a:xfrm>
          <a:prstGeom prst="line">
            <a:avLst/>
          </a:prstGeom>
          <a:noFill/>
          <a:ln w="28575">
            <a:solidFill>
              <a:schemeClr val="accent1"/>
            </a:solidFill>
            <a:prstDash val="solid"/>
            <a:tailEnd type="triangle"/>
          </a:ln>
        </p:spPr>
      </p:sp>
      <p:sp>
        <p:nvSpPr>
          <p:cNvPr id="19" name="Text 17"/>
          <p:cNvSpPr txBox="1"/>
          <p:nvPr/>
        </p:nvSpPr>
        <p:spPr>
          <a:xfrm>
            <a:off x="6400800" y="3941064"/>
            <a:ext cx="5239512" cy="777240"/>
          </a:xfrm>
          <a:prstGeom prst="roundRect">
            <a:avLst>
              <a:gd name="adj" fmla="val 9412"/>
            </a:avLst>
          </a:prstGeom>
          <a:solidFill>
            <a:schemeClr val="accent3">
              <a:alpha val="20000"/>
            </a:schemeClr>
          </a:solidFill>
          <a:ln w="12700">
            <a:solidFill>
              <a:schemeClr val="accent3"/>
            </a:solidFill>
          </a:ln>
        </p:spPr>
        <p:txBody>
          <a:bodyPr wrap="square" lIns="50800" tIns="101600" rIns="101600" bIns="50800" rtlCol="0" anchor="ctr"/>
          <a:lstStyle/>
          <a:p>
            <a:pPr algn="ctr" indent="0" marL="0">
              <a:buNone/>
            </a:pPr>
            <a:r>
              <a:rPr lang="en-US" sz="1500" b="1" dirty="0">
                <a:solidFill>
                  <a:schemeClr val="tx2"/>
                </a:solidFill>
              </a:rPr>
              <a:t>Deployment replicas: 2 → 4</a:t>
            </a:r>
            <a:endParaRPr lang="en-US" sz="1400" dirty="0"/>
          </a:p>
          <a:p>
            <a:pPr algn="ctr" indent="0" marL="0">
              <a:buNone/>
            </a:pPr>
            <a:r>
              <a:rPr lang="en-US" sz="1300" dirty="0">
                <a:solidFill>
                  <a:schemeClr val="tx2"/>
                </a:solidFill>
              </a:rPr>
              <a:t>kept between min 1 and max 5</a:t>
            </a:r>
            <a:endParaRPr lang="en-US" sz="1400" dirty="0"/>
          </a:p>
        </p:txBody>
      </p:sp>
      <p:sp>
        <p:nvSpPr>
          <p:cNvPr id="20" name="arrow"/>
          <p:cNvSpPr/>
          <p:nvPr/>
        </p:nvSpPr>
        <p:spPr>
          <a:xfrm>
            <a:off x="9020556" y="4745736"/>
            <a:ext cx="0" cy="246888"/>
          </a:xfrm>
          <a:prstGeom prst="line">
            <a:avLst/>
          </a:prstGeom>
          <a:noFill/>
          <a:ln w="28575">
            <a:solidFill>
              <a:schemeClr val="accent1"/>
            </a:solidFill>
            <a:prstDash val="solid"/>
            <a:tailEnd type="triangle"/>
          </a:ln>
        </p:spPr>
      </p:sp>
      <p:sp>
        <p:nvSpPr>
          <p:cNvPr id="21" name="Text 19"/>
          <p:cNvSpPr txBox="1"/>
          <p:nvPr/>
        </p:nvSpPr>
        <p:spPr>
          <a:xfrm>
            <a:off x="6400800" y="5020056"/>
            <a:ext cx="5239512" cy="777240"/>
          </a:xfrm>
          <a:prstGeom prst="roundRect">
            <a:avLst>
              <a:gd name="adj" fmla="val 9412"/>
            </a:avLst>
          </a:prstGeom>
          <a:solidFill>
            <a:schemeClr val="accent1">
              <a:alpha val="15000"/>
            </a:schemeClr>
          </a:solidFill>
          <a:ln w="12700">
            <a:solidFill>
              <a:schemeClr val="accent1"/>
            </a:solidFill>
          </a:ln>
        </p:spPr>
        <p:txBody>
          <a:bodyPr wrap="square" lIns="50800" tIns="101600" rIns="101600" bIns="50800" rtlCol="0" anchor="ctr"/>
          <a:lstStyle/>
          <a:p>
            <a:pPr algn="ctr" indent="0" marL="0">
              <a:buNone/>
            </a:pPr>
            <a:r>
              <a:rPr lang="en-US" sz="1500" b="1" dirty="0">
                <a:solidFill>
                  <a:schemeClr val="tx2"/>
                </a:solidFill>
              </a:rPr>
              <a:t>More Pods share the load</a:t>
            </a:r>
            <a:endParaRPr lang="en-US" sz="1400" dirty="0"/>
          </a:p>
          <a:p>
            <a:pPr algn="ctr" indent="0" marL="0">
              <a:buNone/>
            </a:pPr>
            <a:r>
              <a:rPr lang="en-US" sz="1300" dirty="0">
                <a:solidFill>
                  <a:schemeClr val="tx2"/>
                </a:solidFill>
              </a:rPr>
              <a:t>CPU % falls, the loop repeats</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top nodes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Shows CPU and memory per node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Capacity check (needs metrics-server)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top pods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CPU and memory per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Find the noisy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set resources deploy php-apache --requests=cpu=200m --limits=cpu=500m</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Sets requests and limits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Right-size a workload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autoscale deploy php-apache --cpu-percent=50 --min=1 --max=5</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Creates an HPA</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Scale by load automatically</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hpa -w</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Watches target vs current CPU and replicas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See autoscaling decisions live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describe pod &lt;pod&gt;</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Events and Last State (OOMKilled, probe failures)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Why did it restart?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events --sort-by=.lastTimestamp</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Lists cluster events, newest last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timeline of what just happened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get pod &lt;pod&gt; -o jsonpath='{.status.qosClass}'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Prints the QoS class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Know the eviction order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Probes, limits and HPA</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6" name="terminal php-apache.yaml  (container)"/>
          <p:cNvSpPr/>
          <p:nvPr/>
        </p:nvSpPr>
        <p:spPr>
          <a:xfrm>
            <a:off x="548640" y="1371600"/>
            <a:ext cx="5410048" cy="3977640"/>
          </a:xfrm>
          <a:prstGeom prst="roundRect">
            <a:avLst>
              <a:gd name="adj" fmla="val 1379"/>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php-apache.yaml  (container)</a:t>
            </a:r>
            <a:endParaRPr lang="en-US" sz="1100" dirty="0"/>
          </a:p>
        </p:txBody>
      </p:sp>
      <p:sp>
        <p:nvSpPr>
          <p:cNvPr id="11" name="terminal text"/>
          <p:cNvSpPr txBox="1"/>
          <p:nvPr/>
        </p:nvSpPr>
        <p:spPr>
          <a:xfrm>
            <a:off x="749808" y="1828800"/>
            <a:ext cx="5007712" cy="34290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containers:</a:t>
            </a:r>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name:</a:t>
            </a:r>
            <a:pPr indent="0" marL="0">
              <a:buNone/>
            </a:pPr>
            <a:r>
              <a:rPr lang="en-US" sz="1200" dirty="0">
                <a:solidFill>
                  <a:schemeClr val="bg1"/>
                </a:solidFill>
                <a:latin typeface="Courier New" pitchFamily="34" charset="0"/>
                <a:ea typeface="Courier New" pitchFamily="34" charset="-122"/>
                <a:cs typeface="Courier New" pitchFamily="34" charset="-120"/>
              </a:rPr>
              <a:t> php-apache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image: registry.k8s.io/hpa-example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ports: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containerPort:</a:t>
            </a:r>
            <a:pPr indent="0" marL="0">
              <a:buNone/>
            </a:pPr>
            <a:r>
              <a:rPr lang="en-US" sz="1200" dirty="0">
                <a:solidFill>
                  <a:schemeClr val="bg1"/>
                </a:solidFill>
                <a:latin typeface="Courier New" pitchFamily="34" charset="0"/>
                <a:ea typeface="Courier New" pitchFamily="34" charset="-122"/>
                <a:cs typeface="Courier New" pitchFamily="34" charset="-120"/>
              </a:rPr>
              <a:t> 80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resources: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requests: {cpu: 200m, memory: 64Mi}</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limits:   {cpu: 500m, memory: 128Mi}</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readinessProbe: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httpGet: {path: /, port: 80}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periodSeconds: 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livenessProbe: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httpGet: {path: /, port: 80}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initialDelaySeconds: 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periodSeconds: 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failureThreshold: 3</a:t>
            </a:r>
            <a:endParaRPr lang="en-US" sz="1200" dirty="0"/>
          </a:p>
        </p:txBody>
      </p:sp>
      <p:sp>
        <p:nvSpPr>
          <p:cNvPr id="12" name="Text 10"/>
          <p:cNvSpPr txBox="1"/>
          <p:nvPr/>
        </p:nvSpPr>
        <p:spPr>
          <a:xfrm>
            <a:off x="548640" y="5486400"/>
            <a:ext cx="5410048" cy="548640"/>
          </a:xfrm>
          <a:prstGeom prst="rect">
            <a:avLst/>
          </a:prstGeom>
          <a:noFill/>
          <a:ln/>
        </p:spPr>
        <p:txBody>
          <a:bodyPr wrap="square" lIns="0" tIns="0" rIns="0" bIns="0" rtlCol="0" anchor="t"/>
          <a:lstStyle/>
          <a:p>
            <a:pPr indent="0" marL="0">
              <a:buNone/>
            </a:pPr>
            <a:r>
              <a:rPr lang="en-US" sz="1400" dirty="0">
                <a:solidFill>
                  <a:schemeClr val="tx1"/>
                </a:solidFill>
              </a:rPr>
              <a:t>200m = 0.2 CPU. The HPA’s 50% target means 100m per Pod.</a:t>
            </a:r>
            <a:endParaRPr lang="en-US" sz="1400" dirty="0"/>
          </a:p>
        </p:txBody>
      </p:sp>
      <p:sp>
        <p:nvSpPr>
          <p:cNvPr id="13" name="terminal hpa.yaml"/>
          <p:cNvSpPr/>
          <p:nvPr/>
        </p:nvSpPr>
        <p:spPr>
          <a:xfrm>
            <a:off x="6233008" y="1371600"/>
            <a:ext cx="5410048" cy="3977640"/>
          </a:xfrm>
          <a:prstGeom prst="roundRect">
            <a:avLst>
              <a:gd name="adj" fmla="val 1379"/>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hpa.yaml</a:t>
            </a:r>
            <a:endParaRPr lang="en-US" sz="1100" dirty="0"/>
          </a:p>
        </p:txBody>
      </p:sp>
      <p:sp>
        <p:nvSpPr>
          <p:cNvPr id="18" name="terminal text"/>
          <p:cNvSpPr txBox="1"/>
          <p:nvPr/>
        </p:nvSpPr>
        <p:spPr>
          <a:xfrm>
            <a:off x="6434176" y="1828800"/>
            <a:ext cx="5007712" cy="34290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apiVersion:</a:t>
            </a:r>
            <a:pPr indent="0" marL="0">
              <a:buNone/>
            </a:pPr>
            <a:r>
              <a:rPr lang="en-US" sz="1200" dirty="0">
                <a:solidFill>
                  <a:schemeClr val="bg1"/>
                </a:solidFill>
                <a:latin typeface="Courier New" pitchFamily="34" charset="0"/>
                <a:ea typeface="Courier New" pitchFamily="34" charset="-122"/>
                <a:cs typeface="Courier New" pitchFamily="34" charset="-120"/>
              </a:rPr>
              <a:t> autoscaling/v2</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kind:</a:t>
            </a:r>
            <a:pPr indent="0" marL="0">
              <a:buNone/>
            </a:pPr>
            <a:r>
              <a:rPr lang="en-US" sz="1200" dirty="0">
                <a:solidFill>
                  <a:schemeClr val="bg1"/>
                </a:solidFill>
                <a:latin typeface="Courier New" pitchFamily="34" charset="0"/>
                <a:ea typeface="Courier New" pitchFamily="34" charset="-122"/>
                <a:cs typeface="Courier New" pitchFamily="34" charset="-120"/>
              </a:rPr>
              <a:t> HorizontalPodAutoscaler</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metadata:</a:t>
            </a:r>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name: php-apache</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spec:</a:t>
            </a:r>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scaleTargetRef:</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apiVersion: apps/v1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kind: Deployment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name: php-apache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minReplicas: 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maxReplicas: 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metrics: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
            </a:r>
            <a:pPr indent="0" marL="0">
              <a:buNone/>
            </a:pPr>
            <a:r>
              <a:rPr lang="en-US" sz="1200" dirty="0">
                <a:solidFill>
                  <a:schemeClr val="accent2"/>
                </a:solidFill>
                <a:latin typeface="Courier New" pitchFamily="34" charset="0"/>
                <a:ea typeface="Courier New" pitchFamily="34" charset="-122"/>
                <a:cs typeface="Courier New" pitchFamily="34" charset="-120"/>
              </a:rPr>
              <a:t>type:</a:t>
            </a:r>
            <a:pPr indent="0" marL="0">
              <a:buNone/>
            </a:pPr>
            <a:r>
              <a:rPr lang="en-US" sz="1200" dirty="0">
                <a:solidFill>
                  <a:schemeClr val="bg1"/>
                </a:solidFill>
                <a:latin typeface="Courier New" pitchFamily="34" charset="0"/>
                <a:ea typeface="Courier New" pitchFamily="34" charset="-122"/>
                <a:cs typeface="Courier New" pitchFamily="34" charset="-120"/>
              </a:rPr>
              <a:t> Resource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resource: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name: cpu</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target: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type: Utilization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averageUtilization: 50</a:t>
            </a:r>
            <a:endParaRPr lang="en-US" sz="1200" dirty="0"/>
          </a:p>
        </p:txBody>
      </p:sp>
      <p:sp>
        <p:nvSpPr>
          <p:cNvPr id="19" name="Text 17"/>
          <p:cNvSpPr txBox="1"/>
          <p:nvPr/>
        </p:nvSpPr>
        <p:spPr>
          <a:xfrm>
            <a:off x="6233008" y="5486400"/>
            <a:ext cx="5410048" cy="548640"/>
          </a:xfrm>
          <a:prstGeom prst="rect">
            <a:avLst/>
          </a:prstGeom>
          <a:noFill/>
          <a:ln/>
        </p:spPr>
        <p:txBody>
          <a:bodyPr wrap="square" lIns="0" tIns="0" rIns="0" bIns="0" rtlCol="0" anchor="t"/>
          <a:lstStyle/>
          <a:p>
            <a:pPr indent="0" marL="0">
              <a:buNone/>
            </a:pPr>
            <a:r>
              <a:rPr lang="en-US" sz="1400" dirty="0">
                <a:solidFill>
                  <a:schemeClr val="tx1"/>
                </a:solidFill>
              </a:rPr>
              <a:t>Same result as kubectl autoscale, but now it is in Git.</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Autoscale an app under load</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Traffic spikes at night. You install metrics-server, add probes and resources, and let an HPA add Pods when load rises. Then you break a probe on purpose.</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Metrics. </a:t>
            </a:r>
            <a:pPr indent="0" marL="0">
              <a:buNone/>
            </a:pPr>
            <a:r>
              <a:rPr lang="en-US" sz="1400" dirty="0">
                <a:solidFill>
                  <a:schemeClr val="tx1"/>
                </a:solidFill>
              </a:rPr>
              <a:t>Install metrics-server, add --kubelet-insecure-tls to its args for kind, and wait until kubectl top nodes works.</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Deploy. </a:t>
            </a:r>
            <a:pPr indent="0" marL="0">
              <a:buNone/>
            </a:pPr>
            <a:r>
              <a:rPr lang="en-US" sz="1400" dirty="0">
                <a:solidFill>
                  <a:schemeClr val="tx1"/>
                </a:solidFill>
              </a:rPr>
              <a:t>Apply php-apache.yaml and expose it as a Service on port 80.</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Autoscale. </a:t>
            </a:r>
            <a:pPr indent="0" marL="0">
              <a:buNone/>
            </a:pPr>
            <a:r>
              <a:rPr lang="en-US" sz="1400" dirty="0">
                <a:solidFill>
                  <a:schemeClr val="tx1"/>
                </a:solidFill>
              </a:rPr>
              <a:t>Apply hpa.yaml: 50% CPU, min 1, max 5.</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Load. </a:t>
            </a:r>
            <a:pPr indent="0" marL="0">
              <a:buNone/>
            </a:pPr>
            <a:r>
              <a:rPr lang="en-US" sz="1400" dirty="0">
                <a:solidFill>
                  <a:schemeClr val="tx1"/>
                </a:solidFill>
              </a:rPr>
              <a:t>Run a busybox load generator and watch the HPA in a second terminal. Replicas climb.</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Relax. </a:t>
            </a:r>
            <a:pPr indent="0" marL="0">
              <a:buNone/>
            </a:pPr>
            <a:r>
              <a:rPr lang="en-US" sz="1400" dirty="0">
                <a:solidFill>
                  <a:schemeClr val="tx1"/>
                </a:solidFill>
              </a:rPr>
              <a:t>Stop the load. Replicas fall back after about 5 minutes.</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Break a probe. </a:t>
            </a:r>
            <a:pPr indent="0" marL="0">
              <a:buNone/>
            </a:pPr>
            <a:r>
              <a:rPr lang="en-US" sz="1400" dirty="0">
                <a:solidFill>
                  <a:schemeClr val="tx1"/>
                </a:solidFill>
              </a:rPr>
              <a:t>Point the liveness path at /nope, watch RESTARTS grow, read the Events, then fix it.</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M=https://github.com/kubernetes-sigs/metrics-server</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apply -f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$M/releases/latest/download/components.yaml</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-n kube-system edit deploy metrics-server</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 add under containers &gt; args:  - --kubelet-insecure-tls</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top nodes</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apply -f php-apache.yaml -f hpa.yaml</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expose deploy php-apache --port=80</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run load --rm -it --image=busybox:1.36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--restart=Never -- /bin/sh -c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"while sleep 0.01; do wget -q -O- php-apache; done"</a:t>
            </a:r>
            <a:endParaRPr lang="en-US" sz="1200" dirty="0"/>
          </a:p>
          <a:p>
            <a:pPr indent="0" marL="0">
              <a:buNone/>
            </a:pPr>
            <a:r>
              <a:rPr lang="en-US" sz="1200" dirty="0">
                <a:solidFill>
                  <a:schemeClr val="accent6"/>
                </a:solidFill>
                <a:latin typeface="Courier New" pitchFamily="34" charset="0"/>
                <a:ea typeface="Courier New" pitchFamily="34" charset="-122"/>
                <a:cs typeface="Courier New" pitchFamily="34" charset="-120"/>
              </a:rPr>
              <a:t># in a second terminal</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get hpa php-apache -w</a:t>
            </a:r>
            <a:endParaRPr lang="en-US" sz="12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kubectl top nodes returns numbers</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The HPA shows a CPU target such as 0%/50%, not &lt;unknown&gt;</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Replicas rose above 1 under load and fell after it stopped</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A bad liveness probe produced restarts you saw in describe</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can explain requests vs limits and QoS</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HPA shows &lt;unknown&gt;?</a:t>
            </a:r>
            <a:pPr indent="0" marL="0">
              <a:spcAft>
                <a:spcPts val="700"/>
              </a:spcAft>
              <a:buNone/>
            </a:pPr>
            <a:r>
              <a:rPr lang="en-US" sz="1400" dirty="0">
                <a:solidFill>
                  <a:schemeClr val="tx1"/>
                </a:solidFill>
              </a:rPr>
              <a:t> metrics-server is not ready, or the Pod has no CPU request. You need both.</a:t>
            </a:r>
            <a:endParaRPr lang="en-US" sz="1400" dirty="0"/>
          </a:p>
          <a:p>
            <a:pPr indent="0" marL="0">
              <a:spcAft>
                <a:spcPts val="700"/>
              </a:spcAft>
              <a:buNone/>
            </a:pPr>
            <a:r>
              <a:rPr lang="en-US" sz="1400" b="1" dirty="0">
                <a:solidFill>
                  <a:schemeClr val="tx1"/>
                </a:solidFill>
              </a:rPr>
              <a:t>metrics-server not Ready?</a:t>
            </a:r>
            <a:pPr indent="0" marL="0">
              <a:spcAft>
                <a:spcPts val="700"/>
              </a:spcAft>
              <a:buNone/>
            </a:pPr>
            <a:r>
              <a:rPr lang="en-US" sz="1400" dirty="0">
                <a:solidFill>
                  <a:schemeClr val="tx1"/>
                </a:solidFill>
              </a:rPr>
              <a:t> Add --kubelet-insecure-tls, wait a minute, check kubectl -n kube-system get pods.</a:t>
            </a:r>
            <a:endParaRPr lang="en-US" sz="1400" dirty="0"/>
          </a:p>
          <a:p>
            <a:pPr indent="0" marL="0">
              <a:spcAft>
                <a:spcPts val="700"/>
              </a:spcAft>
              <a:buNone/>
            </a:pPr>
            <a:r>
              <a:rPr lang="en-US" sz="1400" b="1" dirty="0">
                <a:solidFill>
                  <a:schemeClr val="tx1"/>
                </a:solidFill>
              </a:rPr>
              <a:t>Pods stuck Pending when scaling?</a:t>
            </a:r>
            <a:pPr indent="0" marL="0">
              <a:spcAft>
                <a:spcPts val="700"/>
              </a:spcAft>
              <a:buNone/>
            </a:pPr>
            <a:r>
              <a:rPr lang="en-US" sz="1400" dirty="0">
                <a:solidFill>
                  <a:schemeClr val="tx1"/>
                </a:solidFill>
              </a:rPr>
              <a:t> Requests are larger than the free node CPU. Lower them or maxReplicas.</a:t>
            </a:r>
            <a:endParaRPr lang="en-US" sz="1400" dirty="0"/>
          </a:p>
          <a:p>
            <a:pPr indent="0" marL="0">
              <a:spcAft>
                <a:spcPts val="700"/>
              </a:spcAft>
              <a:buNone/>
            </a:pPr>
            <a:r>
              <a:rPr lang="en-US" sz="1400" b="1" dirty="0">
                <a:solidFill>
                  <a:schemeClr val="tx1"/>
                </a:solidFill>
              </a:rPr>
              <a:t>Scale-down is slow?</a:t>
            </a:r>
            <a:pPr indent="0" marL="0">
              <a:spcAft>
                <a:spcPts val="700"/>
              </a:spcAft>
              <a:buNone/>
            </a:pPr>
            <a:r>
              <a:rPr lang="en-US" sz="1400" dirty="0">
                <a:solidFill>
                  <a:schemeClr val="tx1"/>
                </a:solidFill>
              </a:rPr>
              <a:t> The default 5-minute stabilisation window is by design.</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day6-health-scaling/ with php-apache.yaml, hpa.yaml, a screenshot of kubectl get hpa -w during the load test, and a README on requests, limits and probes.</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6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6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Liveness vs readiness vs startup probes?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Readiness controls traffic. Liveness restarts a stuck container. Startup holds the other two back until a slow app has booted.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Requests vs limits?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Requests are reserved by the scheduler. Limits are enforced at runtime: CPU is throttled, and memory over the limit gets the container OOMKilled.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What does OOMKilled (exit code 137) mean?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container used more memory than its limit and the kernel killed it. Raise the limit or fix the leak. describe pod shows it.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How does the HPA pick the replica count?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desired = ceil(current replicas × current usage ÷ target usage), kept within min and max. Usage is measured against the CPU request.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Why do Pods need CPU requests for an HPA?</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Utilization is a percentage of the request. With no request there is nothing to compare, so the HPA shows &lt;unknown&gt;.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day icon"/>
          <p:cNvSpPr/>
          <p:nvPr/>
        </p:nvSpPr>
        <p:spPr>
          <a:xfrm>
            <a:off x="548640" y="731520"/>
            <a:ext cx="1051560" cy="1051560"/>
          </a:xfrm>
          <a:prstGeom prst="ellipse">
            <a:avLst/>
          </a:prstGeom>
          <a:solidFill>
            <a:schemeClr val="accent2"/>
          </a:solidFill>
          <a:ln w="12700">
            <a:solidFill>
              <a:schemeClr val="accent2"/>
            </a:solidFill>
            <a:prstDash val="solid"/>
          </a:ln>
        </p:spPr>
      </p:sp>
      <p:pic>
        <p:nvPicPr>
          <p:cNvPr id="3" name="icon FaShieldAlt" descr="FaShieldAlt">    </p:cNvPr>
          <p:cNvPicPr>
            <a:picLocks noChangeAspect="1"/>
          </p:cNvPicPr>
          <p:nvPr/>
        </p:nvPicPr>
        <p:blipFill>
          <a:blip r:embed="rId1"/>
          <a:stretch>
            <a:fillRect/>
          </a:stretch>
        </p:blipFill>
        <p:spPr>
          <a:xfrm>
            <a:off x="822046" y="1004926"/>
            <a:ext cx="504749" cy="504749"/>
          </a:xfrm>
          <a:prstGeom prst="rect">
            <a:avLst/>
          </a:prstGeom>
        </p:spPr>
      </p:pic>
      <p:sp>
        <p:nvSpPr>
          <p:cNvPr id="4" name="Text 1"/>
          <p:cNvSpPr txBox="1"/>
          <p:nvPr/>
        </p:nvSpPr>
        <p:spPr>
          <a:xfrm>
            <a:off x="548640" y="1965960"/>
            <a:ext cx="3657600" cy="411480"/>
          </a:xfrm>
          <a:prstGeom prst="rect">
            <a:avLst/>
          </a:prstGeom>
          <a:noFill/>
          <a:ln/>
        </p:spPr>
        <p:txBody>
          <a:bodyPr wrap="square" lIns="0" tIns="0" rIns="0" bIns="0" rtlCol="0" anchor="t"/>
          <a:lstStyle/>
          <a:p>
            <a:pPr indent="0" marL="0">
              <a:buNone/>
            </a:pPr>
            <a:r>
              <a:rPr lang="en-US" sz="2200" b="1" spc="500" kern="0" dirty="0">
                <a:solidFill>
                  <a:schemeClr val="accent2"/>
                </a:solidFill>
              </a:rPr>
              <a:t>DAY 7</a:t>
            </a:r>
            <a:endParaRPr lang="en-US" sz="2200" dirty="0"/>
          </a:p>
        </p:txBody>
      </p:sp>
      <p:sp>
        <p:nvSpPr>
          <p:cNvPr id="5" name="Text 0"/>
          <p:cNvSpPr/>
          <p:nvPr>
            <p:ph idx="100" type="title" hasCustomPrompt="1"/>
          </p:nvPr>
        </p:nvSpPr>
        <p:spPr>
          <a:xfrm>
            <a:off x="548640" y="2514600"/>
            <a:ext cx="5669280" cy="1737360"/>
          </a:xfrm>
          <a:prstGeom prst="rect">
            <a:avLst/>
          </a:prstGeom>
          <a:noFill/>
          <a:ln/>
        </p:spPr>
        <p:txBody>
          <a:bodyPr wrap="square" lIns="0" tIns="0" rIns="0" bIns="0" rtlCol="0" anchor="t"/>
          <a:lstStyle/>
          <a:p>
            <a:pPr algn="l" indent="0" marL="0">
              <a:buNone/>
            </a:pPr>
            <a:r>
              <a:rPr lang="en-US" sz="4000" b="1" dirty="0">
                <a:solidFill>
                  <a:schemeClr val="bg1"/>
                </a:solidFill>
              </a:rPr>
              <a:t>Security, RBAC &amp; Troubleshooting</a:t>
            </a:r>
            <a:endParaRPr lang="en-US" sz="4000" dirty="0"/>
          </a:p>
        </p:txBody>
      </p:sp>
      <p:sp>
        <p:nvSpPr>
          <p:cNvPr id="6" name="Text 3"/>
          <p:cNvSpPr txBox="1"/>
          <p:nvPr/>
        </p:nvSpPr>
        <p:spPr>
          <a:xfrm>
            <a:off x="548640" y="4434840"/>
            <a:ext cx="5669280" cy="320040"/>
          </a:xfrm>
          <a:prstGeom prst="rect">
            <a:avLst/>
          </a:prstGeom>
          <a:noFill/>
          <a:ln/>
        </p:spPr>
        <p:txBody>
          <a:bodyPr wrap="square" lIns="0" tIns="0" rIns="0" bIns="0" rtlCol="0" anchor="t"/>
          <a:lstStyle/>
          <a:p>
            <a:pPr indent="0" marL="0">
              <a:buNone/>
            </a:pPr>
            <a:r>
              <a:rPr lang="en-US" sz="1600" b="1" dirty="0">
                <a:solidFill>
                  <a:schemeClr val="accent6"/>
                </a:solidFill>
              </a:rPr>
              <a:t>Level: </a:t>
            </a:r>
            <a:pPr indent="0" marL="0">
              <a:buNone/>
            </a:pPr>
            <a:r>
              <a:rPr lang="en-US" sz="1600" dirty="0">
                <a:solidFill>
                  <a:schemeClr val="bg1"/>
                </a:solidFill>
              </a:rPr>
              <a:t>Intermediate   </a:t>
            </a:r>
            <a:pPr indent="0" marL="0">
              <a:buNone/>
            </a:pPr>
            <a:r>
              <a:rPr lang="en-US" sz="1600" b="1" dirty="0">
                <a:solidFill>
                  <a:schemeClr val="accent6"/>
                </a:solidFill>
              </a:rPr>
              <a:t>Time: </a:t>
            </a:r>
            <a:pPr indent="0" marL="0">
              <a:buNone/>
            </a:pPr>
            <a:r>
              <a:rPr lang="en-US" sz="1600" dirty="0">
                <a:solidFill>
                  <a:schemeClr val="bg1"/>
                </a:solidFill>
              </a:rPr>
              <a:t>3–4 hrs</a:t>
            </a:r>
            <a:endParaRPr lang="en-US" sz="1600" dirty="0"/>
          </a:p>
        </p:txBody>
      </p:sp>
      <p:sp>
        <p:nvSpPr>
          <p:cNvPr id="7" name="Text 4"/>
          <p:cNvSpPr txBox="1"/>
          <p:nvPr/>
        </p:nvSpPr>
        <p:spPr>
          <a:xfrm>
            <a:off x="548640" y="4846320"/>
            <a:ext cx="5669280" cy="822960"/>
          </a:xfrm>
          <a:prstGeom prst="rect">
            <a:avLst/>
          </a:prstGeom>
          <a:noFill/>
          <a:ln/>
        </p:spPr>
        <p:txBody>
          <a:bodyPr wrap="square" lIns="0" tIns="0" rIns="0" bIns="0" rtlCol="0" anchor="t"/>
          <a:lstStyle/>
          <a:p>
            <a:pPr indent="0" marL="0">
              <a:buNone/>
            </a:pPr>
            <a:r>
              <a:rPr lang="en-US" sz="1500" b="1" dirty="0">
                <a:solidFill>
                  <a:schemeClr val="accent6"/>
                </a:solidFill>
              </a:rPr>
              <a:t>Focus: </a:t>
            </a:r>
            <a:pPr indent="0" marL="0">
              <a:buNone/>
            </a:pPr>
            <a:r>
              <a:rPr lang="en-US" sz="1500" dirty="0">
                <a:solidFill>
                  <a:schemeClr val="bg2"/>
                </a:solidFill>
              </a:rPr>
              <a:t>RBAC · ServiceAccounts · securityContext · Pod Security · Debugging</a:t>
            </a:r>
            <a:endParaRPr lang="en-US" sz="1500" dirty="0"/>
          </a:p>
        </p:txBody>
      </p:sp>
      <p:sp>
        <p:nvSpPr>
          <p:cNvPr id="8" name="goal panel"/>
          <p:cNvSpPr/>
          <p:nvPr/>
        </p:nvSpPr>
        <p:spPr>
          <a:xfrm>
            <a:off x="6675120" y="640080"/>
            <a:ext cx="4967935" cy="1874520"/>
          </a:xfrm>
          <a:prstGeom prst="roundRect">
            <a:avLst>
              <a:gd name="adj" fmla="val 3902"/>
            </a:avLst>
          </a:prstGeom>
          <a:solidFill>
            <a:schemeClr val="bg1">
              <a:alpha val="9000"/>
            </a:schemeClr>
          </a:solidFill>
          <a:ln w="9525">
            <a:solidFill>
              <a:schemeClr val="accent6">
                <a:alpha val="60000"/>
              </a:schemeClr>
            </a:solidFill>
            <a:prstDash val="solid"/>
          </a:ln>
        </p:spPr>
      </p:sp>
      <p:sp>
        <p:nvSpPr>
          <p:cNvPr id="9" name="goal icon"/>
          <p:cNvSpPr/>
          <p:nvPr/>
        </p:nvSpPr>
        <p:spPr>
          <a:xfrm>
            <a:off x="6903720" y="822960"/>
            <a:ext cx="384048" cy="384048"/>
          </a:xfrm>
          <a:prstGeom prst="ellipse">
            <a:avLst/>
          </a:prstGeom>
          <a:solidFill>
            <a:schemeClr val="accent2"/>
          </a:solidFill>
          <a:ln w="12700">
            <a:solidFill>
              <a:schemeClr val="accent2"/>
            </a:solidFill>
            <a:prstDash val="solid"/>
          </a:ln>
        </p:spPr>
      </p:sp>
      <p:pic>
        <p:nvPicPr>
          <p:cNvPr id="10" name="icon FaBullseye" descr="FaBullseye">    </p:cNvPr>
          <p:cNvPicPr>
            <a:picLocks noChangeAspect="1"/>
          </p:cNvPicPr>
          <p:nvPr/>
        </p:nvPicPr>
        <p:blipFill>
          <a:blip r:embed="rId2"/>
          <a:stretch>
            <a:fillRect/>
          </a:stretch>
        </p:blipFill>
        <p:spPr>
          <a:xfrm>
            <a:off x="7003572" y="922812"/>
            <a:ext cx="184343" cy="184343"/>
          </a:xfrm>
          <a:prstGeom prst="rect">
            <a:avLst/>
          </a:prstGeom>
        </p:spPr>
      </p:pic>
      <p:sp>
        <p:nvSpPr>
          <p:cNvPr id="11" name="Text 7"/>
          <p:cNvSpPr txBox="1"/>
          <p:nvPr/>
        </p:nvSpPr>
        <p:spPr>
          <a:xfrm>
            <a:off x="7452360" y="82296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Goal of the day</a:t>
            </a:r>
            <a:endParaRPr lang="en-US" sz="1800" dirty="0"/>
          </a:p>
        </p:txBody>
      </p:sp>
      <p:sp>
        <p:nvSpPr>
          <p:cNvPr id="12" name="Text 8"/>
          <p:cNvSpPr txBox="1"/>
          <p:nvPr/>
        </p:nvSpPr>
        <p:spPr>
          <a:xfrm>
            <a:off x="6949440" y="1325880"/>
            <a:ext cx="4419295" cy="1143000"/>
          </a:xfrm>
          <a:prstGeom prst="rect">
            <a:avLst/>
          </a:prstGeom>
          <a:noFill/>
          <a:ln/>
        </p:spPr>
        <p:txBody>
          <a:bodyPr wrap="square" lIns="0" tIns="0" rIns="0" bIns="0" rtlCol="0" anchor="t"/>
          <a:lstStyle/>
          <a:p>
            <a:pPr indent="0" marL="0">
              <a:buNone/>
            </a:pPr>
            <a:r>
              <a:rPr lang="en-US" sz="1500" dirty="0">
                <a:solidFill>
                  <a:schemeClr val="bg1"/>
                </a:solidFill>
              </a:rPr>
              <a:t>By the end of today you can give an account least-privilege access, run Pods as non-root, and debug the most common Pod failures in a repeatable order.</a:t>
            </a:r>
            <a:endParaRPr lang="en-US" sz="1500" dirty="0"/>
          </a:p>
        </p:txBody>
      </p:sp>
      <p:sp>
        <p:nvSpPr>
          <p:cNvPr id="13" name="tasks panel"/>
          <p:cNvSpPr/>
          <p:nvPr/>
        </p:nvSpPr>
        <p:spPr>
          <a:xfrm>
            <a:off x="6675120" y="2697480"/>
            <a:ext cx="4967935" cy="2286000"/>
          </a:xfrm>
          <a:prstGeom prst="roundRect">
            <a:avLst>
              <a:gd name="adj" fmla="val 3200"/>
            </a:avLst>
          </a:prstGeom>
          <a:solidFill>
            <a:schemeClr val="bg1">
              <a:alpha val="9000"/>
            </a:schemeClr>
          </a:solidFill>
          <a:ln w="9525">
            <a:solidFill>
              <a:schemeClr val="accent6">
                <a:alpha val="60000"/>
              </a:schemeClr>
            </a:solidFill>
            <a:prstDash val="solid"/>
          </a:ln>
        </p:spPr>
      </p:sp>
      <p:sp>
        <p:nvSpPr>
          <p:cNvPr id="14" name="tasks icon"/>
          <p:cNvSpPr/>
          <p:nvPr/>
        </p:nvSpPr>
        <p:spPr>
          <a:xfrm>
            <a:off x="6903720" y="2862072"/>
            <a:ext cx="384048" cy="384048"/>
          </a:xfrm>
          <a:prstGeom prst="ellipse">
            <a:avLst/>
          </a:prstGeom>
          <a:solidFill>
            <a:schemeClr val="accent2"/>
          </a:solidFill>
          <a:ln w="12700">
            <a:solidFill>
              <a:schemeClr val="accent2"/>
            </a:solidFill>
            <a:prstDash val="solid"/>
          </a:ln>
        </p:spPr>
      </p:sp>
      <p:pic>
        <p:nvPicPr>
          <p:cNvPr id="15" name="icon FaCheckSquare" descr="FaCheckSquare">    </p:cNvPr>
          <p:cNvPicPr>
            <a:picLocks noChangeAspect="1"/>
          </p:cNvPicPr>
          <p:nvPr/>
        </p:nvPicPr>
        <p:blipFill>
          <a:blip r:embed="rId3"/>
          <a:stretch>
            <a:fillRect/>
          </a:stretch>
        </p:blipFill>
        <p:spPr>
          <a:xfrm>
            <a:off x="7003572" y="2961924"/>
            <a:ext cx="184343" cy="184343"/>
          </a:xfrm>
          <a:prstGeom prst="rect">
            <a:avLst/>
          </a:prstGeom>
        </p:spPr>
      </p:pic>
      <p:sp>
        <p:nvSpPr>
          <p:cNvPr id="16" name="Text 11"/>
          <p:cNvSpPr txBox="1"/>
          <p:nvPr/>
        </p:nvSpPr>
        <p:spPr>
          <a:xfrm>
            <a:off x="7452360" y="2862072"/>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Your tasks today</a:t>
            </a:r>
            <a:endParaRPr lang="en-US" sz="1800" dirty="0"/>
          </a:p>
        </p:txBody>
      </p:sp>
      <p:sp>
        <p:nvSpPr>
          <p:cNvPr id="17" name="checkbox"/>
          <p:cNvSpPr/>
          <p:nvPr/>
        </p:nvSpPr>
        <p:spPr>
          <a:xfrm>
            <a:off x="6967728" y="3474720"/>
            <a:ext cx="201168" cy="201168"/>
          </a:xfrm>
          <a:prstGeom prst="roundRect">
            <a:avLst>
              <a:gd name="adj" fmla="val 13636"/>
            </a:avLst>
          </a:prstGeom>
          <a:solidFill>
            <a:schemeClr val="tx2"/>
          </a:solidFill>
          <a:ln w="15875">
            <a:solidFill>
              <a:schemeClr val="accent6"/>
            </a:solidFill>
            <a:prstDash val="solid"/>
          </a:ln>
        </p:spPr>
      </p:sp>
      <p:sp>
        <p:nvSpPr>
          <p:cNvPr id="18" name="Text 13"/>
          <p:cNvSpPr txBox="1"/>
          <p:nvPr/>
        </p:nvSpPr>
        <p:spPr>
          <a:xfrm>
            <a:off x="7333488" y="3429000"/>
            <a:ext cx="4053535" cy="292608"/>
          </a:xfrm>
          <a:prstGeom prst="rect">
            <a:avLst/>
          </a:prstGeom>
          <a:noFill/>
          <a:ln/>
        </p:spPr>
        <p:txBody>
          <a:bodyPr wrap="square" lIns="0" tIns="0" rIns="0" bIns="0" rtlCol="0" anchor="ctr"/>
          <a:lstStyle/>
          <a:p>
            <a:pPr indent="0" marL="0">
              <a:buNone/>
            </a:pPr>
            <a:r>
              <a:rPr lang="en-US" sz="1500" dirty="0">
                <a:solidFill>
                  <a:schemeClr val="bg1"/>
                </a:solidFill>
              </a:rPr>
              <a:t>Create a read-only ServiceAccount</a:t>
            </a:r>
            <a:endParaRPr lang="en-US" sz="1500" dirty="0"/>
          </a:p>
        </p:txBody>
      </p:sp>
      <p:sp>
        <p:nvSpPr>
          <p:cNvPr id="19" name="checkbox"/>
          <p:cNvSpPr/>
          <p:nvPr/>
        </p:nvSpPr>
        <p:spPr>
          <a:xfrm>
            <a:off x="6967728" y="3840480"/>
            <a:ext cx="201168" cy="201168"/>
          </a:xfrm>
          <a:prstGeom prst="roundRect">
            <a:avLst>
              <a:gd name="adj" fmla="val 13636"/>
            </a:avLst>
          </a:prstGeom>
          <a:solidFill>
            <a:schemeClr val="tx2"/>
          </a:solidFill>
          <a:ln w="15875">
            <a:solidFill>
              <a:schemeClr val="accent6"/>
            </a:solidFill>
            <a:prstDash val="solid"/>
          </a:ln>
        </p:spPr>
      </p:sp>
      <p:sp>
        <p:nvSpPr>
          <p:cNvPr id="20" name="Text 15"/>
          <p:cNvSpPr txBox="1"/>
          <p:nvPr/>
        </p:nvSpPr>
        <p:spPr>
          <a:xfrm>
            <a:off x="7333488" y="3794760"/>
            <a:ext cx="4053535" cy="292608"/>
          </a:xfrm>
          <a:prstGeom prst="rect">
            <a:avLst/>
          </a:prstGeom>
          <a:noFill/>
          <a:ln/>
        </p:spPr>
        <p:txBody>
          <a:bodyPr wrap="square" lIns="0" tIns="0" rIns="0" bIns="0" rtlCol="0" anchor="ctr"/>
          <a:lstStyle/>
          <a:p>
            <a:pPr indent="0" marL="0">
              <a:buNone/>
            </a:pPr>
            <a:r>
              <a:rPr lang="en-US" sz="1500" dirty="0">
                <a:solidFill>
                  <a:schemeClr val="bg1"/>
                </a:solidFill>
              </a:rPr>
              <a:t>Harden a Pod with securityContext</a:t>
            </a:r>
            <a:endParaRPr lang="en-US" sz="1500" dirty="0"/>
          </a:p>
        </p:txBody>
      </p:sp>
      <p:sp>
        <p:nvSpPr>
          <p:cNvPr id="21" name="checkbox"/>
          <p:cNvSpPr/>
          <p:nvPr/>
        </p:nvSpPr>
        <p:spPr>
          <a:xfrm>
            <a:off x="6967728" y="4206240"/>
            <a:ext cx="201168" cy="201168"/>
          </a:xfrm>
          <a:prstGeom prst="roundRect">
            <a:avLst>
              <a:gd name="adj" fmla="val 13636"/>
            </a:avLst>
          </a:prstGeom>
          <a:solidFill>
            <a:schemeClr val="tx2"/>
          </a:solidFill>
          <a:ln w="15875">
            <a:solidFill>
              <a:schemeClr val="accent6"/>
            </a:solidFill>
            <a:prstDash val="solid"/>
          </a:ln>
        </p:spPr>
      </p:sp>
      <p:sp>
        <p:nvSpPr>
          <p:cNvPr id="22" name="Text 17"/>
          <p:cNvSpPr txBox="1"/>
          <p:nvPr/>
        </p:nvSpPr>
        <p:spPr>
          <a:xfrm>
            <a:off x="7333488" y="4160520"/>
            <a:ext cx="4053535" cy="292608"/>
          </a:xfrm>
          <a:prstGeom prst="rect">
            <a:avLst/>
          </a:prstGeom>
          <a:noFill/>
          <a:ln/>
        </p:spPr>
        <p:txBody>
          <a:bodyPr wrap="square" lIns="0" tIns="0" rIns="0" bIns="0" rtlCol="0" anchor="ctr"/>
          <a:lstStyle/>
          <a:p>
            <a:pPr indent="0" marL="0">
              <a:buNone/>
            </a:pPr>
            <a:r>
              <a:rPr lang="en-US" sz="1500" dirty="0">
                <a:solidFill>
                  <a:schemeClr val="bg1"/>
                </a:solidFill>
              </a:rPr>
              <a:t>Enforce Pod Security on a namespace</a:t>
            </a:r>
            <a:endParaRPr lang="en-US" sz="1500" dirty="0"/>
          </a:p>
        </p:txBody>
      </p:sp>
      <p:sp>
        <p:nvSpPr>
          <p:cNvPr id="23" name="checkbox"/>
          <p:cNvSpPr/>
          <p:nvPr/>
        </p:nvSpPr>
        <p:spPr>
          <a:xfrm>
            <a:off x="6967728" y="4572000"/>
            <a:ext cx="201168" cy="201168"/>
          </a:xfrm>
          <a:prstGeom prst="roundRect">
            <a:avLst>
              <a:gd name="adj" fmla="val 13636"/>
            </a:avLst>
          </a:prstGeom>
          <a:solidFill>
            <a:schemeClr val="tx2"/>
          </a:solidFill>
          <a:ln w="15875">
            <a:solidFill>
              <a:schemeClr val="accent6"/>
            </a:solidFill>
            <a:prstDash val="solid"/>
          </a:ln>
        </p:spPr>
      </p:sp>
      <p:sp>
        <p:nvSpPr>
          <p:cNvPr id="24" name="Text 19"/>
          <p:cNvSpPr txBox="1"/>
          <p:nvPr/>
        </p:nvSpPr>
        <p:spPr>
          <a:xfrm>
            <a:off x="7333488" y="4526280"/>
            <a:ext cx="4053535" cy="292608"/>
          </a:xfrm>
          <a:prstGeom prst="rect">
            <a:avLst/>
          </a:prstGeom>
          <a:noFill/>
          <a:ln/>
        </p:spPr>
        <p:txBody>
          <a:bodyPr wrap="square" lIns="0" tIns="0" rIns="0" bIns="0" rtlCol="0" anchor="ctr"/>
          <a:lstStyle/>
          <a:p>
            <a:pPr indent="0" marL="0">
              <a:buNone/>
            </a:pPr>
            <a:r>
              <a:rPr lang="en-US" sz="1500" dirty="0">
                <a:solidFill>
                  <a:schemeClr val="bg1"/>
                </a:solidFill>
              </a:rPr>
              <a:t>Fix three broken Deployments</a:t>
            </a:r>
            <a:endParaRPr lang="en-US" sz="1500" dirty="0"/>
          </a:p>
        </p:txBody>
      </p:sp>
      <p:sp>
        <p:nvSpPr>
          <p:cNvPr id="25" name="deliverable panel"/>
          <p:cNvSpPr/>
          <p:nvPr/>
        </p:nvSpPr>
        <p:spPr>
          <a:xfrm>
            <a:off x="6675120" y="5166360"/>
            <a:ext cx="4967935" cy="1005840"/>
          </a:xfrm>
          <a:prstGeom prst="roundRect">
            <a:avLst>
              <a:gd name="adj" fmla="val 7273"/>
            </a:avLst>
          </a:prstGeom>
          <a:solidFill>
            <a:schemeClr val="bg1">
              <a:alpha val="9000"/>
            </a:schemeClr>
          </a:solidFill>
          <a:ln w="9525">
            <a:solidFill>
              <a:schemeClr val="accent6">
                <a:alpha val="60000"/>
              </a:schemeClr>
            </a:solidFill>
            <a:prstDash val="solid"/>
          </a:ln>
        </p:spPr>
      </p:sp>
      <p:sp>
        <p:nvSpPr>
          <p:cNvPr id="26" name="deliverable icon"/>
          <p:cNvSpPr/>
          <p:nvPr/>
        </p:nvSpPr>
        <p:spPr>
          <a:xfrm>
            <a:off x="6903720" y="5303520"/>
            <a:ext cx="384048" cy="384048"/>
          </a:xfrm>
          <a:prstGeom prst="ellipse">
            <a:avLst/>
          </a:prstGeom>
          <a:solidFill>
            <a:schemeClr val="accent2"/>
          </a:solidFill>
          <a:ln w="12700">
            <a:solidFill>
              <a:schemeClr val="accent2"/>
            </a:solidFill>
            <a:prstDash val="solid"/>
          </a:ln>
        </p:spPr>
      </p:sp>
      <p:pic>
        <p:nvPicPr>
          <p:cNvPr id="27" name="icon FaBoxOpen" descr="FaBoxOpen">    </p:cNvPr>
          <p:cNvPicPr>
            <a:picLocks noChangeAspect="1"/>
          </p:cNvPicPr>
          <p:nvPr/>
        </p:nvPicPr>
        <p:blipFill>
          <a:blip r:embed="rId4"/>
          <a:stretch>
            <a:fillRect/>
          </a:stretch>
        </p:blipFill>
        <p:spPr>
          <a:xfrm>
            <a:off x="7003572" y="5403372"/>
            <a:ext cx="184343" cy="184343"/>
          </a:xfrm>
          <a:prstGeom prst="rect">
            <a:avLst/>
          </a:prstGeom>
        </p:spPr>
      </p:pic>
      <p:sp>
        <p:nvSpPr>
          <p:cNvPr id="28" name="Text 22"/>
          <p:cNvSpPr txBox="1"/>
          <p:nvPr/>
        </p:nvSpPr>
        <p:spPr>
          <a:xfrm>
            <a:off x="7452360" y="5303520"/>
            <a:ext cx="4053535" cy="384048"/>
          </a:xfrm>
          <a:prstGeom prst="rect">
            <a:avLst/>
          </a:prstGeom>
          <a:noFill/>
          <a:ln/>
        </p:spPr>
        <p:txBody>
          <a:bodyPr wrap="square" lIns="0" tIns="0" rIns="0" bIns="0" rtlCol="0" anchor="ctr"/>
          <a:lstStyle/>
          <a:p>
            <a:pPr indent="0" marL="0">
              <a:buNone/>
            </a:pPr>
            <a:r>
              <a:rPr lang="en-US" sz="1800" b="1" dirty="0">
                <a:solidFill>
                  <a:schemeClr val="accent2"/>
                </a:solidFill>
              </a:rPr>
              <a:t>Deliverable</a:t>
            </a:r>
            <a:endParaRPr lang="en-US" sz="1800" dirty="0"/>
          </a:p>
        </p:txBody>
      </p:sp>
      <p:sp>
        <p:nvSpPr>
          <p:cNvPr id="29" name="Text 23"/>
          <p:cNvSpPr txBox="1"/>
          <p:nvPr/>
        </p:nvSpPr>
        <p:spPr>
          <a:xfrm>
            <a:off x="7452360" y="5715000"/>
            <a:ext cx="3962095" cy="411480"/>
          </a:xfrm>
          <a:prstGeom prst="rect">
            <a:avLst/>
          </a:prstGeom>
          <a:noFill/>
          <a:ln/>
        </p:spPr>
        <p:txBody>
          <a:bodyPr wrap="square" lIns="0" tIns="0" rIns="0" bIns="0" rtlCol="0" anchor="t"/>
          <a:lstStyle/>
          <a:p>
            <a:pPr indent="0" marL="0">
              <a:buNone/>
            </a:pPr>
            <a:r>
              <a:rPr lang="en-US" sz="1500" dirty="0">
                <a:solidFill>
                  <a:schemeClr val="bg1"/>
                </a:solidFill>
              </a:rPr>
              <a:t>A locked-down app plus 3 broken Pods diagnosed and fixed</a:t>
            </a:r>
            <a:endParaRPr lang="en-US" sz="1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KEY CONCEPTS (THE 30%)</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Security, RBAC &amp; Troubleshooting</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6" name="card RBAC"/>
          <p:cNvSpPr/>
          <p:nvPr/>
        </p:nvSpPr>
        <p:spPr>
          <a:xfrm>
            <a:off x="548640" y="1417320"/>
            <a:ext cx="5440680" cy="2240280"/>
          </a:xfrm>
          <a:prstGeom prst="roundRect">
            <a:avLst>
              <a:gd name="adj" fmla="val 3265"/>
            </a:avLst>
          </a:prstGeom>
          <a:solidFill>
            <a:schemeClr val="accent1">
              <a:alpha val="12000"/>
            </a:schemeClr>
          </a:solidFill>
          <a:ln w="9525">
            <a:solidFill>
              <a:schemeClr val="accent1"/>
            </a:solidFill>
            <a:prstDash val="solid"/>
          </a:ln>
        </p:spPr>
      </p:sp>
      <p:sp>
        <p:nvSpPr>
          <p:cNvPr id="7" name="card icon"/>
          <p:cNvSpPr/>
          <p:nvPr/>
        </p:nvSpPr>
        <p:spPr>
          <a:xfrm>
            <a:off x="777240" y="1618488"/>
            <a:ext cx="548640" cy="548640"/>
          </a:xfrm>
          <a:prstGeom prst="ellipse">
            <a:avLst/>
          </a:prstGeom>
          <a:solidFill>
            <a:schemeClr val="accent1"/>
          </a:solidFill>
          <a:ln w="12700">
            <a:solidFill>
              <a:schemeClr val="accent1"/>
            </a:solidFill>
            <a:prstDash val="solid"/>
          </a:ln>
        </p:spPr>
      </p:sp>
      <p:pic>
        <p:nvPicPr>
          <p:cNvPr id="8" name="icon FaUserShield" descr="FaUserShield">    </p:cNvPr>
          <p:cNvPicPr>
            <a:picLocks noChangeAspect="1"/>
          </p:cNvPicPr>
          <p:nvPr/>
        </p:nvPicPr>
        <p:blipFill>
          <a:blip r:embed="rId1"/>
          <a:stretch>
            <a:fillRect/>
          </a:stretch>
        </p:blipFill>
        <p:spPr>
          <a:xfrm>
            <a:off x="919886" y="1761134"/>
            <a:ext cx="263347" cy="263347"/>
          </a:xfrm>
          <a:prstGeom prst="rect">
            <a:avLst/>
          </a:prstGeom>
        </p:spPr>
      </p:pic>
      <p:sp>
        <p:nvSpPr>
          <p:cNvPr id="9" name="Text 6"/>
          <p:cNvSpPr txBox="1"/>
          <p:nvPr/>
        </p:nvSpPr>
        <p:spPr>
          <a:xfrm>
            <a:off x="1508760"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RBAC</a:t>
            </a:r>
            <a:endParaRPr lang="en-US" sz="1900" dirty="0"/>
          </a:p>
        </p:txBody>
      </p:sp>
      <p:sp>
        <p:nvSpPr>
          <p:cNvPr id="10" name="Text 7"/>
          <p:cNvSpPr txBox="1"/>
          <p:nvPr/>
        </p:nvSpPr>
        <p:spPr>
          <a:xfrm>
            <a:off x="822960"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Who (ServiceAccount, user, group) can do what (verbs on resources) where. </a:t>
            </a:r>
            <a:pPr indent="0" marL="0">
              <a:spcAft>
                <a:spcPts val="600"/>
              </a:spcAft>
              <a:buNone/>
            </a:pPr>
            <a:r>
              <a:rPr lang="en-US" sz="1500" b="1" dirty="0">
                <a:solidFill>
                  <a:schemeClr val="tx1"/>
                </a:solidFill>
              </a:rPr>
              <a:t>Role</a:t>
            </a:r>
            <a:pPr indent="0" marL="0">
              <a:spcAft>
                <a:spcPts val="600"/>
              </a:spcAft>
              <a:buNone/>
            </a:pPr>
            <a:r>
              <a:rPr lang="en-US" sz="1500" dirty="0">
                <a:solidFill>
                  <a:schemeClr val="tx1"/>
                </a:solidFill>
              </a:rPr>
              <a:t> = permissions in one namespace, </a:t>
            </a:r>
            <a:pPr indent="0" marL="0">
              <a:spcAft>
                <a:spcPts val="600"/>
              </a:spcAft>
              <a:buNone/>
            </a:pPr>
            <a:r>
              <a:rPr lang="en-US" sz="1500" b="1" dirty="0">
                <a:solidFill>
                  <a:schemeClr val="tx1"/>
                </a:solidFill>
              </a:rPr>
              <a:t>ClusterRole</a:t>
            </a:r>
            <a:pPr indent="0" marL="0">
              <a:spcAft>
                <a:spcPts val="600"/>
              </a:spcAft>
              <a:buNone/>
            </a:pPr>
            <a:r>
              <a:rPr lang="en-US" sz="1500" dirty="0">
                <a:solidFill>
                  <a:schemeClr val="tx1"/>
                </a:solidFill>
              </a:rPr>
              <a:t> = cluster-wide.</a:t>
            </a:r>
            <a:endParaRPr lang="en-US" sz="1500" dirty="0"/>
          </a:p>
          <a:p>
            <a:pPr indent="0" marL="0">
              <a:spcAft>
                <a:spcPts val="600"/>
              </a:spcAft>
              <a:buNone/>
            </a:pPr>
            <a:r>
              <a:rPr lang="en-US" sz="1500" dirty="0">
                <a:solidFill>
                  <a:schemeClr val="tx1"/>
                </a:solidFill>
              </a:rPr>
              <a:t>A </a:t>
            </a:r>
            <a:pPr indent="0" marL="0">
              <a:spcAft>
                <a:spcPts val="600"/>
              </a:spcAft>
              <a:buNone/>
            </a:pPr>
            <a:r>
              <a:rPr lang="en-US" sz="1500" b="1" dirty="0">
                <a:solidFill>
                  <a:schemeClr val="tx1"/>
                </a:solidFill>
              </a:rPr>
              <a:t>RoleBinding</a:t>
            </a:r>
            <a:pPr indent="0" marL="0">
              <a:spcAft>
                <a:spcPts val="600"/>
              </a:spcAft>
              <a:buNone/>
            </a:pPr>
            <a:r>
              <a:rPr lang="en-US" sz="1500" dirty="0">
                <a:solidFill>
                  <a:schemeClr val="tx1"/>
                </a:solidFill>
              </a:rPr>
              <a:t> connects a Role to a subject. Default is deny.</a:t>
            </a:r>
            <a:endParaRPr lang="en-US" sz="1500" dirty="0"/>
          </a:p>
        </p:txBody>
      </p:sp>
      <p:sp>
        <p:nvSpPr>
          <p:cNvPr id="11" name="card securityContext"/>
          <p:cNvSpPr/>
          <p:nvPr/>
        </p:nvSpPr>
        <p:spPr>
          <a:xfrm>
            <a:off x="6199632" y="1417320"/>
            <a:ext cx="5440680" cy="2240280"/>
          </a:xfrm>
          <a:prstGeom prst="roundRect">
            <a:avLst>
              <a:gd name="adj" fmla="val 3265"/>
            </a:avLst>
          </a:prstGeom>
          <a:solidFill>
            <a:schemeClr val="accent3">
              <a:alpha val="12000"/>
            </a:schemeClr>
          </a:solidFill>
          <a:ln w="9525">
            <a:solidFill>
              <a:schemeClr val="accent3"/>
            </a:solidFill>
            <a:prstDash val="solid"/>
          </a:ln>
        </p:spPr>
      </p:sp>
      <p:sp>
        <p:nvSpPr>
          <p:cNvPr id="12" name="card icon"/>
          <p:cNvSpPr/>
          <p:nvPr/>
        </p:nvSpPr>
        <p:spPr>
          <a:xfrm>
            <a:off x="6428232" y="1618488"/>
            <a:ext cx="548640" cy="548640"/>
          </a:xfrm>
          <a:prstGeom prst="ellipse">
            <a:avLst/>
          </a:prstGeom>
          <a:solidFill>
            <a:schemeClr val="accent3"/>
          </a:solidFill>
          <a:ln w="12700">
            <a:solidFill>
              <a:schemeClr val="accent3"/>
            </a:solidFill>
            <a:prstDash val="solid"/>
          </a:ln>
        </p:spPr>
      </p:sp>
      <p:pic>
        <p:nvPicPr>
          <p:cNvPr id="13" name="icon FaLock" descr="FaLock">    </p:cNvPr>
          <p:cNvPicPr>
            <a:picLocks noChangeAspect="1"/>
          </p:cNvPicPr>
          <p:nvPr/>
        </p:nvPicPr>
        <p:blipFill>
          <a:blip r:embed="rId2"/>
          <a:stretch>
            <a:fillRect/>
          </a:stretch>
        </p:blipFill>
        <p:spPr>
          <a:xfrm>
            <a:off x="6570878" y="1761134"/>
            <a:ext cx="263347" cy="263347"/>
          </a:xfrm>
          <a:prstGeom prst="rect">
            <a:avLst/>
          </a:prstGeom>
        </p:spPr>
      </p:pic>
      <p:sp>
        <p:nvSpPr>
          <p:cNvPr id="14" name="Text 10"/>
          <p:cNvSpPr txBox="1"/>
          <p:nvPr/>
        </p:nvSpPr>
        <p:spPr>
          <a:xfrm>
            <a:off x="7159752" y="16184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securityContext</a:t>
            </a:r>
            <a:endParaRPr lang="en-US" sz="1900" dirty="0"/>
          </a:p>
        </p:txBody>
      </p:sp>
      <p:sp>
        <p:nvSpPr>
          <p:cNvPr id="15" name="Text 11"/>
          <p:cNvSpPr txBox="1"/>
          <p:nvPr/>
        </p:nvSpPr>
        <p:spPr>
          <a:xfrm>
            <a:off x="6473952" y="23134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Bring Week 2’s container security into Pods: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runAsNonRoot</a:t>
            </a:r>
            <a:pPr indent="0" marL="0">
              <a:spcAft>
                <a:spcPts val="600"/>
              </a:spcAft>
              <a:buNone/>
            </a:pPr>
            <a:r>
              <a:rPr lang="en-US" sz="1500" dirty="0">
                <a:solidFill>
                  <a:schemeClr val="tx1"/>
                </a:solidFill>
              </a:rPr>
              <a: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readOnlyRootFilesystem</a:t>
            </a:r>
            <a:pPr indent="0" marL="0">
              <a:spcAft>
                <a:spcPts val="600"/>
              </a:spcAft>
              <a:buNone/>
            </a:pPr>
            <a:r>
              <a:rPr lang="en-US" sz="1500" dirty="0">
                <a:solidFill>
                  <a:schemeClr val="tx1"/>
                </a:solidFill>
              </a:rPr>
              <a:t>,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allowPrivilegeEscalation: false</a:t>
            </a:r>
            <a:pPr indent="0" marL="0">
              <a:spcAft>
                <a:spcPts val="600"/>
              </a:spcAft>
              <a:buNone/>
            </a:pPr>
            <a:r>
              <a:rPr lang="en-US" sz="1500" dirty="0">
                <a:solidFill>
                  <a:schemeClr val="tx1"/>
                </a:solidFill>
              </a:rPr>
              <a:t>, drop </a:t>
            </a:r>
            <a:pPr indent="0" marL="0">
              <a:spcAft>
                <a:spcPts val="600"/>
              </a:spcAft>
              <a:buNone/>
            </a:pPr>
            <a:r>
              <a:rPr lang="en-US" sz="1400" dirty="0">
                <a:solidFill>
                  <a:schemeClr val="accent1"/>
                </a:solidFill>
                <a:latin typeface="Courier New" pitchFamily="34" charset="0"/>
                <a:ea typeface="Courier New" pitchFamily="34" charset="-122"/>
                <a:cs typeface="Courier New" pitchFamily="34" charset="-120"/>
              </a:rPr>
              <a:t>ALL</a:t>
            </a:r>
            <a:pPr indent="0" marL="0">
              <a:spcAft>
                <a:spcPts val="600"/>
              </a:spcAft>
              <a:buNone/>
            </a:pPr>
            <a:r>
              <a:rPr lang="en-US" sz="1500" dirty="0">
                <a:solidFill>
                  <a:schemeClr val="tx1"/>
                </a:solidFill>
              </a:rPr>
              <a:t> capabilities.</a:t>
            </a:r>
            <a:endParaRPr lang="en-US" sz="1500" dirty="0"/>
          </a:p>
          <a:p>
            <a:pPr indent="0" marL="0">
              <a:spcAft>
                <a:spcPts val="600"/>
              </a:spcAft>
              <a:buNone/>
            </a:pPr>
            <a:r>
              <a:rPr lang="en-US" sz="1500" dirty="0">
                <a:solidFill>
                  <a:schemeClr val="tx1"/>
                </a:solidFill>
              </a:rPr>
              <a:t>Least privilege inside the container.</a:t>
            </a:r>
            <a:endParaRPr lang="en-US" sz="1500" dirty="0"/>
          </a:p>
        </p:txBody>
      </p:sp>
      <p:sp>
        <p:nvSpPr>
          <p:cNvPr id="16" name="card Pod Security Standards"/>
          <p:cNvSpPr/>
          <p:nvPr/>
        </p:nvSpPr>
        <p:spPr>
          <a:xfrm>
            <a:off x="548640" y="3931920"/>
            <a:ext cx="5440680" cy="2240280"/>
          </a:xfrm>
          <a:prstGeom prst="roundRect">
            <a:avLst>
              <a:gd name="adj" fmla="val 3265"/>
            </a:avLst>
          </a:prstGeom>
          <a:solidFill>
            <a:schemeClr val="accent4">
              <a:alpha val="12000"/>
            </a:schemeClr>
          </a:solidFill>
          <a:ln w="9525">
            <a:solidFill>
              <a:schemeClr val="accent4"/>
            </a:solidFill>
            <a:prstDash val="solid"/>
          </a:ln>
        </p:spPr>
      </p:sp>
      <p:sp>
        <p:nvSpPr>
          <p:cNvPr id="17" name="card icon"/>
          <p:cNvSpPr/>
          <p:nvPr/>
        </p:nvSpPr>
        <p:spPr>
          <a:xfrm>
            <a:off x="777240" y="4133088"/>
            <a:ext cx="548640" cy="548640"/>
          </a:xfrm>
          <a:prstGeom prst="ellipse">
            <a:avLst/>
          </a:prstGeom>
          <a:solidFill>
            <a:schemeClr val="accent4"/>
          </a:solidFill>
          <a:ln w="12700">
            <a:solidFill>
              <a:schemeClr val="accent4"/>
            </a:solidFill>
            <a:prstDash val="solid"/>
          </a:ln>
        </p:spPr>
      </p:sp>
      <p:pic>
        <p:nvPicPr>
          <p:cNvPr id="18" name="icon FaShieldAlt" descr="FaShieldAlt">    </p:cNvPr>
          <p:cNvPicPr>
            <a:picLocks noChangeAspect="1"/>
          </p:cNvPicPr>
          <p:nvPr/>
        </p:nvPicPr>
        <p:blipFill>
          <a:blip r:embed="rId3"/>
          <a:stretch>
            <a:fillRect/>
          </a:stretch>
        </p:blipFill>
        <p:spPr>
          <a:xfrm>
            <a:off x="919886" y="4275734"/>
            <a:ext cx="263347" cy="263347"/>
          </a:xfrm>
          <a:prstGeom prst="rect">
            <a:avLst/>
          </a:prstGeom>
        </p:spPr>
      </p:pic>
      <p:sp>
        <p:nvSpPr>
          <p:cNvPr id="19" name="Text 14"/>
          <p:cNvSpPr txBox="1"/>
          <p:nvPr/>
        </p:nvSpPr>
        <p:spPr>
          <a:xfrm>
            <a:off x="1508760"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Pod Security Standards</a:t>
            </a:r>
            <a:endParaRPr lang="en-US" sz="1900" dirty="0"/>
          </a:p>
        </p:txBody>
      </p:sp>
      <p:sp>
        <p:nvSpPr>
          <p:cNvPr id="20" name="Text 15"/>
          <p:cNvSpPr txBox="1"/>
          <p:nvPr/>
        </p:nvSpPr>
        <p:spPr>
          <a:xfrm>
            <a:off x="822960" y="4828032"/>
            <a:ext cx="4892040" cy="123444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Namespace labels enforce a profile: </a:t>
            </a:r>
            <a:pPr indent="0" marL="0">
              <a:spcAft>
                <a:spcPts val="600"/>
              </a:spcAft>
              <a:buNone/>
            </a:pPr>
            <a:r>
              <a:rPr lang="en-US" sz="1500" b="1" dirty="0">
                <a:solidFill>
                  <a:schemeClr val="tx1"/>
                </a:solidFill>
              </a:rPr>
              <a:t>privileged</a:t>
            </a:r>
            <a:pPr indent="0" marL="0">
              <a:spcAft>
                <a:spcPts val="600"/>
              </a:spcAft>
              <a:buNone/>
            </a:pPr>
            <a:r>
              <a:rPr lang="en-US" sz="1500" dirty="0">
                <a:solidFill>
                  <a:schemeClr val="tx1"/>
                </a:solidFill>
              </a:rPr>
              <a:t>, </a:t>
            </a:r>
            <a:pPr indent="0" marL="0">
              <a:spcAft>
                <a:spcPts val="600"/>
              </a:spcAft>
              <a:buNone/>
            </a:pPr>
            <a:r>
              <a:rPr lang="en-US" sz="1500" b="1" dirty="0">
                <a:solidFill>
                  <a:schemeClr val="tx1"/>
                </a:solidFill>
              </a:rPr>
              <a:t>baseline</a:t>
            </a:r>
            <a:pPr indent="0" marL="0">
              <a:spcAft>
                <a:spcPts val="600"/>
              </a:spcAft>
              <a:buNone/>
            </a:pPr>
            <a:r>
              <a:rPr lang="en-US" sz="1500" dirty="0">
                <a:solidFill>
                  <a:schemeClr val="tx1"/>
                </a:solidFill>
              </a:rPr>
              <a:t> or </a:t>
            </a:r>
            <a:pPr indent="0" marL="0">
              <a:spcAft>
                <a:spcPts val="600"/>
              </a:spcAft>
              <a:buNone/>
            </a:pPr>
            <a:r>
              <a:rPr lang="en-US" sz="1500" b="1" dirty="0">
                <a:solidFill>
                  <a:schemeClr val="tx1"/>
                </a:solidFill>
              </a:rPr>
              <a:t>restricted</a:t>
            </a:r>
            <a:pPr indent="0" marL="0">
              <a:spcAft>
                <a:spcPts val="600"/>
              </a:spcAft>
              <a:buNone/>
            </a:pPr>
            <a:r>
              <a:rPr lang="en-US" sz="1500" dirty="0">
                <a:solidFill>
                  <a:schemeClr val="tx1"/>
                </a:solidFill>
              </a:rPr>
              <a:t>.</a:t>
            </a:r>
            <a:endParaRPr lang="en-US" sz="1500" dirty="0"/>
          </a:p>
          <a:p>
            <a:pPr indent="0" marL="0">
              <a:spcAft>
                <a:spcPts val="600"/>
              </a:spcAft>
              <a:buNone/>
            </a:pPr>
            <a:r>
              <a:rPr lang="en-US" sz="1500" dirty="0">
                <a:solidFill>
                  <a:schemeClr val="tx1"/>
                </a:solidFill>
              </a:rPr>
              <a:t>A restricted namespace rejects Pods that run as root or add capabilities, at admission time.</a:t>
            </a:r>
            <a:endParaRPr lang="en-US" sz="1500" dirty="0"/>
          </a:p>
        </p:txBody>
      </p:sp>
      <p:sp>
        <p:nvSpPr>
          <p:cNvPr id="21" name="card The debug routine"/>
          <p:cNvSpPr/>
          <p:nvPr/>
        </p:nvSpPr>
        <p:spPr>
          <a:xfrm>
            <a:off x="6199632" y="3931920"/>
            <a:ext cx="5440680" cy="2240280"/>
          </a:xfrm>
          <a:prstGeom prst="roundRect">
            <a:avLst>
              <a:gd name="adj" fmla="val 3265"/>
            </a:avLst>
          </a:prstGeom>
          <a:solidFill>
            <a:schemeClr val="accent5">
              <a:alpha val="12000"/>
            </a:schemeClr>
          </a:solidFill>
          <a:ln w="9525">
            <a:solidFill>
              <a:schemeClr val="accent5"/>
            </a:solidFill>
            <a:prstDash val="solid"/>
          </a:ln>
        </p:spPr>
      </p:sp>
      <p:sp>
        <p:nvSpPr>
          <p:cNvPr id="22" name="card icon"/>
          <p:cNvSpPr/>
          <p:nvPr/>
        </p:nvSpPr>
        <p:spPr>
          <a:xfrm>
            <a:off x="6428232" y="4133088"/>
            <a:ext cx="548640" cy="548640"/>
          </a:xfrm>
          <a:prstGeom prst="ellipse">
            <a:avLst/>
          </a:prstGeom>
          <a:solidFill>
            <a:schemeClr val="accent5"/>
          </a:solidFill>
          <a:ln w="12700">
            <a:solidFill>
              <a:schemeClr val="accent5"/>
            </a:solidFill>
            <a:prstDash val="solid"/>
          </a:ln>
        </p:spPr>
      </p:sp>
      <p:pic>
        <p:nvPicPr>
          <p:cNvPr id="23" name="icon FaBug" descr="FaBug">    </p:cNvPr>
          <p:cNvPicPr>
            <a:picLocks noChangeAspect="1"/>
          </p:cNvPicPr>
          <p:nvPr/>
        </p:nvPicPr>
        <p:blipFill>
          <a:blip r:embed="rId4"/>
          <a:stretch>
            <a:fillRect/>
          </a:stretch>
        </p:blipFill>
        <p:spPr>
          <a:xfrm>
            <a:off x="6570878" y="4275734"/>
            <a:ext cx="263347" cy="263347"/>
          </a:xfrm>
          <a:prstGeom prst="rect">
            <a:avLst/>
          </a:prstGeom>
        </p:spPr>
      </p:pic>
      <p:sp>
        <p:nvSpPr>
          <p:cNvPr id="24" name="Text 18"/>
          <p:cNvSpPr txBox="1"/>
          <p:nvPr/>
        </p:nvSpPr>
        <p:spPr>
          <a:xfrm>
            <a:off x="7159752" y="4133088"/>
            <a:ext cx="4251960" cy="548640"/>
          </a:xfrm>
          <a:prstGeom prst="rect">
            <a:avLst/>
          </a:prstGeom>
          <a:noFill/>
          <a:ln/>
        </p:spPr>
        <p:txBody>
          <a:bodyPr wrap="square" lIns="0" tIns="0" rIns="0" bIns="0" rtlCol="0" anchor="ctr"/>
          <a:lstStyle/>
          <a:p>
            <a:pPr indent="0" marL="0">
              <a:buNone/>
            </a:pPr>
            <a:r>
              <a:rPr lang="en-US" sz="1900" b="1" dirty="0">
                <a:solidFill>
                  <a:schemeClr val="tx2"/>
                </a:solidFill>
              </a:rPr>
              <a:t>The debug routine</a:t>
            </a:r>
            <a:endParaRPr lang="en-US" sz="1900" dirty="0"/>
          </a:p>
        </p:txBody>
      </p:sp>
      <p:sp>
        <p:nvSpPr>
          <p:cNvPr id="25" name="Text 19"/>
          <p:cNvSpPr txBox="1"/>
          <p:nvPr/>
        </p:nvSpPr>
        <p:spPr>
          <a:xfrm>
            <a:off x="6473952" y="4828032"/>
            <a:ext cx="4892040" cy="12344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get → describe → logs → events → exec.</a:t>
            </a:r>
            <a:pPr indent="0" marL="0">
              <a:spcAft>
                <a:spcPts val="600"/>
              </a:spcAft>
              <a:buNone/>
            </a:pPr>
            <a:r>
              <a:rPr lang="en-US" sz="1500" dirty="0">
                <a:solidFill>
                  <a:schemeClr val="tx1"/>
                </a:solidFill>
              </a:rPr>
              <a:t> The status tells you where to look: Pending = scheduling, ImagePullBackOff = image, CrashLoopBackOff = the app.</a:t>
            </a:r>
            <a:endParaRPr lang="en-US" sz="1500" dirty="0"/>
          </a:p>
          <a:p>
            <a:pPr indent="0" marL="0">
              <a:spcAft>
                <a:spcPts val="600"/>
              </a:spcAft>
              <a:buNone/>
            </a:pPr>
            <a:r>
              <a:rPr lang="en-US" sz="1500" dirty="0">
                <a:solidFill>
                  <a:schemeClr val="tx1"/>
                </a:solidFill>
              </a:rPr>
              <a:t>Read Events first.</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PICTURE IT</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Which status? Where to look</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6" name="Text 4"/>
          <p:cNvSpPr txBox="1"/>
          <p:nvPr/>
        </p:nvSpPr>
        <p:spPr>
          <a:xfrm>
            <a:off x="4544568" y="1371600"/>
            <a:ext cx="3108960" cy="640080"/>
          </a:xfrm>
          <a:prstGeom prst="roundRect">
            <a:avLst>
              <a:gd name="adj" fmla="val 11429"/>
            </a:avLst>
          </a:prstGeom>
          <a:solidFill>
            <a:schemeClr val="tx2"/>
          </a:solidFill>
          <a:ln w="12700">
            <a:solidFill>
              <a:schemeClr val="tx2"/>
            </a:solidFill>
          </a:ln>
        </p:spPr>
        <p:txBody>
          <a:bodyPr wrap="square" lIns="50800" tIns="101600" rIns="101600" bIns="5080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kubectl get pods</a:t>
            </a:r>
            <a:endParaRPr lang="en-US" sz="1800" dirty="0"/>
          </a:p>
        </p:txBody>
      </p:sp>
      <p:sp>
        <p:nvSpPr>
          <p:cNvPr id="7" name="Text 5"/>
          <p:cNvSpPr txBox="1"/>
          <p:nvPr/>
        </p:nvSpPr>
        <p:spPr>
          <a:xfrm>
            <a:off x="548640" y="1371600"/>
            <a:ext cx="3657600" cy="640080"/>
          </a:xfrm>
          <a:prstGeom prst="rect">
            <a:avLst/>
          </a:prstGeom>
          <a:noFill/>
          <a:ln/>
        </p:spPr>
        <p:txBody>
          <a:bodyPr wrap="square" lIns="0" tIns="0" rIns="0" bIns="0" rtlCol="0" anchor="ctr"/>
          <a:lstStyle/>
          <a:p>
            <a:pPr indent="0" marL="0">
              <a:buNone/>
            </a:pPr>
            <a:r>
              <a:rPr lang="en-US" sz="1600" b="1" dirty="0">
                <a:solidFill>
                  <a:schemeClr val="tx2"/>
                </a:solidFill>
              </a:rPr>
              <a:t>Start with the STATUS column.</a:t>
            </a:r>
            <a:endParaRPr lang="en-US" sz="1600" dirty="0"/>
          </a:p>
        </p:txBody>
      </p:sp>
      <p:sp>
        <p:nvSpPr>
          <p:cNvPr id="8" name="Text 6"/>
          <p:cNvSpPr txBox="1"/>
          <p:nvPr/>
        </p:nvSpPr>
        <p:spPr>
          <a:xfrm>
            <a:off x="8001000" y="1371600"/>
            <a:ext cx="3642055" cy="640080"/>
          </a:xfrm>
          <a:prstGeom prst="roundRect">
            <a:avLst>
              <a:gd name="adj" fmla="val 11429"/>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400" b="1" dirty="0">
                <a:solidFill>
                  <a:schemeClr val="tx2"/>
                </a:solidFill>
              </a:rPr>
              <a:t>get → describe → logs → events → exec</a:t>
            </a:r>
            <a:endParaRPr lang="en-US" sz="1400" dirty="0"/>
          </a:p>
        </p:txBody>
      </p:sp>
      <p:sp>
        <p:nvSpPr>
          <p:cNvPr id="9" name="Text 7"/>
          <p:cNvSpPr txBox="1"/>
          <p:nvPr/>
        </p:nvSpPr>
        <p:spPr>
          <a:xfrm>
            <a:off x="548640" y="2743200"/>
            <a:ext cx="2697480" cy="548640"/>
          </a:xfrm>
          <a:prstGeom prst="roundRect">
            <a:avLst>
              <a:gd name="adj" fmla="val 13333"/>
            </a:avLst>
          </a:prstGeom>
          <a:solidFill>
            <a:schemeClr val="accent2"/>
          </a:solidFill>
          <a:ln w="12700">
            <a:solidFill>
              <a:schemeClr val="accent2"/>
            </a:solidFill>
          </a:ln>
        </p:spPr>
        <p:txBody>
          <a:bodyPr wrap="square" lIns="50800" tIns="101600" rIns="101600" bIns="50800" rtlCol="0" anchor="ctr"/>
          <a:lstStyle/>
          <a:p>
            <a:pPr algn="ctr" indent="0" marL="0">
              <a:buNone/>
            </a:pPr>
            <a:r>
              <a:rPr lang="en-US" sz="1600" b="1" dirty="0">
                <a:solidFill>
                  <a:schemeClr val="tx2"/>
                </a:solidFill>
              </a:rPr>
              <a:t>Pending</a:t>
            </a:r>
            <a:endParaRPr lang="en-US" sz="1600" dirty="0"/>
          </a:p>
        </p:txBody>
      </p:sp>
      <p:sp>
        <p:nvSpPr>
          <p:cNvPr id="10" name="arrow"/>
          <p:cNvSpPr/>
          <p:nvPr/>
        </p:nvSpPr>
        <p:spPr>
          <a:xfrm flipH="1">
            <a:off x="1897380" y="2011680"/>
            <a:ext cx="4201668" cy="731520"/>
          </a:xfrm>
          <a:prstGeom prst="line">
            <a:avLst/>
          </a:prstGeom>
          <a:noFill/>
          <a:ln w="28575">
            <a:solidFill>
              <a:schemeClr val="accent1"/>
            </a:solidFill>
            <a:prstDash val="solid"/>
            <a:tailEnd type="triangle"/>
          </a:ln>
        </p:spPr>
      </p:sp>
      <p:sp>
        <p:nvSpPr>
          <p:cNvPr id="11" name="cause Pending"/>
          <p:cNvSpPr/>
          <p:nvPr/>
        </p:nvSpPr>
        <p:spPr>
          <a:xfrm>
            <a:off x="548640" y="3383280"/>
            <a:ext cx="2697480" cy="1463040"/>
          </a:xfrm>
          <a:prstGeom prst="roundRect">
            <a:avLst>
              <a:gd name="adj" fmla="val 5000"/>
            </a:avLst>
          </a:prstGeom>
          <a:solidFill>
            <a:schemeClr val="accent1">
              <a:alpha val="10000"/>
            </a:schemeClr>
          </a:solidFill>
          <a:ln w="9525">
            <a:solidFill>
              <a:schemeClr val="accent1"/>
            </a:solidFill>
            <a:prstDash val="solid"/>
          </a:ln>
        </p:spPr>
      </p:sp>
      <p:sp>
        <p:nvSpPr>
          <p:cNvPr id="12" name="Text 10"/>
          <p:cNvSpPr txBox="1"/>
          <p:nvPr/>
        </p:nvSpPr>
        <p:spPr>
          <a:xfrm>
            <a:off x="685800" y="3456432"/>
            <a:ext cx="2423160" cy="1325880"/>
          </a:xfrm>
          <a:prstGeom prst="rect">
            <a:avLst/>
          </a:prstGeom>
          <a:noFill/>
          <a:ln/>
        </p:spPr>
        <p:txBody>
          <a:bodyPr wrap="square" lIns="0" tIns="0" rIns="0" bIns="0" rtlCol="0" anchor="t"/>
          <a:lstStyle/>
          <a:p>
            <a:pPr indent="0" marL="0">
              <a:buNone/>
            </a:pPr>
            <a:r>
              <a:rPr lang="en-US" sz="1400" b="1" dirty="0">
                <a:solidFill>
                  <a:schemeClr val="tx2"/>
                </a:solidFill>
              </a:rPr>
              <a:t>Not scheduled.</a:t>
            </a:r>
            <a:endParaRPr lang="en-US" sz="1400" dirty="0"/>
          </a:p>
          <a:p>
            <a:pPr indent="0" marL="0">
              <a:buNone/>
            </a:pPr>
            <a:r>
              <a:rPr lang="en-US" sz="1300" dirty="0">
                <a:solidFill>
                  <a:schemeClr val="tx1"/>
                </a:solidFill>
              </a:rPr>
              <a:t>Not enough CPU or memory, taint or node selector mismatch, unbound PVC.</a:t>
            </a:r>
            <a:endParaRPr lang="en-US" sz="1400" dirty="0"/>
          </a:p>
        </p:txBody>
      </p:sp>
      <p:sp>
        <p:nvSpPr>
          <p:cNvPr id="13" name="check box"/>
          <p:cNvSpPr/>
          <p:nvPr/>
        </p:nvSpPr>
        <p:spPr>
          <a:xfrm>
            <a:off x="548640" y="4983480"/>
            <a:ext cx="2697480" cy="914400"/>
          </a:xfrm>
          <a:prstGeom prst="roundRect">
            <a:avLst>
              <a:gd name="adj" fmla="val 6000"/>
            </a:avLst>
          </a:prstGeom>
          <a:solidFill>
            <a:schemeClr val="tx2"/>
          </a:solidFill>
          <a:ln w="12700">
            <a:solidFill>
              <a:schemeClr val="tx2"/>
            </a:solidFill>
            <a:prstDash val="solid"/>
          </a:ln>
        </p:spPr>
      </p:sp>
      <p:sp>
        <p:nvSpPr>
          <p:cNvPr id="14" name="Text 12"/>
          <p:cNvSpPr txBox="1"/>
          <p:nvPr/>
        </p:nvSpPr>
        <p:spPr>
          <a:xfrm>
            <a:off x="685800" y="5074920"/>
            <a:ext cx="2423160" cy="731520"/>
          </a:xfrm>
          <a:prstGeom prst="rect">
            <a:avLst/>
          </a:prstGeom>
          <a:noFill/>
          <a:ln/>
        </p:spPr>
        <p:txBody>
          <a:bodyPr wrap="square" lIns="0" tIns="0" rIns="0" bIns="0" rtlCol="0" anchor="ctr"/>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describe pod X</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read the Events</a:t>
            </a:r>
            <a:endParaRPr lang="en-US" sz="1100" dirty="0"/>
          </a:p>
        </p:txBody>
      </p:sp>
      <p:sp>
        <p:nvSpPr>
          <p:cNvPr id="15" name="Text 13"/>
          <p:cNvSpPr txBox="1"/>
          <p:nvPr/>
        </p:nvSpPr>
        <p:spPr>
          <a:xfrm>
            <a:off x="3346704" y="2743200"/>
            <a:ext cx="2697480" cy="548640"/>
          </a:xfrm>
          <a:prstGeom prst="roundRect">
            <a:avLst>
              <a:gd name="adj" fmla="val 13333"/>
            </a:avLst>
          </a:prstGeom>
          <a:solidFill>
            <a:schemeClr val="accent4"/>
          </a:solidFill>
          <a:ln w="12700">
            <a:solidFill>
              <a:schemeClr val="accent4"/>
            </a:solidFill>
          </a:ln>
        </p:spPr>
        <p:txBody>
          <a:bodyPr wrap="square" lIns="50800" tIns="101600" rIns="101600" bIns="50800" rtlCol="0" anchor="ctr"/>
          <a:lstStyle/>
          <a:p>
            <a:pPr algn="ctr" indent="0" marL="0">
              <a:buNone/>
            </a:pPr>
            <a:r>
              <a:rPr lang="en-US" sz="1600" b="1" dirty="0">
                <a:solidFill>
                  <a:schemeClr val="tx2"/>
                </a:solidFill>
              </a:rPr>
              <a:t>ImagePullBackOff</a:t>
            </a:r>
            <a:endParaRPr lang="en-US" sz="1600" dirty="0"/>
          </a:p>
        </p:txBody>
      </p:sp>
      <p:sp>
        <p:nvSpPr>
          <p:cNvPr id="16" name="arrow"/>
          <p:cNvSpPr/>
          <p:nvPr/>
        </p:nvSpPr>
        <p:spPr>
          <a:xfrm flipH="1">
            <a:off x="4695444" y="2011680"/>
            <a:ext cx="1403604" cy="731520"/>
          </a:xfrm>
          <a:prstGeom prst="line">
            <a:avLst/>
          </a:prstGeom>
          <a:noFill/>
          <a:ln w="28575">
            <a:solidFill>
              <a:schemeClr val="accent1"/>
            </a:solidFill>
            <a:prstDash val="solid"/>
            <a:tailEnd type="triangle"/>
          </a:ln>
        </p:spPr>
      </p:sp>
      <p:sp>
        <p:nvSpPr>
          <p:cNvPr id="17" name="cause ImagePullBackOff"/>
          <p:cNvSpPr/>
          <p:nvPr/>
        </p:nvSpPr>
        <p:spPr>
          <a:xfrm>
            <a:off x="3346704" y="3383280"/>
            <a:ext cx="2697480" cy="1463040"/>
          </a:xfrm>
          <a:prstGeom prst="roundRect">
            <a:avLst>
              <a:gd name="adj" fmla="val 5000"/>
            </a:avLst>
          </a:prstGeom>
          <a:solidFill>
            <a:schemeClr val="accent1">
              <a:alpha val="10000"/>
            </a:schemeClr>
          </a:solidFill>
          <a:ln w="9525">
            <a:solidFill>
              <a:schemeClr val="accent1"/>
            </a:solidFill>
            <a:prstDash val="solid"/>
          </a:ln>
        </p:spPr>
      </p:sp>
      <p:sp>
        <p:nvSpPr>
          <p:cNvPr id="18" name="Text 16"/>
          <p:cNvSpPr txBox="1"/>
          <p:nvPr/>
        </p:nvSpPr>
        <p:spPr>
          <a:xfrm>
            <a:off x="3483864" y="3456432"/>
            <a:ext cx="2423160" cy="1325880"/>
          </a:xfrm>
          <a:prstGeom prst="rect">
            <a:avLst/>
          </a:prstGeom>
          <a:noFill/>
          <a:ln/>
        </p:spPr>
        <p:txBody>
          <a:bodyPr wrap="square" lIns="0" tIns="0" rIns="0" bIns="0" rtlCol="0" anchor="t"/>
          <a:lstStyle/>
          <a:p>
            <a:pPr indent="0" marL="0">
              <a:buNone/>
            </a:pPr>
            <a:r>
              <a:rPr lang="en-US" sz="1400" b="1" dirty="0">
                <a:solidFill>
                  <a:schemeClr val="tx2"/>
                </a:solidFill>
              </a:rPr>
              <a:t>Image cannot be pulled.</a:t>
            </a:r>
            <a:endParaRPr lang="en-US" sz="1400" dirty="0"/>
          </a:p>
          <a:p>
            <a:pPr indent="0" marL="0">
              <a:buNone/>
            </a:pPr>
            <a:r>
              <a:rPr lang="en-US" sz="1300" dirty="0">
                <a:solidFill>
                  <a:schemeClr val="tx1"/>
                </a:solidFill>
              </a:rPr>
              <a:t>Wrong name or tag, private registry, local image not loaded into kind.</a:t>
            </a:r>
            <a:endParaRPr lang="en-US" sz="1400" dirty="0"/>
          </a:p>
        </p:txBody>
      </p:sp>
      <p:sp>
        <p:nvSpPr>
          <p:cNvPr id="19" name="check box"/>
          <p:cNvSpPr/>
          <p:nvPr/>
        </p:nvSpPr>
        <p:spPr>
          <a:xfrm>
            <a:off x="3346704" y="4983480"/>
            <a:ext cx="2697480" cy="914400"/>
          </a:xfrm>
          <a:prstGeom prst="roundRect">
            <a:avLst>
              <a:gd name="adj" fmla="val 6000"/>
            </a:avLst>
          </a:prstGeom>
          <a:solidFill>
            <a:schemeClr val="tx2"/>
          </a:solidFill>
          <a:ln w="12700">
            <a:solidFill>
              <a:schemeClr val="tx2"/>
            </a:solidFill>
            <a:prstDash val="solid"/>
          </a:ln>
        </p:spPr>
      </p:sp>
      <p:sp>
        <p:nvSpPr>
          <p:cNvPr id="20" name="Text 18"/>
          <p:cNvSpPr txBox="1"/>
          <p:nvPr/>
        </p:nvSpPr>
        <p:spPr>
          <a:xfrm>
            <a:off x="3483864" y="5074920"/>
            <a:ext cx="2423160" cy="731520"/>
          </a:xfrm>
          <a:prstGeom prst="rect">
            <a:avLst/>
          </a:prstGeom>
          <a:noFill/>
          <a:ln/>
        </p:spPr>
        <p:txBody>
          <a:bodyPr wrap="square" lIns="0" tIns="0" rIns="0" bIns="0" rtlCol="0" anchor="ctr"/>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describe pod X</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kind load docker-image …</a:t>
            </a:r>
            <a:endParaRPr lang="en-US" sz="1100" dirty="0"/>
          </a:p>
        </p:txBody>
      </p:sp>
      <p:sp>
        <p:nvSpPr>
          <p:cNvPr id="21" name="Text 19"/>
          <p:cNvSpPr txBox="1"/>
          <p:nvPr/>
        </p:nvSpPr>
        <p:spPr>
          <a:xfrm>
            <a:off x="6144768" y="2743200"/>
            <a:ext cx="2697480" cy="548640"/>
          </a:xfrm>
          <a:prstGeom prst="roundRect">
            <a:avLst>
              <a:gd name="adj" fmla="val 13333"/>
            </a:avLst>
          </a:prstGeom>
          <a:solidFill>
            <a:schemeClr val="accent5"/>
          </a:solidFill>
          <a:ln w="12700">
            <a:solidFill>
              <a:schemeClr val="accent5"/>
            </a:solidFill>
          </a:ln>
        </p:spPr>
        <p:txBody>
          <a:bodyPr wrap="square" lIns="50800" tIns="101600" rIns="101600" bIns="50800" rtlCol="0" anchor="ctr"/>
          <a:lstStyle/>
          <a:p>
            <a:pPr algn="ctr" indent="0" marL="0">
              <a:buNone/>
            </a:pPr>
            <a:r>
              <a:rPr lang="en-US" sz="1600" b="1" dirty="0">
                <a:solidFill>
                  <a:schemeClr val="bg1"/>
                </a:solidFill>
              </a:rPr>
              <a:t>CrashLoopBackOff</a:t>
            </a:r>
            <a:endParaRPr lang="en-US" sz="1600" dirty="0"/>
          </a:p>
        </p:txBody>
      </p:sp>
      <p:sp>
        <p:nvSpPr>
          <p:cNvPr id="22" name="arrow"/>
          <p:cNvSpPr/>
          <p:nvPr/>
        </p:nvSpPr>
        <p:spPr>
          <a:xfrm>
            <a:off x="6099048" y="2011680"/>
            <a:ext cx="1394460" cy="731520"/>
          </a:xfrm>
          <a:prstGeom prst="line">
            <a:avLst/>
          </a:prstGeom>
          <a:noFill/>
          <a:ln w="28575">
            <a:solidFill>
              <a:schemeClr val="accent1"/>
            </a:solidFill>
            <a:prstDash val="solid"/>
            <a:tailEnd type="triangle"/>
          </a:ln>
        </p:spPr>
      </p:sp>
      <p:sp>
        <p:nvSpPr>
          <p:cNvPr id="23" name="cause CrashLoopBackOff"/>
          <p:cNvSpPr/>
          <p:nvPr/>
        </p:nvSpPr>
        <p:spPr>
          <a:xfrm>
            <a:off x="6144768" y="3383280"/>
            <a:ext cx="2697480" cy="1463040"/>
          </a:xfrm>
          <a:prstGeom prst="roundRect">
            <a:avLst>
              <a:gd name="adj" fmla="val 5000"/>
            </a:avLst>
          </a:prstGeom>
          <a:solidFill>
            <a:schemeClr val="accent1">
              <a:alpha val="10000"/>
            </a:schemeClr>
          </a:solidFill>
          <a:ln w="9525">
            <a:solidFill>
              <a:schemeClr val="accent1"/>
            </a:solidFill>
            <a:prstDash val="solid"/>
          </a:ln>
        </p:spPr>
      </p:sp>
      <p:sp>
        <p:nvSpPr>
          <p:cNvPr id="24" name="Text 22"/>
          <p:cNvSpPr txBox="1"/>
          <p:nvPr/>
        </p:nvSpPr>
        <p:spPr>
          <a:xfrm>
            <a:off x="6281928" y="3456432"/>
            <a:ext cx="2423160" cy="1325880"/>
          </a:xfrm>
          <a:prstGeom prst="rect">
            <a:avLst/>
          </a:prstGeom>
          <a:noFill/>
          <a:ln/>
        </p:spPr>
        <p:txBody>
          <a:bodyPr wrap="square" lIns="0" tIns="0" rIns="0" bIns="0" rtlCol="0" anchor="t"/>
          <a:lstStyle/>
          <a:p>
            <a:pPr indent="0" marL="0">
              <a:buNone/>
            </a:pPr>
            <a:r>
              <a:rPr lang="en-US" sz="1400" b="1" dirty="0">
                <a:solidFill>
                  <a:schemeClr val="tx2"/>
                </a:solidFill>
              </a:rPr>
              <a:t>App starts, then dies.</a:t>
            </a:r>
            <a:endParaRPr lang="en-US" sz="1400" dirty="0"/>
          </a:p>
          <a:p>
            <a:pPr indent="0" marL="0">
              <a:buNone/>
            </a:pPr>
            <a:r>
              <a:rPr lang="en-US" sz="1300" dirty="0">
                <a:solidFill>
                  <a:schemeClr val="tx1"/>
                </a:solidFill>
              </a:rPr>
              <a:t>Bad command or config, failing liveness probe, OOMKilled.</a:t>
            </a:r>
            <a:endParaRPr lang="en-US" sz="1400" dirty="0"/>
          </a:p>
        </p:txBody>
      </p:sp>
      <p:sp>
        <p:nvSpPr>
          <p:cNvPr id="25" name="check box"/>
          <p:cNvSpPr/>
          <p:nvPr/>
        </p:nvSpPr>
        <p:spPr>
          <a:xfrm>
            <a:off x="6144768" y="4983480"/>
            <a:ext cx="2697480" cy="914400"/>
          </a:xfrm>
          <a:prstGeom prst="roundRect">
            <a:avLst>
              <a:gd name="adj" fmla="val 6000"/>
            </a:avLst>
          </a:prstGeom>
          <a:solidFill>
            <a:schemeClr val="tx2"/>
          </a:solidFill>
          <a:ln w="12700">
            <a:solidFill>
              <a:schemeClr val="tx2"/>
            </a:solidFill>
            <a:prstDash val="solid"/>
          </a:ln>
        </p:spPr>
      </p:sp>
      <p:sp>
        <p:nvSpPr>
          <p:cNvPr id="26" name="Text 24"/>
          <p:cNvSpPr txBox="1"/>
          <p:nvPr/>
        </p:nvSpPr>
        <p:spPr>
          <a:xfrm>
            <a:off x="6281928" y="5074920"/>
            <a:ext cx="2423160" cy="731520"/>
          </a:xfrm>
          <a:prstGeom prst="rect">
            <a:avLst/>
          </a:prstGeom>
          <a:noFill/>
          <a:ln/>
        </p:spPr>
        <p:txBody>
          <a:bodyPr wrap="square" lIns="0" tIns="0" rIns="0" bIns="0" rtlCol="0" anchor="ctr"/>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logs X --previous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describe pod X</a:t>
            </a:r>
            <a:endParaRPr lang="en-US" sz="1100" dirty="0"/>
          </a:p>
        </p:txBody>
      </p:sp>
      <p:sp>
        <p:nvSpPr>
          <p:cNvPr id="27" name="Text 25"/>
          <p:cNvSpPr txBox="1"/>
          <p:nvPr/>
        </p:nvSpPr>
        <p:spPr>
          <a:xfrm>
            <a:off x="8942832" y="2743200"/>
            <a:ext cx="2697480" cy="548640"/>
          </a:xfrm>
          <a:prstGeom prst="roundRect">
            <a:avLst>
              <a:gd name="adj" fmla="val 13333"/>
            </a:avLst>
          </a:prstGeom>
          <a:solidFill>
            <a:schemeClr val="accent6">
              <a:alpha val="22000"/>
            </a:schemeClr>
          </a:solidFill>
          <a:ln w="12700">
            <a:solidFill>
              <a:schemeClr val="accent6"/>
            </a:solidFill>
          </a:ln>
        </p:spPr>
        <p:txBody>
          <a:bodyPr wrap="square" lIns="50800" tIns="101600" rIns="101600" bIns="50800" rtlCol="0" anchor="ctr"/>
          <a:lstStyle/>
          <a:p>
            <a:pPr algn="ctr" indent="0" marL="0">
              <a:buNone/>
            </a:pPr>
            <a:r>
              <a:rPr lang="en-US" sz="1600" b="1" dirty="0">
                <a:solidFill>
                  <a:schemeClr val="tx2"/>
                </a:solidFill>
              </a:rPr>
              <a:t>Running, not working</a:t>
            </a:r>
            <a:endParaRPr lang="en-US" sz="1600" dirty="0"/>
          </a:p>
        </p:txBody>
      </p:sp>
      <p:sp>
        <p:nvSpPr>
          <p:cNvPr id="28" name="arrow"/>
          <p:cNvSpPr/>
          <p:nvPr/>
        </p:nvSpPr>
        <p:spPr>
          <a:xfrm>
            <a:off x="6099048" y="2011680"/>
            <a:ext cx="4192524" cy="731520"/>
          </a:xfrm>
          <a:prstGeom prst="line">
            <a:avLst/>
          </a:prstGeom>
          <a:noFill/>
          <a:ln w="28575">
            <a:solidFill>
              <a:schemeClr val="accent1"/>
            </a:solidFill>
            <a:prstDash val="solid"/>
            <a:tailEnd type="triangle"/>
          </a:ln>
        </p:spPr>
      </p:sp>
      <p:sp>
        <p:nvSpPr>
          <p:cNvPr id="29" name="cause Running, not working"/>
          <p:cNvSpPr/>
          <p:nvPr/>
        </p:nvSpPr>
        <p:spPr>
          <a:xfrm>
            <a:off x="8942832" y="3383280"/>
            <a:ext cx="2697480" cy="1463040"/>
          </a:xfrm>
          <a:prstGeom prst="roundRect">
            <a:avLst>
              <a:gd name="adj" fmla="val 5000"/>
            </a:avLst>
          </a:prstGeom>
          <a:solidFill>
            <a:schemeClr val="accent1">
              <a:alpha val="10000"/>
            </a:schemeClr>
          </a:solidFill>
          <a:ln w="9525">
            <a:solidFill>
              <a:schemeClr val="accent1"/>
            </a:solidFill>
            <a:prstDash val="solid"/>
          </a:ln>
        </p:spPr>
      </p:sp>
      <p:sp>
        <p:nvSpPr>
          <p:cNvPr id="30" name="Text 28"/>
          <p:cNvSpPr txBox="1"/>
          <p:nvPr/>
        </p:nvSpPr>
        <p:spPr>
          <a:xfrm>
            <a:off x="9079992" y="3456432"/>
            <a:ext cx="2423160" cy="1325880"/>
          </a:xfrm>
          <a:prstGeom prst="rect">
            <a:avLst/>
          </a:prstGeom>
          <a:noFill/>
          <a:ln/>
        </p:spPr>
        <p:txBody>
          <a:bodyPr wrap="square" lIns="0" tIns="0" rIns="0" bIns="0" rtlCol="0" anchor="t"/>
          <a:lstStyle/>
          <a:p>
            <a:pPr indent="0" marL="0">
              <a:buNone/>
            </a:pPr>
            <a:r>
              <a:rPr lang="en-US" sz="1400" b="1" dirty="0">
                <a:solidFill>
                  <a:schemeClr val="tx2"/>
                </a:solidFill>
              </a:rPr>
              <a:t>Pod fine, traffic fails.</a:t>
            </a:r>
            <a:endParaRPr lang="en-US" sz="1400" dirty="0"/>
          </a:p>
          <a:p>
            <a:pPr indent="0" marL="0">
              <a:buNone/>
            </a:pPr>
            <a:r>
              <a:rPr lang="en-US" sz="1300" dirty="0">
                <a:solidFill>
                  <a:schemeClr val="tx1"/>
                </a:solidFill>
              </a:rPr>
              <a:t>Selector or targetPort wrong, Pod not Ready, wrong namespace.</a:t>
            </a:r>
            <a:endParaRPr lang="en-US" sz="1400" dirty="0"/>
          </a:p>
        </p:txBody>
      </p:sp>
      <p:sp>
        <p:nvSpPr>
          <p:cNvPr id="31" name="check box"/>
          <p:cNvSpPr/>
          <p:nvPr/>
        </p:nvSpPr>
        <p:spPr>
          <a:xfrm>
            <a:off x="8942832" y="4983480"/>
            <a:ext cx="2697480" cy="914400"/>
          </a:xfrm>
          <a:prstGeom prst="roundRect">
            <a:avLst>
              <a:gd name="adj" fmla="val 6000"/>
            </a:avLst>
          </a:prstGeom>
          <a:solidFill>
            <a:schemeClr val="tx2"/>
          </a:solidFill>
          <a:ln w="12700">
            <a:solidFill>
              <a:schemeClr val="tx2"/>
            </a:solidFill>
            <a:prstDash val="solid"/>
          </a:ln>
        </p:spPr>
      </p:sp>
      <p:sp>
        <p:nvSpPr>
          <p:cNvPr id="32" name="Text 30"/>
          <p:cNvSpPr txBox="1"/>
          <p:nvPr/>
        </p:nvSpPr>
        <p:spPr>
          <a:xfrm>
            <a:off x="9079992" y="5074920"/>
            <a:ext cx="2423160" cy="731520"/>
          </a:xfrm>
          <a:prstGeom prst="rect">
            <a:avLst/>
          </a:prstGeom>
          <a:noFill/>
          <a:ln/>
        </p:spPr>
        <p:txBody>
          <a:bodyPr wrap="square" lIns="0" tIns="0" rIns="0" bIns="0" rtlCol="0" anchor="ctr"/>
          <a:lstStyle/>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get endpointslices</a:t>
            </a:r>
            <a:endParaRPr lang="en-US" sz="1100" dirty="0"/>
          </a:p>
          <a:p>
            <a:pPr indent="0" marL="0">
              <a:buNone/>
            </a:pPr>
            <a:r>
              <a:rPr lang="en-US" sz="1100" b="1" dirty="0">
                <a:solidFill>
                  <a:schemeClr val="accent3"/>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kubectl port-forward pod/X</a:t>
            </a:r>
            <a:endParaRPr lang="en-US" sz="11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COMMAND REFERENCE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Commands you will use today</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800600"/>
                <a:gridCol w="3108960"/>
                <a:gridCol w="3182112"/>
              </a:tblGrid>
              <a:tr h="384048">
                <a:tc>
                  <a:txBody>
                    <a:bodyPr/>
                    <a:lstStyle/>
                    <a:p>
                      <a:pPr indent="0" marL="0">
                        <a:buNone/>
                      </a:pPr>
                      <a:r>
                        <a:rPr lang="en-US" sz="1400" b="1" dirty="0">
                          <a:solidFill>
                            <a:schemeClr val="bg1"/>
                          </a:solidFill>
                        </a:rPr>
                        <a:t>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DevOps use case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serviceaccount viewer -n secure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Creates an identity for Pods or tools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Never use the default account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role pod-reader --verb=get,list,watch --resource=pods -n secure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Defines what is allowed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Least privilege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create rolebinding viewer-pods --role=pod-reader --serviceaccount=secure:viewer -n secure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Grants the Role to the account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Connect who to what</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auth can-i list pods --as=system:serviceaccount:secure:viewer -n secure</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Tests permissions as another identity</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Prove RBAC before shipping</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label ns secure pod-security.kubernetes.io/enforce=restricted</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Enforces a Pod Security profile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Block privileged or root Pods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logs &lt;pod&gt; --previous</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Shows logs of the crashed container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Why did it die?</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describe pod &lt;pod&gt;</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Events show scheduling, pull and probe errors</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First step for any non-Running Pod</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kubectl debug -it &lt;pod&gt; --image=busybox:1.36</a:t>
                      </a:r>
                      <a:endParaRPr lang="en-US" sz="1200" dirty="0">
                        <a:latin typeface="Courier New" charset="0"/>
                        <a:ea typeface="Courier New" charset="0"/>
                        <a:cs typeface="Courier New" charset="0"/>
                      </a:endParaRPr>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Adds a temporary debug container</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Troubleshoot images with no shell</a:t>
                      </a:r>
                      <a:endParaRPr lang="en-US" sz="1400" dirty="0"/>
                    </a:p>
                  </a:txBody>
                  <a:tcPr marL="127000" marR="1270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STARTER CODE</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RBAC and a hardened Pod</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6" name="terminal rbac.yaml  (Role + RoleBinding)"/>
          <p:cNvSpPr/>
          <p:nvPr/>
        </p:nvSpPr>
        <p:spPr>
          <a:xfrm>
            <a:off x="548640" y="1371600"/>
            <a:ext cx="5410048" cy="3870960"/>
          </a:xfrm>
          <a:prstGeom prst="roundRect">
            <a:avLst>
              <a:gd name="adj" fmla="val 1417"/>
            </a:avLst>
          </a:prstGeom>
          <a:solidFill>
            <a:schemeClr val="tx2"/>
          </a:solidFill>
          <a:ln w="9525">
            <a:solidFill>
              <a:schemeClr val="accent1"/>
            </a:solidFill>
            <a:prstDash val="solid"/>
          </a:ln>
        </p:spPr>
      </p:sp>
      <p:sp>
        <p:nvSpPr>
          <p:cNvPr id="7"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8"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9"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10" name="Text 8"/>
          <p:cNvSpPr txBox="1"/>
          <p:nvPr/>
        </p:nvSpPr>
        <p:spPr>
          <a:xfrm>
            <a:off x="1417320"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rbac.yaml  (Role + RoleBinding)</a:t>
            </a:r>
            <a:endParaRPr lang="en-US" sz="1100" dirty="0"/>
          </a:p>
        </p:txBody>
      </p:sp>
      <p:sp>
        <p:nvSpPr>
          <p:cNvPr id="11" name="terminal text"/>
          <p:cNvSpPr txBox="1"/>
          <p:nvPr/>
        </p:nvSpPr>
        <p:spPr>
          <a:xfrm>
            <a:off x="749808" y="1828800"/>
            <a:ext cx="5007712" cy="33223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rbac.authorization.k8s.io/v1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Role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r>
              <a:rPr lang="en-US" sz="1100" dirty="0">
                <a:solidFill>
                  <a:schemeClr val="bg1"/>
                </a:solidFill>
                <a:latin typeface="Courier New" pitchFamily="34" charset="0"/>
                <a:ea typeface="Courier New" pitchFamily="34" charset="-122"/>
                <a:cs typeface="Courier New" pitchFamily="34" charset="-120"/>
              </a:rPr>
              <a:t> {name: pod-reader, namespace: secure}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rules:</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apiGroups:</a:t>
            </a:r>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resources: ["pods", "pods/log"]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verbs: ["get", "list", "watch"]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rbac.authorization.k8s.io/v1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RoleBinding</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r>
              <a:rPr lang="en-US" sz="1100" dirty="0">
                <a:solidFill>
                  <a:schemeClr val="bg1"/>
                </a:solidFill>
                <a:latin typeface="Courier New" pitchFamily="34" charset="0"/>
                <a:ea typeface="Courier New" pitchFamily="34" charset="-122"/>
                <a:cs typeface="Courier New" pitchFamily="34" charset="-120"/>
              </a:rPr>
              <a:t> {name: viewer-pods, namespace: secure}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subjects:</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ServiceAccount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viewer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namespace: secure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roleRef:</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kind: Role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pod-reader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apiGroup: rbac.authorization.k8s.io</a:t>
            </a:r>
            <a:endParaRPr lang="en-US" sz="1100" dirty="0"/>
          </a:p>
        </p:txBody>
      </p:sp>
      <p:sp>
        <p:nvSpPr>
          <p:cNvPr id="12" name="Text 10"/>
          <p:cNvSpPr txBox="1"/>
          <p:nvPr/>
        </p:nvSpPr>
        <p:spPr>
          <a:xfrm>
            <a:off x="548640" y="5379720"/>
            <a:ext cx="5410048" cy="548640"/>
          </a:xfrm>
          <a:prstGeom prst="rect">
            <a:avLst/>
          </a:prstGeom>
          <a:noFill/>
          <a:ln/>
        </p:spPr>
        <p:txBody>
          <a:bodyPr wrap="square" lIns="0" tIns="0" rIns="0" bIns="0" rtlCol="0" anchor="t"/>
          <a:lstStyle/>
          <a:p>
            <a:pPr indent="0" marL="0">
              <a:buNone/>
            </a:pPr>
            <a:r>
              <a:rPr lang="en-US" sz="1400" dirty="0">
                <a:solidFill>
                  <a:schemeClr val="tx1"/>
                </a:solidFill>
              </a:rPr>
              <a:t>Only read verbs on Pods and their logs. Nothing else is allowed.</a:t>
            </a:r>
            <a:endParaRPr lang="en-US" sz="1400" dirty="0"/>
          </a:p>
        </p:txBody>
      </p:sp>
      <p:sp>
        <p:nvSpPr>
          <p:cNvPr id="13" name="terminal secure-pod.yaml"/>
          <p:cNvSpPr/>
          <p:nvPr/>
        </p:nvSpPr>
        <p:spPr>
          <a:xfrm>
            <a:off x="6233008" y="1371600"/>
            <a:ext cx="5410048" cy="3870960"/>
          </a:xfrm>
          <a:prstGeom prst="roundRect">
            <a:avLst>
              <a:gd name="adj" fmla="val 1417"/>
            </a:avLst>
          </a:prstGeom>
          <a:solidFill>
            <a:schemeClr val="tx2"/>
          </a:solidFill>
          <a:ln w="9525">
            <a:solidFill>
              <a:schemeClr val="accent1"/>
            </a:solidFill>
            <a:prstDash val="solid"/>
          </a:ln>
        </p:spPr>
      </p:sp>
      <p:sp>
        <p:nvSpPr>
          <p:cNvPr id="14" name="dot"/>
          <p:cNvSpPr/>
          <p:nvPr/>
        </p:nvSpPr>
        <p:spPr>
          <a:xfrm>
            <a:off x="6434176" y="1527048"/>
            <a:ext cx="100584" cy="100584"/>
          </a:xfrm>
          <a:prstGeom prst="ellipse">
            <a:avLst/>
          </a:prstGeom>
          <a:solidFill>
            <a:schemeClr val="accent4"/>
          </a:solidFill>
          <a:ln w="12700">
            <a:solidFill>
              <a:schemeClr val="accent4"/>
            </a:solidFill>
            <a:prstDash val="solid"/>
          </a:ln>
        </p:spPr>
      </p:sp>
      <p:sp>
        <p:nvSpPr>
          <p:cNvPr id="15" name="dot"/>
          <p:cNvSpPr/>
          <p:nvPr/>
        </p:nvSpPr>
        <p:spPr>
          <a:xfrm>
            <a:off x="6617056" y="1527048"/>
            <a:ext cx="100584" cy="100584"/>
          </a:xfrm>
          <a:prstGeom prst="ellipse">
            <a:avLst/>
          </a:prstGeom>
          <a:solidFill>
            <a:schemeClr val="accent2"/>
          </a:solidFill>
          <a:ln w="12700">
            <a:solidFill>
              <a:schemeClr val="accent2"/>
            </a:solidFill>
            <a:prstDash val="solid"/>
          </a:ln>
        </p:spPr>
      </p:sp>
      <p:sp>
        <p:nvSpPr>
          <p:cNvPr id="16" name="dot"/>
          <p:cNvSpPr/>
          <p:nvPr/>
        </p:nvSpPr>
        <p:spPr>
          <a:xfrm>
            <a:off x="6799936" y="1527048"/>
            <a:ext cx="100584" cy="100584"/>
          </a:xfrm>
          <a:prstGeom prst="ellipse">
            <a:avLst/>
          </a:prstGeom>
          <a:solidFill>
            <a:schemeClr val="accent3"/>
          </a:solidFill>
          <a:ln w="12700">
            <a:solidFill>
              <a:schemeClr val="accent3"/>
            </a:solidFill>
            <a:prstDash val="solid"/>
          </a:ln>
        </p:spPr>
      </p:sp>
      <p:sp>
        <p:nvSpPr>
          <p:cNvPr id="17" name="Text 15"/>
          <p:cNvSpPr txBox="1"/>
          <p:nvPr/>
        </p:nvSpPr>
        <p:spPr>
          <a:xfrm>
            <a:off x="7101688" y="1463040"/>
            <a:ext cx="4312768"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secure-pod.yaml</a:t>
            </a:r>
            <a:endParaRPr lang="en-US" sz="1100" dirty="0"/>
          </a:p>
        </p:txBody>
      </p:sp>
      <p:sp>
        <p:nvSpPr>
          <p:cNvPr id="18" name="terminal text"/>
          <p:cNvSpPr txBox="1"/>
          <p:nvPr/>
        </p:nvSpPr>
        <p:spPr>
          <a:xfrm>
            <a:off x="6434176" y="1828800"/>
            <a:ext cx="5007712" cy="33223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apiVersion:</a:t>
            </a:r>
            <a:pPr indent="0" marL="0">
              <a:buNone/>
            </a:pPr>
            <a:r>
              <a:rPr lang="en-US" sz="1100" dirty="0">
                <a:solidFill>
                  <a:schemeClr val="bg1"/>
                </a:solidFill>
                <a:latin typeface="Courier New" pitchFamily="34" charset="0"/>
                <a:ea typeface="Courier New" pitchFamily="34" charset="-122"/>
                <a:cs typeface="Courier New" pitchFamily="34" charset="-120"/>
              </a:rPr>
              <a:t> v1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kind:</a:t>
            </a:r>
            <a:pPr indent="0" marL="0">
              <a:buNone/>
            </a:pPr>
            <a:r>
              <a:rPr lang="en-US" sz="1100" dirty="0">
                <a:solidFill>
                  <a:schemeClr val="bg1"/>
                </a:solidFill>
                <a:latin typeface="Courier New" pitchFamily="34" charset="0"/>
                <a:ea typeface="Courier New" pitchFamily="34" charset="-122"/>
                <a:cs typeface="Courier New" pitchFamily="34" charset="-120"/>
              </a:rPr>
              <a:t> Pod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metadata:</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 secure-pod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namespace: secure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spec:</a:t>
            </a:r>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securityContext: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runAsNonRoot: true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runAsUser: 10001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seccompProfile: {type: RuntimeDefault}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containers: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 app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image: busybox:1.36</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command: ["sleep", "3600"]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securityContext: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allowPrivilegeEscalation: false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readOnlyRootFilesystem: true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capabilities: {drop: ["ALL"]}</a:t>
            </a:r>
            <a:endParaRPr lang="en-US" sz="1100" dirty="0"/>
          </a:p>
        </p:txBody>
      </p:sp>
      <p:sp>
        <p:nvSpPr>
          <p:cNvPr id="19" name="Text 17"/>
          <p:cNvSpPr txBox="1"/>
          <p:nvPr/>
        </p:nvSpPr>
        <p:spPr>
          <a:xfrm>
            <a:off x="6233008" y="5379720"/>
            <a:ext cx="5410048" cy="548640"/>
          </a:xfrm>
          <a:prstGeom prst="rect">
            <a:avLst/>
          </a:prstGeom>
          <a:noFill/>
          <a:ln/>
        </p:spPr>
        <p:txBody>
          <a:bodyPr wrap="square" lIns="0" tIns="0" rIns="0" bIns="0" rtlCol="0" anchor="t"/>
          <a:lstStyle/>
          <a:p>
            <a:pPr indent="0" marL="0">
              <a:buNone/>
            </a:pPr>
            <a:r>
              <a:rPr lang="en-US" sz="1400" dirty="0">
                <a:solidFill>
                  <a:schemeClr val="tx1"/>
                </a:solidFill>
              </a:rPr>
              <a:t>Passes the restricted profile. A plain nginx root Pod does not.</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HANDS-ON TASK</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Lock it down, then fix three broken Pods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6" name="scenario"/>
          <p:cNvSpPr/>
          <p:nvPr/>
        </p:nvSpPr>
        <p:spPr>
          <a:xfrm>
            <a:off x="548640" y="1371600"/>
            <a:ext cx="11094415" cy="868680"/>
          </a:xfrm>
          <a:prstGeom prst="roundRect">
            <a:avLst>
              <a:gd name="adj" fmla="val 8421"/>
            </a:avLst>
          </a:prstGeom>
          <a:solidFill>
            <a:schemeClr val="accent2">
              <a:alpha val="22000"/>
            </a:schemeClr>
          </a:solidFill>
          <a:ln w="9525">
            <a:solidFill>
              <a:schemeClr val="accent2"/>
            </a:solidFill>
            <a:prstDash val="solid"/>
          </a:ln>
        </p:spPr>
      </p:sp>
      <p:sp>
        <p:nvSpPr>
          <p:cNvPr id="7" name="fire icon"/>
          <p:cNvSpPr/>
          <p:nvPr/>
        </p:nvSpPr>
        <p:spPr>
          <a:xfrm>
            <a:off x="749808" y="1554480"/>
            <a:ext cx="502920" cy="502920"/>
          </a:xfrm>
          <a:prstGeom prst="ellipse">
            <a:avLst/>
          </a:prstGeom>
          <a:solidFill>
            <a:schemeClr val="tx2"/>
          </a:solidFill>
          <a:ln w="12700">
            <a:solidFill>
              <a:schemeClr val="tx2"/>
            </a:solidFill>
            <a:prstDash val="solid"/>
          </a:ln>
        </p:spPr>
      </p:sp>
      <p:pic>
        <p:nvPicPr>
          <p:cNvPr id="8" name="icon FaFire" descr="FaFire">    </p:cNvPr>
          <p:cNvPicPr>
            <a:picLocks noChangeAspect="1"/>
          </p:cNvPicPr>
          <p:nvPr/>
        </p:nvPicPr>
        <p:blipFill>
          <a:blip r:embed="rId1"/>
          <a:stretch>
            <a:fillRect/>
          </a:stretch>
        </p:blipFill>
        <p:spPr>
          <a:xfrm>
            <a:off x="880567" y="1685239"/>
            <a:ext cx="241402" cy="241402"/>
          </a:xfrm>
          <a:prstGeom prst="rect">
            <a:avLst/>
          </a:prstGeom>
        </p:spPr>
      </p:pic>
      <p:sp>
        <p:nvSpPr>
          <p:cNvPr id="9" name="Text 6"/>
          <p:cNvSpPr txBox="1"/>
          <p:nvPr/>
        </p:nvSpPr>
        <p:spPr>
          <a:xfrm>
            <a:off x="1463040" y="1417320"/>
            <a:ext cx="9951415" cy="777240"/>
          </a:xfrm>
          <a:prstGeom prst="rect">
            <a:avLst/>
          </a:prstGeom>
          <a:noFill/>
          <a:ln/>
        </p:spPr>
        <p:txBody>
          <a:bodyPr wrap="square" lIns="0" tIns="0" rIns="0" bIns="0" rtlCol="0" anchor="ctr"/>
          <a:lstStyle/>
          <a:p>
            <a:pPr indent="0" marL="0">
              <a:buNone/>
            </a:pPr>
            <a:r>
              <a:rPr lang="en-US" sz="1400" b="1" dirty="0">
                <a:solidFill>
                  <a:schemeClr val="tx2"/>
                </a:solidFill>
              </a:rPr>
              <a:t>Scenario  </a:t>
            </a:r>
            <a:pPr indent="0" marL="0">
              <a:buNone/>
            </a:pPr>
            <a:r>
              <a:rPr lang="en-US" sz="1400" dirty="0">
                <a:solidFill>
                  <a:schemeClr val="tx1"/>
                </a:solidFill>
              </a:rPr>
              <a:t>A teammate needs read-only access to one namespace, and the platform team wants only hardened Pods there. Then the on-call phone rings: three Deployments are broken.</a:t>
            </a:r>
            <a:endParaRPr lang="en-US" sz="1400" dirty="0"/>
          </a:p>
        </p:txBody>
      </p:sp>
      <p:sp>
        <p:nvSpPr>
          <p:cNvPr id="10" name="step circle"/>
          <p:cNvSpPr/>
          <p:nvPr/>
        </p:nvSpPr>
        <p:spPr>
          <a:xfrm>
            <a:off x="548640" y="2505456"/>
            <a:ext cx="365760" cy="365760"/>
          </a:xfrm>
          <a:prstGeom prst="ellipse">
            <a:avLst/>
          </a:prstGeom>
          <a:solidFill>
            <a:schemeClr val="accent1"/>
          </a:solidFill>
          <a:ln w="12700">
            <a:solidFill>
              <a:schemeClr val="accent1"/>
            </a:solidFill>
            <a:prstDash val="solid"/>
          </a:ln>
        </p:spPr>
      </p:sp>
      <p:sp>
        <p:nvSpPr>
          <p:cNvPr id="11" name="Text 8"/>
          <p:cNvSpPr txBox="1"/>
          <p:nvPr/>
        </p:nvSpPr>
        <p:spPr>
          <a:xfrm>
            <a:off x="548640" y="25054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2" name="Text 9"/>
          <p:cNvSpPr txBox="1"/>
          <p:nvPr/>
        </p:nvSpPr>
        <p:spPr>
          <a:xfrm>
            <a:off x="1051560" y="24688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Identity. </a:t>
            </a:r>
            <a:pPr indent="0" marL="0">
              <a:buNone/>
            </a:pPr>
            <a:r>
              <a:rPr lang="en-US" sz="1400" dirty="0">
                <a:solidFill>
                  <a:schemeClr val="tx1"/>
                </a:solidFill>
              </a:rPr>
              <a:t>Create namespace secure and ServiceAccount viewer.</a:t>
            </a:r>
            <a:endParaRPr lang="en-US" sz="1400" dirty="0"/>
          </a:p>
        </p:txBody>
      </p:sp>
      <p:sp>
        <p:nvSpPr>
          <p:cNvPr id="13" name="step circle"/>
          <p:cNvSpPr/>
          <p:nvPr/>
        </p:nvSpPr>
        <p:spPr>
          <a:xfrm>
            <a:off x="548640" y="3130296"/>
            <a:ext cx="365760" cy="365760"/>
          </a:xfrm>
          <a:prstGeom prst="ellipse">
            <a:avLst/>
          </a:prstGeom>
          <a:solidFill>
            <a:schemeClr val="accent1"/>
          </a:solidFill>
          <a:ln w="12700">
            <a:solidFill>
              <a:schemeClr val="accent1"/>
            </a:solidFill>
            <a:prstDash val="solid"/>
          </a:ln>
        </p:spPr>
      </p:sp>
      <p:sp>
        <p:nvSpPr>
          <p:cNvPr id="14" name="Text 11"/>
          <p:cNvSpPr txBox="1"/>
          <p:nvPr/>
        </p:nvSpPr>
        <p:spPr>
          <a:xfrm>
            <a:off x="548640" y="313029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2"/>
          <p:cNvSpPr txBox="1"/>
          <p:nvPr/>
        </p:nvSpPr>
        <p:spPr>
          <a:xfrm>
            <a:off x="1051560" y="3093720"/>
            <a:ext cx="4709160" cy="569976"/>
          </a:xfrm>
          <a:prstGeom prst="rect">
            <a:avLst/>
          </a:prstGeom>
          <a:noFill/>
          <a:ln/>
        </p:spPr>
        <p:txBody>
          <a:bodyPr wrap="square" lIns="0" tIns="0" rIns="0" bIns="0" rtlCol="0" anchor="t"/>
          <a:lstStyle/>
          <a:p>
            <a:pPr indent="0" marL="0">
              <a:buNone/>
            </a:pPr>
            <a:r>
              <a:rPr lang="en-US" sz="1400" b="1" dirty="0">
                <a:solidFill>
                  <a:schemeClr val="tx2"/>
                </a:solidFill>
              </a:rPr>
              <a:t>Least privilege. </a:t>
            </a:r>
            <a:pPr indent="0" marL="0">
              <a:buNone/>
            </a:pPr>
            <a:r>
              <a:rPr lang="en-US" sz="1400" dirty="0">
                <a:solidFill>
                  <a:schemeClr val="tx1"/>
                </a:solidFill>
              </a:rPr>
              <a:t>Apply rbac.yaml. can-i get pods = yes, delete pods = no.</a:t>
            </a:r>
            <a:endParaRPr lang="en-US" sz="1400" dirty="0"/>
          </a:p>
        </p:txBody>
      </p:sp>
      <p:sp>
        <p:nvSpPr>
          <p:cNvPr id="16" name="step circle"/>
          <p:cNvSpPr/>
          <p:nvPr/>
        </p:nvSpPr>
        <p:spPr>
          <a:xfrm>
            <a:off x="548640" y="3755136"/>
            <a:ext cx="365760" cy="365760"/>
          </a:xfrm>
          <a:prstGeom prst="ellipse">
            <a:avLst/>
          </a:prstGeom>
          <a:solidFill>
            <a:schemeClr val="accent1"/>
          </a:solidFill>
          <a:ln w="12700">
            <a:solidFill>
              <a:schemeClr val="accent1"/>
            </a:solidFill>
            <a:prstDash val="solid"/>
          </a:ln>
        </p:spPr>
      </p:sp>
      <p:sp>
        <p:nvSpPr>
          <p:cNvPr id="17" name="Text 14"/>
          <p:cNvSpPr txBox="1"/>
          <p:nvPr/>
        </p:nvSpPr>
        <p:spPr>
          <a:xfrm>
            <a:off x="548640" y="375513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051560" y="3718560"/>
            <a:ext cx="4709160" cy="569976"/>
          </a:xfrm>
          <a:prstGeom prst="rect">
            <a:avLst/>
          </a:prstGeom>
          <a:noFill/>
          <a:ln/>
        </p:spPr>
        <p:txBody>
          <a:bodyPr wrap="square" lIns="0" tIns="0" rIns="0" bIns="0" rtlCol="0" anchor="t"/>
          <a:lstStyle/>
          <a:p>
            <a:pPr indent="0" marL="0">
              <a:buNone/>
            </a:pPr>
            <a:r>
              <a:rPr lang="en-US" sz="1400" b="1" dirty="0">
                <a:solidFill>
                  <a:schemeClr val="tx2"/>
                </a:solidFill>
              </a:rPr>
              <a:t>Enforce. </a:t>
            </a:r>
            <a:pPr indent="0" marL="0">
              <a:buNone/>
            </a:pPr>
            <a:r>
              <a:rPr lang="en-US" sz="1400" dirty="0">
                <a:solidFill>
                  <a:schemeClr val="tx1"/>
                </a:solidFill>
              </a:rPr>
              <a:t>Label secure as restricted. A root Pod is rejected; secure-pod.yaml is admitted.</a:t>
            </a:r>
            <a:endParaRPr lang="en-US" sz="1400" dirty="0"/>
          </a:p>
        </p:txBody>
      </p:sp>
      <p:sp>
        <p:nvSpPr>
          <p:cNvPr id="19" name="step circle"/>
          <p:cNvSpPr/>
          <p:nvPr/>
        </p:nvSpPr>
        <p:spPr>
          <a:xfrm>
            <a:off x="548640" y="4379976"/>
            <a:ext cx="365760" cy="365760"/>
          </a:xfrm>
          <a:prstGeom prst="ellipse">
            <a:avLst/>
          </a:prstGeom>
          <a:solidFill>
            <a:schemeClr val="accent1"/>
          </a:solidFill>
          <a:ln w="12700">
            <a:solidFill>
              <a:schemeClr val="accent1"/>
            </a:solidFill>
            <a:prstDash val="solid"/>
          </a:ln>
        </p:spPr>
      </p:sp>
      <p:sp>
        <p:nvSpPr>
          <p:cNvPr id="20" name="Text 17"/>
          <p:cNvSpPr txBox="1"/>
          <p:nvPr/>
        </p:nvSpPr>
        <p:spPr>
          <a:xfrm>
            <a:off x="548640" y="4379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8"/>
          <p:cNvSpPr txBox="1"/>
          <p:nvPr/>
        </p:nvSpPr>
        <p:spPr>
          <a:xfrm>
            <a:off x="1051560" y="4343400"/>
            <a:ext cx="4709160" cy="569976"/>
          </a:xfrm>
          <a:prstGeom prst="rect">
            <a:avLst/>
          </a:prstGeom>
          <a:noFill/>
          <a:ln/>
        </p:spPr>
        <p:txBody>
          <a:bodyPr wrap="square" lIns="0" tIns="0" rIns="0" bIns="0" rtlCol="0" anchor="t"/>
          <a:lstStyle/>
          <a:p>
            <a:pPr indent="0" marL="0">
              <a:buNone/>
            </a:pPr>
            <a:r>
              <a:rPr lang="en-US" sz="1400" b="1" dirty="0">
                <a:solidFill>
                  <a:schemeClr val="tx2"/>
                </a:solidFill>
              </a:rPr>
              <a:t>Meet the broken apps. </a:t>
            </a:r>
            <a:pPr indent="0" marL="0">
              <a:buNone/>
            </a:pPr>
            <a:r>
              <a:rPr lang="en-US" sz="1400" dirty="0">
                <a:solidFill>
                  <a:schemeClr val="tx1"/>
                </a:solidFill>
              </a:rPr>
              <a:t>Create the three Deployments in namespace lab.</a:t>
            </a:r>
            <a:endParaRPr lang="en-US" sz="1400" dirty="0"/>
          </a:p>
        </p:txBody>
      </p:sp>
      <p:sp>
        <p:nvSpPr>
          <p:cNvPr id="22" name="step circle"/>
          <p:cNvSpPr/>
          <p:nvPr/>
        </p:nvSpPr>
        <p:spPr>
          <a:xfrm>
            <a:off x="548640" y="5004816"/>
            <a:ext cx="365760" cy="365760"/>
          </a:xfrm>
          <a:prstGeom prst="ellipse">
            <a:avLst/>
          </a:prstGeom>
          <a:solidFill>
            <a:schemeClr val="accent1"/>
          </a:solidFill>
          <a:ln w="12700">
            <a:solidFill>
              <a:schemeClr val="accent1"/>
            </a:solidFill>
            <a:prstDash val="solid"/>
          </a:ln>
        </p:spPr>
      </p:sp>
      <p:sp>
        <p:nvSpPr>
          <p:cNvPr id="23" name="Text 20"/>
          <p:cNvSpPr txBox="1"/>
          <p:nvPr/>
        </p:nvSpPr>
        <p:spPr>
          <a:xfrm>
            <a:off x="548640" y="500481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4" name="Text 21"/>
          <p:cNvSpPr txBox="1"/>
          <p:nvPr/>
        </p:nvSpPr>
        <p:spPr>
          <a:xfrm>
            <a:off x="1051560" y="4968240"/>
            <a:ext cx="4709160" cy="569976"/>
          </a:xfrm>
          <a:prstGeom prst="rect">
            <a:avLst/>
          </a:prstGeom>
          <a:noFill/>
          <a:ln/>
        </p:spPr>
        <p:txBody>
          <a:bodyPr wrap="square" lIns="0" tIns="0" rIns="0" bIns="0" rtlCol="0" anchor="t"/>
          <a:lstStyle/>
          <a:p>
            <a:pPr indent="0" marL="0">
              <a:buNone/>
            </a:pPr>
            <a:r>
              <a:rPr lang="en-US" sz="1400" b="1" dirty="0">
                <a:solidFill>
                  <a:schemeClr val="tx2"/>
                </a:solidFill>
              </a:rPr>
              <a:t>Diagnose. </a:t>
            </a:r>
            <a:pPr indent="0" marL="0">
              <a:buNone/>
            </a:pPr>
            <a:r>
              <a:rPr lang="en-US" sz="1400" dirty="0">
                <a:solidFill>
                  <a:schemeClr val="tx1"/>
                </a:solidFill>
              </a:rPr>
              <a:t>For each, run get, describe and logs --previous. Write down the cause.</a:t>
            </a:r>
            <a:endParaRPr lang="en-US" sz="1400" dirty="0"/>
          </a:p>
        </p:txBody>
      </p:sp>
      <p:sp>
        <p:nvSpPr>
          <p:cNvPr id="25" name="step circle"/>
          <p:cNvSpPr/>
          <p:nvPr/>
        </p:nvSpPr>
        <p:spPr>
          <a:xfrm>
            <a:off x="548640" y="5629656"/>
            <a:ext cx="365760" cy="365760"/>
          </a:xfrm>
          <a:prstGeom prst="ellipse">
            <a:avLst/>
          </a:prstGeom>
          <a:solidFill>
            <a:schemeClr val="accent1"/>
          </a:solidFill>
          <a:ln w="12700">
            <a:solidFill>
              <a:schemeClr val="accent1"/>
            </a:solidFill>
            <a:prstDash val="solid"/>
          </a:ln>
        </p:spPr>
      </p:sp>
      <p:sp>
        <p:nvSpPr>
          <p:cNvPr id="26" name="Text 23"/>
          <p:cNvSpPr txBox="1"/>
          <p:nvPr/>
        </p:nvSpPr>
        <p:spPr>
          <a:xfrm>
            <a:off x="548640" y="562965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7" name="Text 24"/>
          <p:cNvSpPr txBox="1"/>
          <p:nvPr/>
        </p:nvSpPr>
        <p:spPr>
          <a:xfrm>
            <a:off x="1051560" y="5593080"/>
            <a:ext cx="4709160" cy="569976"/>
          </a:xfrm>
          <a:prstGeom prst="rect">
            <a:avLst/>
          </a:prstGeom>
          <a:noFill/>
          <a:ln/>
        </p:spPr>
        <p:txBody>
          <a:bodyPr wrap="square" lIns="0" tIns="0" rIns="0" bIns="0" rtlCol="0" anchor="t"/>
          <a:lstStyle/>
          <a:p>
            <a:pPr indent="0" marL="0">
              <a:buNone/>
            </a:pPr>
            <a:r>
              <a:rPr lang="en-US" sz="1400" b="1" dirty="0">
                <a:solidFill>
                  <a:schemeClr val="tx2"/>
                </a:solidFill>
              </a:rPr>
              <a:t>Fix. </a:t>
            </a:r>
            <a:pPr indent="0" marL="0">
              <a:buNone/>
            </a:pPr>
            <a:r>
              <a:rPr lang="en-US" sz="1400" dirty="0">
                <a:solidFill>
                  <a:schemeClr val="tx1"/>
                </a:solidFill>
              </a:rPr>
              <a:t>Repair all three until every Pod is Running.</a:t>
            </a:r>
            <a:endParaRPr lang="en-US" sz="1400" dirty="0"/>
          </a:p>
        </p:txBody>
      </p:sp>
      <p:sp>
        <p:nvSpPr>
          <p:cNvPr id="28" name="terminal commands &amp; starter code"/>
          <p:cNvSpPr/>
          <p:nvPr/>
        </p:nvSpPr>
        <p:spPr>
          <a:xfrm>
            <a:off x="5989320" y="2468880"/>
            <a:ext cx="5653735" cy="3749040"/>
          </a:xfrm>
          <a:prstGeom prst="roundRect">
            <a:avLst>
              <a:gd name="adj" fmla="val 1463"/>
            </a:avLst>
          </a:prstGeom>
          <a:solidFill>
            <a:schemeClr val="tx2"/>
          </a:solidFill>
          <a:ln w="9525">
            <a:solidFill>
              <a:schemeClr val="accent1"/>
            </a:solidFill>
            <a:prstDash val="solid"/>
          </a:ln>
        </p:spPr>
      </p:sp>
      <p:sp>
        <p:nvSpPr>
          <p:cNvPr id="29" name="dot"/>
          <p:cNvSpPr/>
          <p:nvPr/>
        </p:nvSpPr>
        <p:spPr>
          <a:xfrm>
            <a:off x="6190488" y="2624328"/>
            <a:ext cx="100584" cy="100584"/>
          </a:xfrm>
          <a:prstGeom prst="ellipse">
            <a:avLst/>
          </a:prstGeom>
          <a:solidFill>
            <a:schemeClr val="accent4"/>
          </a:solidFill>
          <a:ln w="12700">
            <a:solidFill>
              <a:schemeClr val="accent4"/>
            </a:solidFill>
            <a:prstDash val="solid"/>
          </a:ln>
        </p:spPr>
      </p:sp>
      <p:sp>
        <p:nvSpPr>
          <p:cNvPr id="30" name="dot"/>
          <p:cNvSpPr/>
          <p:nvPr/>
        </p:nvSpPr>
        <p:spPr>
          <a:xfrm>
            <a:off x="6373368" y="2624328"/>
            <a:ext cx="100584" cy="100584"/>
          </a:xfrm>
          <a:prstGeom prst="ellipse">
            <a:avLst/>
          </a:prstGeom>
          <a:solidFill>
            <a:schemeClr val="accent2"/>
          </a:solidFill>
          <a:ln w="12700">
            <a:solidFill>
              <a:schemeClr val="accent2"/>
            </a:solidFill>
            <a:prstDash val="solid"/>
          </a:ln>
        </p:spPr>
      </p:sp>
      <p:sp>
        <p:nvSpPr>
          <p:cNvPr id="31" name="dot"/>
          <p:cNvSpPr/>
          <p:nvPr/>
        </p:nvSpPr>
        <p:spPr>
          <a:xfrm>
            <a:off x="6556248" y="2624328"/>
            <a:ext cx="100584" cy="100584"/>
          </a:xfrm>
          <a:prstGeom prst="ellipse">
            <a:avLst/>
          </a:prstGeom>
          <a:solidFill>
            <a:schemeClr val="accent3"/>
          </a:solidFill>
          <a:ln w="12700">
            <a:solidFill>
              <a:schemeClr val="accent3"/>
            </a:solidFill>
            <a:prstDash val="solid"/>
          </a:ln>
        </p:spPr>
      </p:sp>
      <p:sp>
        <p:nvSpPr>
          <p:cNvPr id="32" name="Text 29"/>
          <p:cNvSpPr txBox="1"/>
          <p:nvPr/>
        </p:nvSpPr>
        <p:spPr>
          <a:xfrm>
            <a:off x="6858000" y="2560320"/>
            <a:ext cx="4556455"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commands &amp; starter code</a:t>
            </a:r>
            <a:endParaRPr lang="en-US" sz="1100" dirty="0"/>
          </a:p>
        </p:txBody>
      </p:sp>
      <p:sp>
        <p:nvSpPr>
          <p:cNvPr id="33" name="terminal text"/>
          <p:cNvSpPr txBox="1"/>
          <p:nvPr/>
        </p:nvSpPr>
        <p:spPr>
          <a:xfrm>
            <a:off x="6190488" y="2926080"/>
            <a:ext cx="5251399" cy="3200400"/>
          </a:xfrm>
          <a:prstGeom prst="rect">
            <a:avLst/>
          </a:prstGeom>
          <a:noFill/>
          <a:ln/>
        </p:spPr>
        <p:txBody>
          <a:bodyPr wrap="square" lIns="0" tIns="0" rIns="0" bIns="0" rtlCol="0" anchor="t"/>
          <a:lstStyle/>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create ns secure</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create sa viewer -n secure</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apply -f rbac.yaml</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auth can-i delete pods -n secure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--as=system:serviceaccount:secure:viewer    # no</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label ns secure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pod-security.kubernetes.io/enforce=restricted</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run root-pod --image=nginx:1.27 -n secure </a:t>
            </a:r>
            <a:pPr indent="0" marL="0">
              <a:buNone/>
            </a:pPr>
            <a:r>
              <a:rPr lang="en-US" sz="1050" dirty="0">
                <a:solidFill>
                  <a:schemeClr val="accent6"/>
                </a:solidFill>
                <a:latin typeface="Courier New" pitchFamily="34" charset="0"/>
                <a:ea typeface="Courier New" pitchFamily="34" charset="-122"/>
                <a:cs typeface="Courier New" pitchFamily="34" charset="-120"/>
              </a:rPr>
              <a:t> # rejected</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apply -f secure-pod.yaml</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create ns lab</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create deploy broken1 -n lab --image=nginx:1.99.99</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create deploy broken2 -n lab --image=busybox:1.36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 sh -c "exit 1"</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create deploy broken3 -n lab --image=nginx:1.27</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set resources deploy broken3 -n lab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--requests=memory=64Gi</a:t>
            </a:r>
            <a:endParaRPr lang="en-US" sz="1050" dirty="0"/>
          </a:p>
          <a:p>
            <a:pPr indent="0" marL="0">
              <a:buNone/>
            </a:pPr>
            <a:r>
              <a:rPr lang="en-US" sz="1050" b="1" dirty="0">
                <a:solidFill>
                  <a:schemeClr val="accent3"/>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kubectl get pods -n lab</a:t>
            </a:r>
            <a:endParaRPr lang="en-US" sz="105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How to know you are done</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6" name="done card"/>
          <p:cNvSpPr/>
          <p:nvPr/>
        </p:nvSpPr>
        <p:spPr>
          <a:xfrm>
            <a:off x="548640" y="1371600"/>
            <a:ext cx="5486400" cy="3520440"/>
          </a:xfrm>
          <a:prstGeom prst="roundRect">
            <a:avLst>
              <a:gd name="adj" fmla="val 2078"/>
            </a:avLst>
          </a:prstGeom>
          <a:solidFill>
            <a:schemeClr val="accent3">
              <a:alpha val="12000"/>
            </a:schemeClr>
          </a:solidFill>
          <a:ln w="9525">
            <a:solidFill>
              <a:schemeClr val="accent3"/>
            </a:solidFill>
            <a:prstDash val="solid"/>
          </a:ln>
        </p:spPr>
      </p:sp>
      <p:sp>
        <p:nvSpPr>
          <p:cNvPr id="7" name="done icon"/>
          <p:cNvSpPr/>
          <p:nvPr/>
        </p:nvSpPr>
        <p:spPr>
          <a:xfrm>
            <a:off x="777240" y="1536192"/>
            <a:ext cx="457200" cy="457200"/>
          </a:xfrm>
          <a:prstGeom prst="ellipse">
            <a:avLst/>
          </a:prstGeom>
          <a:solidFill>
            <a:schemeClr val="accent3"/>
          </a:solidFill>
          <a:ln w="12700">
            <a:solidFill>
              <a:schemeClr val="accent3"/>
            </a:solidFill>
            <a:prstDash val="solid"/>
          </a:ln>
        </p:spPr>
      </p:sp>
      <p:pic>
        <p:nvPicPr>
          <p:cNvPr id="8" name="icon FaCheckSquare" descr="FaCheckSquare">    </p:cNvPr>
          <p:cNvPicPr>
            <a:picLocks noChangeAspect="1"/>
          </p:cNvPicPr>
          <p:nvPr/>
        </p:nvPicPr>
        <p:blipFill>
          <a:blip r:embed="rId1"/>
          <a:stretch>
            <a:fillRect/>
          </a:stretch>
        </p:blipFill>
        <p:spPr>
          <a:xfrm>
            <a:off x="896112" y="1655064"/>
            <a:ext cx="219456" cy="219456"/>
          </a:xfrm>
          <a:prstGeom prst="rect">
            <a:avLst/>
          </a:prstGeom>
        </p:spPr>
      </p:pic>
      <p:sp>
        <p:nvSpPr>
          <p:cNvPr id="9" name="Text 6"/>
          <p:cNvSpPr txBox="1"/>
          <p:nvPr/>
        </p:nvSpPr>
        <p:spPr>
          <a:xfrm>
            <a:off x="1417320" y="1536192"/>
            <a:ext cx="3657600" cy="457200"/>
          </a:xfrm>
          <a:prstGeom prst="rect">
            <a:avLst/>
          </a:prstGeom>
          <a:noFill/>
          <a:ln/>
        </p:spPr>
        <p:txBody>
          <a:bodyPr wrap="square" lIns="0" tIns="0" rIns="0" bIns="0" rtlCol="0" anchor="ctr"/>
          <a:lstStyle/>
          <a:p>
            <a:pPr indent="0" marL="0">
              <a:buNone/>
            </a:pPr>
            <a:r>
              <a:rPr lang="en-US" sz="1900" b="1" dirty="0">
                <a:solidFill>
                  <a:schemeClr val="tx2"/>
                </a:solidFill>
              </a:rPr>
              <a:t>Checklist</a:t>
            </a:r>
            <a:endParaRPr lang="en-US" sz="1900" dirty="0"/>
          </a:p>
        </p:txBody>
      </p:sp>
      <p:sp>
        <p:nvSpPr>
          <p:cNvPr id="10" name="checkbox"/>
          <p:cNvSpPr/>
          <p:nvPr/>
        </p:nvSpPr>
        <p:spPr>
          <a:xfrm>
            <a:off x="822960" y="2249424"/>
            <a:ext cx="219456" cy="219456"/>
          </a:xfrm>
          <a:prstGeom prst="roundRect">
            <a:avLst>
              <a:gd name="adj" fmla="val 12500"/>
            </a:avLst>
          </a:prstGeom>
          <a:solidFill>
            <a:schemeClr val="bg1"/>
          </a:solidFill>
          <a:ln w="19050">
            <a:solidFill>
              <a:schemeClr val="accent3"/>
            </a:solidFill>
            <a:prstDash val="solid"/>
          </a:ln>
        </p:spPr>
      </p:sp>
      <p:sp>
        <p:nvSpPr>
          <p:cNvPr id="11" name="Text 8"/>
          <p:cNvSpPr txBox="1"/>
          <p:nvPr/>
        </p:nvSpPr>
        <p:spPr>
          <a:xfrm>
            <a:off x="1234440" y="2194560"/>
            <a:ext cx="4572000" cy="457200"/>
          </a:xfrm>
          <a:prstGeom prst="rect">
            <a:avLst/>
          </a:prstGeom>
          <a:noFill/>
          <a:ln/>
        </p:spPr>
        <p:txBody>
          <a:bodyPr wrap="square" lIns="0" tIns="0" rIns="0" bIns="0" rtlCol="0" anchor="ctr"/>
          <a:lstStyle/>
          <a:p>
            <a:pPr indent="0" marL="0">
              <a:buNone/>
            </a:pPr>
            <a:r>
              <a:rPr lang="en-US" sz="1400" dirty="0">
                <a:solidFill>
                  <a:schemeClr val="tx1"/>
                </a:solidFill>
              </a:rPr>
              <a:t>viewer can get pods (yes) and cannot delete pods (no)</a:t>
            </a:r>
            <a:endParaRPr lang="en-US" sz="1400" dirty="0"/>
          </a:p>
        </p:txBody>
      </p:sp>
      <p:sp>
        <p:nvSpPr>
          <p:cNvPr id="12" name="checkbox"/>
          <p:cNvSpPr/>
          <p:nvPr/>
        </p:nvSpPr>
        <p:spPr>
          <a:xfrm>
            <a:off x="822960" y="2779776"/>
            <a:ext cx="219456" cy="219456"/>
          </a:xfrm>
          <a:prstGeom prst="roundRect">
            <a:avLst>
              <a:gd name="adj" fmla="val 12500"/>
            </a:avLst>
          </a:prstGeom>
          <a:solidFill>
            <a:schemeClr val="bg1"/>
          </a:solidFill>
          <a:ln w="19050">
            <a:solidFill>
              <a:schemeClr val="accent3"/>
            </a:solidFill>
            <a:prstDash val="solid"/>
          </a:ln>
        </p:spPr>
      </p:sp>
      <p:sp>
        <p:nvSpPr>
          <p:cNvPr id="13" name="Text 10"/>
          <p:cNvSpPr txBox="1"/>
          <p:nvPr/>
        </p:nvSpPr>
        <p:spPr>
          <a:xfrm>
            <a:off x="1234440" y="2724912"/>
            <a:ext cx="4572000" cy="457200"/>
          </a:xfrm>
          <a:prstGeom prst="rect">
            <a:avLst/>
          </a:prstGeom>
          <a:noFill/>
          <a:ln/>
        </p:spPr>
        <p:txBody>
          <a:bodyPr wrap="square" lIns="0" tIns="0" rIns="0" bIns="0" rtlCol="0" anchor="ctr"/>
          <a:lstStyle/>
          <a:p>
            <a:pPr indent="0" marL="0">
              <a:buNone/>
            </a:pPr>
            <a:r>
              <a:rPr lang="en-US" sz="1400" dirty="0">
                <a:solidFill>
                  <a:schemeClr val="tx1"/>
                </a:solidFill>
              </a:rPr>
              <a:t>The root Pod is rejected in secure and secure-pod runs</a:t>
            </a:r>
            <a:endParaRPr lang="en-US" sz="1400" dirty="0"/>
          </a:p>
        </p:txBody>
      </p:sp>
      <p:sp>
        <p:nvSpPr>
          <p:cNvPr id="14" name="checkbox"/>
          <p:cNvSpPr/>
          <p:nvPr/>
        </p:nvSpPr>
        <p:spPr>
          <a:xfrm>
            <a:off x="822960" y="3310128"/>
            <a:ext cx="219456" cy="219456"/>
          </a:xfrm>
          <a:prstGeom prst="roundRect">
            <a:avLst>
              <a:gd name="adj" fmla="val 12500"/>
            </a:avLst>
          </a:prstGeom>
          <a:solidFill>
            <a:schemeClr val="bg1"/>
          </a:solidFill>
          <a:ln w="19050">
            <a:solidFill>
              <a:schemeClr val="accent3"/>
            </a:solidFill>
            <a:prstDash val="solid"/>
          </a:ln>
        </p:spPr>
      </p:sp>
      <p:sp>
        <p:nvSpPr>
          <p:cNvPr id="15" name="Text 12"/>
          <p:cNvSpPr txBox="1"/>
          <p:nvPr/>
        </p:nvSpPr>
        <p:spPr>
          <a:xfrm>
            <a:off x="1234440" y="3255264"/>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found each cause: bad tag, exit 1, 64Gi memory request</a:t>
            </a:r>
            <a:endParaRPr lang="en-US" sz="1400" dirty="0"/>
          </a:p>
        </p:txBody>
      </p:sp>
      <p:sp>
        <p:nvSpPr>
          <p:cNvPr id="16" name="checkbox"/>
          <p:cNvSpPr/>
          <p:nvPr/>
        </p:nvSpPr>
        <p:spPr>
          <a:xfrm>
            <a:off x="822960" y="3840480"/>
            <a:ext cx="219456" cy="219456"/>
          </a:xfrm>
          <a:prstGeom prst="roundRect">
            <a:avLst>
              <a:gd name="adj" fmla="val 12500"/>
            </a:avLst>
          </a:prstGeom>
          <a:solidFill>
            <a:schemeClr val="bg1"/>
          </a:solidFill>
          <a:ln w="19050">
            <a:solidFill>
              <a:schemeClr val="accent3"/>
            </a:solidFill>
            <a:prstDash val="solid"/>
          </a:ln>
        </p:spPr>
      </p:sp>
      <p:sp>
        <p:nvSpPr>
          <p:cNvPr id="17" name="Text 14"/>
          <p:cNvSpPr txBox="1"/>
          <p:nvPr/>
        </p:nvSpPr>
        <p:spPr>
          <a:xfrm>
            <a:off x="1234440" y="3785616"/>
            <a:ext cx="4572000" cy="457200"/>
          </a:xfrm>
          <a:prstGeom prst="rect">
            <a:avLst/>
          </a:prstGeom>
          <a:noFill/>
          <a:ln/>
        </p:spPr>
        <p:txBody>
          <a:bodyPr wrap="square" lIns="0" tIns="0" rIns="0" bIns="0" rtlCol="0" anchor="ctr"/>
          <a:lstStyle/>
          <a:p>
            <a:pPr indent="0" marL="0">
              <a:buNone/>
            </a:pPr>
            <a:r>
              <a:rPr lang="en-US" sz="1400" dirty="0">
                <a:solidFill>
                  <a:schemeClr val="tx1"/>
                </a:solidFill>
              </a:rPr>
              <a:t>All three broken Deployments are Running after your fixes</a:t>
            </a:r>
            <a:endParaRPr lang="en-US" sz="1400" dirty="0"/>
          </a:p>
        </p:txBody>
      </p:sp>
      <p:sp>
        <p:nvSpPr>
          <p:cNvPr id="18" name="checkbox"/>
          <p:cNvSpPr/>
          <p:nvPr/>
        </p:nvSpPr>
        <p:spPr>
          <a:xfrm>
            <a:off x="822960" y="4370832"/>
            <a:ext cx="219456" cy="219456"/>
          </a:xfrm>
          <a:prstGeom prst="roundRect">
            <a:avLst>
              <a:gd name="adj" fmla="val 12500"/>
            </a:avLst>
          </a:prstGeom>
          <a:solidFill>
            <a:schemeClr val="bg1"/>
          </a:solidFill>
          <a:ln w="19050">
            <a:solidFill>
              <a:schemeClr val="accent3"/>
            </a:solidFill>
            <a:prstDash val="solid"/>
          </a:ln>
        </p:spPr>
      </p:sp>
      <p:sp>
        <p:nvSpPr>
          <p:cNvPr id="19" name="Text 16"/>
          <p:cNvSpPr txBox="1"/>
          <p:nvPr/>
        </p:nvSpPr>
        <p:spPr>
          <a:xfrm>
            <a:off x="1234440" y="4315968"/>
            <a:ext cx="4572000" cy="457200"/>
          </a:xfrm>
          <a:prstGeom prst="rect">
            <a:avLst/>
          </a:prstGeom>
          <a:noFill/>
          <a:ln/>
        </p:spPr>
        <p:txBody>
          <a:bodyPr wrap="square" lIns="0" tIns="0" rIns="0" bIns="0" rtlCol="0" anchor="ctr"/>
          <a:lstStyle/>
          <a:p>
            <a:pPr indent="0" marL="0">
              <a:buNone/>
            </a:pPr>
            <a:r>
              <a:rPr lang="en-US" sz="1400" dirty="0">
                <a:solidFill>
                  <a:schemeClr val="tx1"/>
                </a:solidFill>
              </a:rPr>
              <a:t>You can recite the debug order from memory</a:t>
            </a:r>
            <a:endParaRPr lang="en-US" sz="1400" dirty="0"/>
          </a:p>
        </p:txBody>
      </p:sp>
      <p:sp>
        <p:nvSpPr>
          <p:cNvPr id="20" name="hints card"/>
          <p:cNvSpPr/>
          <p:nvPr/>
        </p:nvSpPr>
        <p:spPr>
          <a:xfrm>
            <a:off x="6309360" y="1371600"/>
            <a:ext cx="5333695" cy="3520440"/>
          </a:xfrm>
          <a:prstGeom prst="roundRect">
            <a:avLst>
              <a:gd name="adj" fmla="val 2078"/>
            </a:avLst>
          </a:prstGeom>
          <a:solidFill>
            <a:schemeClr val="accent4">
              <a:alpha val="12000"/>
            </a:schemeClr>
          </a:solidFill>
          <a:ln w="9525">
            <a:solidFill>
              <a:schemeClr val="accent4"/>
            </a:solidFill>
            <a:prstDash val="solid"/>
          </a:ln>
        </p:spPr>
      </p:sp>
      <p:sp>
        <p:nvSpPr>
          <p:cNvPr id="21" name="hint icon"/>
          <p:cNvSpPr/>
          <p:nvPr/>
        </p:nvSpPr>
        <p:spPr>
          <a:xfrm>
            <a:off x="6537960" y="1536192"/>
            <a:ext cx="457200" cy="457200"/>
          </a:xfrm>
          <a:prstGeom prst="ellipse">
            <a:avLst/>
          </a:prstGeom>
          <a:solidFill>
            <a:schemeClr val="accent4"/>
          </a:solidFill>
          <a:ln w="12700">
            <a:solidFill>
              <a:schemeClr val="accent4"/>
            </a:solidFill>
            <a:prstDash val="solid"/>
          </a:ln>
        </p:spPr>
      </p:sp>
      <p:pic>
        <p:nvPicPr>
          <p:cNvPr id="22" name="icon FaLightbulb" descr="FaLightbulb">    </p:cNvPr>
          <p:cNvPicPr>
            <a:picLocks noChangeAspect="1"/>
          </p:cNvPicPr>
          <p:nvPr/>
        </p:nvPicPr>
        <p:blipFill>
          <a:blip r:embed="rId2"/>
          <a:stretch>
            <a:fillRect/>
          </a:stretch>
        </p:blipFill>
        <p:spPr>
          <a:xfrm>
            <a:off x="6656832" y="1655064"/>
            <a:ext cx="219456" cy="219456"/>
          </a:xfrm>
          <a:prstGeom prst="rect">
            <a:avLst/>
          </a:prstGeom>
        </p:spPr>
      </p:pic>
      <p:sp>
        <p:nvSpPr>
          <p:cNvPr id="23" name="Text 19"/>
          <p:cNvSpPr txBox="1"/>
          <p:nvPr/>
        </p:nvSpPr>
        <p:spPr>
          <a:xfrm>
            <a:off x="7178040" y="1536192"/>
            <a:ext cx="4236415" cy="457200"/>
          </a:xfrm>
          <a:prstGeom prst="rect">
            <a:avLst/>
          </a:prstGeom>
          <a:noFill/>
          <a:ln/>
        </p:spPr>
        <p:txBody>
          <a:bodyPr wrap="square" lIns="0" tIns="0" rIns="0" bIns="0" rtlCol="0" anchor="ctr"/>
          <a:lstStyle/>
          <a:p>
            <a:pPr indent="0" marL="0">
              <a:buNone/>
            </a:pPr>
            <a:r>
              <a:rPr lang="en-US" sz="1900" b="1" dirty="0">
                <a:solidFill>
                  <a:schemeClr val="tx2"/>
                </a:solidFill>
              </a:rPr>
              <a:t>Hints when you get stuck</a:t>
            </a:r>
            <a:endParaRPr lang="en-US" sz="1900" dirty="0"/>
          </a:p>
        </p:txBody>
      </p:sp>
      <p:sp>
        <p:nvSpPr>
          <p:cNvPr id="24" name="Text 20"/>
          <p:cNvSpPr txBox="1"/>
          <p:nvPr/>
        </p:nvSpPr>
        <p:spPr>
          <a:xfrm>
            <a:off x="6583680" y="2148840"/>
            <a:ext cx="4785055" cy="2651760"/>
          </a:xfrm>
          <a:prstGeom prst="rect">
            <a:avLst/>
          </a:prstGeom>
          <a:noFill/>
          <a:ln/>
        </p:spPr>
        <p:txBody>
          <a:bodyPr wrap="square" lIns="0" tIns="0" rIns="0" bIns="0" rtlCol="0" anchor="t"/>
          <a:lstStyle/>
          <a:p>
            <a:pPr indent="0" marL="0">
              <a:spcAft>
                <a:spcPts val="700"/>
              </a:spcAft>
              <a:buNone/>
            </a:pPr>
            <a:r>
              <a:rPr lang="en-US" sz="1400" b="1" dirty="0">
                <a:solidFill>
                  <a:schemeClr val="tx1"/>
                </a:solidFill>
              </a:rPr>
              <a:t>Pod Pending forever?</a:t>
            </a:r>
            <a:pPr indent="0" marL="0">
              <a:spcAft>
                <a:spcPts val="700"/>
              </a:spcAft>
              <a:buNone/>
            </a:pPr>
            <a:r>
              <a:rPr lang="en-US" sz="1400" dirty="0">
                <a:solidFill>
                  <a:schemeClr val="tx1"/>
                </a:solidFill>
              </a:rPr>
              <a:t> Events say “Insufficient memory”: the request is bigger than any node.</a:t>
            </a:r>
            <a:endParaRPr lang="en-US" sz="1400" dirty="0"/>
          </a:p>
          <a:p>
            <a:pPr indent="0" marL="0">
              <a:spcAft>
                <a:spcPts val="700"/>
              </a:spcAft>
              <a:buNone/>
            </a:pPr>
            <a:r>
              <a:rPr lang="en-US" sz="1400" b="1" dirty="0">
                <a:solidFill>
                  <a:schemeClr val="tx1"/>
                </a:solidFill>
              </a:rPr>
              <a:t>CrashLoopBackOff?</a:t>
            </a:r>
            <a:pPr indent="0" marL="0">
              <a:spcAft>
                <a:spcPts val="700"/>
              </a:spcAft>
              <a:buNone/>
            </a:pPr>
            <a:r>
              <a:rPr lang="en-US" sz="1400" dirty="0">
                <a:solidFill>
                  <a:schemeClr val="tx1"/>
                </a:solidFill>
              </a:rPr>
              <a:t> kubectl logs --previous shows the last crash. Exit code 1 means the command failed.</a:t>
            </a:r>
            <a:endParaRPr lang="en-US" sz="1400" dirty="0"/>
          </a:p>
          <a:p>
            <a:pPr indent="0" marL="0">
              <a:spcAft>
                <a:spcPts val="700"/>
              </a:spcAft>
              <a:buNone/>
            </a:pPr>
            <a:r>
              <a:rPr lang="en-US" sz="1400" b="1" dirty="0">
                <a:solidFill>
                  <a:schemeClr val="tx1"/>
                </a:solidFill>
              </a:rPr>
              <a:t>ImagePullBackOff with a local image?</a:t>
            </a:r>
            <a:pPr indent="0" marL="0">
              <a:spcAft>
                <a:spcPts val="700"/>
              </a:spcAft>
              <a:buNone/>
            </a:pPr>
            <a:r>
              <a:rPr lang="en-US" sz="1400" dirty="0">
                <a:solidFill>
                  <a:schemeClr val="tx1"/>
                </a:solidFill>
              </a:rPr>
              <a:t> kind load docker-image, then imagePullPolicy: IfNotPresent.</a:t>
            </a:r>
            <a:endParaRPr lang="en-US" sz="1400" dirty="0"/>
          </a:p>
          <a:p>
            <a:pPr indent="0" marL="0">
              <a:spcAft>
                <a:spcPts val="700"/>
              </a:spcAft>
              <a:buNone/>
            </a:pPr>
            <a:r>
              <a:rPr lang="en-US" sz="1400" b="1" dirty="0">
                <a:solidFill>
                  <a:schemeClr val="tx1"/>
                </a:solidFill>
              </a:rPr>
              <a:t>Forbidden?</a:t>
            </a:r>
            <a:pPr indent="0" marL="0">
              <a:spcAft>
                <a:spcPts val="700"/>
              </a:spcAft>
              <a:buNone/>
            </a:pPr>
            <a:r>
              <a:rPr lang="en-US" sz="1400" dirty="0">
                <a:solidFill>
                  <a:schemeClr val="tx1"/>
                </a:solidFill>
              </a:rPr>
              <a:t> RBAC is deny by default. Add only the verbs you need.</a:t>
            </a:r>
            <a:endParaRPr lang="en-US" sz="1400" dirty="0"/>
          </a:p>
        </p:txBody>
      </p:sp>
      <p:sp>
        <p:nvSpPr>
          <p:cNvPr id="25" name="gh deliverable"/>
          <p:cNvSpPr/>
          <p:nvPr/>
        </p:nvSpPr>
        <p:spPr>
          <a:xfrm>
            <a:off x="548640" y="5120640"/>
            <a:ext cx="11094415" cy="1051560"/>
          </a:xfrm>
          <a:prstGeom prst="roundRect">
            <a:avLst>
              <a:gd name="adj" fmla="val 6957"/>
            </a:avLst>
          </a:prstGeom>
          <a:solidFill>
            <a:schemeClr val="accent1">
              <a:alpha val="14000"/>
            </a:schemeClr>
          </a:solidFill>
          <a:ln w="9525">
            <a:solidFill>
              <a:schemeClr val="accent1"/>
            </a:solidFill>
            <a:prstDash val="solid"/>
          </a:ln>
        </p:spPr>
      </p:sp>
      <p:sp>
        <p:nvSpPr>
          <p:cNvPr id="26" name="gh icon"/>
          <p:cNvSpPr/>
          <p:nvPr/>
        </p:nvSpPr>
        <p:spPr>
          <a:xfrm>
            <a:off x="777240" y="5394960"/>
            <a:ext cx="502920" cy="502920"/>
          </a:xfrm>
          <a:prstGeom prst="ellipse">
            <a:avLst/>
          </a:prstGeom>
          <a:solidFill>
            <a:schemeClr val="accent1"/>
          </a:solidFill>
          <a:ln w="12700">
            <a:solidFill>
              <a:schemeClr val="accent1"/>
            </a:solidFill>
            <a:prstDash val="solid"/>
          </a:ln>
        </p:spPr>
      </p:sp>
      <p:pic>
        <p:nvPicPr>
          <p:cNvPr id="27" name="icon FaBoxOpen" descr="FaBoxOpen">    </p:cNvPr>
          <p:cNvPicPr>
            <a:picLocks noChangeAspect="1"/>
          </p:cNvPicPr>
          <p:nvPr/>
        </p:nvPicPr>
        <p:blipFill>
          <a:blip r:embed="rId3"/>
          <a:stretch>
            <a:fillRect/>
          </a:stretch>
        </p:blipFill>
        <p:spPr>
          <a:xfrm>
            <a:off x="907999" y="5525719"/>
            <a:ext cx="241402" cy="241402"/>
          </a:xfrm>
          <a:prstGeom prst="rect">
            <a:avLst/>
          </a:prstGeom>
        </p:spPr>
      </p:pic>
      <p:sp>
        <p:nvSpPr>
          <p:cNvPr id="28" name="Text 23"/>
          <p:cNvSpPr txBox="1"/>
          <p:nvPr/>
        </p:nvSpPr>
        <p:spPr>
          <a:xfrm>
            <a:off x="1508760" y="5212080"/>
            <a:ext cx="5486400" cy="274320"/>
          </a:xfrm>
          <a:prstGeom prst="rect">
            <a:avLst/>
          </a:prstGeom>
          <a:noFill/>
          <a:ln/>
        </p:spPr>
        <p:txBody>
          <a:bodyPr wrap="square" lIns="0" tIns="0" rIns="0" bIns="0" rtlCol="0" anchor="t"/>
          <a:lstStyle/>
          <a:p>
            <a:pPr indent="0" marL="0">
              <a:buNone/>
            </a:pPr>
            <a:r>
              <a:rPr lang="en-US" sz="1600" b="1" dirty="0">
                <a:solidFill>
                  <a:schemeClr val="tx2"/>
                </a:solidFill>
              </a:rPr>
              <a:t>Deliverable for GitHub</a:t>
            </a:r>
            <a:endParaRPr lang="en-US" sz="1600" dirty="0"/>
          </a:p>
        </p:txBody>
      </p:sp>
      <p:sp>
        <p:nvSpPr>
          <p:cNvPr id="29" name="Text 24"/>
          <p:cNvSpPr txBox="1"/>
          <p:nvPr/>
        </p:nvSpPr>
        <p:spPr>
          <a:xfrm>
            <a:off x="1508760" y="5532120"/>
            <a:ext cx="9905695" cy="594360"/>
          </a:xfrm>
          <a:prstGeom prst="rect">
            <a:avLst/>
          </a:prstGeom>
          <a:noFill/>
          <a:ln/>
        </p:spPr>
        <p:txBody>
          <a:bodyPr wrap="square" lIns="0" tIns="0" rIns="0" bIns="0" rtlCol="0" anchor="t"/>
          <a:lstStyle/>
          <a:p>
            <a:pPr indent="0" marL="0">
              <a:buNone/>
            </a:pPr>
            <a:r>
              <a:rPr lang="en-US" sz="1400" dirty="0">
                <a:solidFill>
                  <a:schemeClr val="tx1"/>
                </a:solidFill>
              </a:rPr>
              <a:t>GitHub folder day7-security-debug/ with rbac.yaml, secure-pod.yaml, a table of the 3 broken apps (symptom, cause, fix) and a README with your debug routine.</a:t>
            </a:r>
            <a:endParaRPr lang="en-US" sz="14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DAY 7 · INTERVIEW QUESTIONS</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Day 7 interview questions</a:t>
            </a:r>
            <a:endParaRPr lang="en-US" sz="3400" dirty="0"/>
          </a:p>
        </p:txBody>
      </p:sp>
      <p:sp>
        <p:nvSpPr>
          <p:cNvPr id="4" name="day badge"/>
          <p:cNvSpPr/>
          <p:nvPr/>
        </p:nvSpPr>
        <p:spPr>
          <a:xfrm>
            <a:off x="11076127" y="347472"/>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11076127" y="347472"/>
            <a:ext cx="566928" cy="566928"/>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3566160"/>
                <a:gridCol w="7525512"/>
              </a:tblGrid>
              <a:tr h="384048">
                <a:tc>
                  <a:txBody>
                    <a:bodyPr/>
                    <a:lstStyle/>
                    <a:p>
                      <a:pPr indent="0" marL="0">
                        <a:buNone/>
                      </a:pPr>
                      <a:r>
                        <a:rPr lang="en-US" sz="1400" b="1" dirty="0">
                          <a:solidFill>
                            <a:schemeClr val="bg1"/>
                          </a:solidFill>
                        </a:rPr>
                        <a:t>Question</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Short answer</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rPr>
                        <a:t>Role vs ClusterRole?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Role grants permissions inside one namespace. A ClusterRole is cluster-wide, reusable across namespaces, and covers resources like nodes.</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How do you check what an account can do?</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kubectl auth can-i &lt;verb&gt; &lt;resource&gt; --as=&lt;subject&gt;. Run it before shipping an RBAC change.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Why avoid running containers as root?</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container escape becomes root on the node. runAsNonRoot, dropped capabilities and a read-only filesystem limit the damage.</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rPr>
                        <a:t>A Pod is Pending. What do you do?</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describe pod and read Events: not enough CPU or memory, a node selector or taint mismatch, or an unbound PVC.</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rPr>
                        <a:t>A Pod is CrashLoopBackOff. What do you do?</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logs --previous for the last crash, describe for the exit code and OOMKilled, then check config, env, probes and the image command.</a:t>
                      </a:r>
                      <a:endParaRPr lang="en-US" sz="14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WEEK 3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kubectl cheat sheet</a:t>
            </a:r>
            <a:endParaRPr lang="en-US" sz="34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3291840"/>
                <a:gridCol w="2176272"/>
              </a:tblGrid>
              <a:tr h="384048">
                <a:tc>
                  <a:txBody>
                    <a:bodyPr/>
                    <a:lstStyle/>
                    <a:p>
                      <a:pPr indent="0" marL="0">
                        <a:buNone/>
                      </a:pPr>
                      <a:r>
                        <a:rPr lang="en-US" sz="1300" b="1" dirty="0">
                          <a:solidFill>
                            <a:schemeClr val="bg1"/>
                          </a:solidFill>
                        </a:rPr>
                        <a:t>Command</a:t>
                      </a:r>
                      <a:endParaRPr lang="en-US" sz="13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Use</a:t>
                      </a:r>
                      <a:endParaRPr lang="en-US" sz="13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get &lt;obj&gt; -o wide</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List objects with more detail</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describe &lt;obj&gt; &lt;name&gt;</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Details and Events</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logs &lt;pod&gt; [--previous]</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Container output</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exec -it &lt;pod&gt; -- sh</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Shell inside a Pod</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apply -f file.yaml</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Create or update</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delete -f file.yaml</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Remove what the file made</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graphicFrame>
        <p:nvGraphicFramePr>
          <p:cNvPr id="129" name="Table 1"/>
          <p:cNvGraphicFramePr>
            <a:graphicFrameLocks noGrp="1"/>
          </p:cNvGraphicFramePr>
          <p:nvPr>
            <p:extLst>
              <p:ext uri="{D42A27DB-BD31-4B8C-83A1-F6EECF244321}">
                <p14:modId xmlns:p14="http://schemas.microsoft.com/office/powerpoint/2010/main" val="1579011935"/>
              </p:ext>
            </p:extLst>
          </p:nvPr>
        </p:nvGraphicFramePr>
        <p:xfrm>
          <a:off x="6172200" y="1417320"/>
          <a:ext cx="9144000" cy="914400"/>
        </p:xfrm>
        <a:graphic>
          <a:graphicData uri="http://schemas.openxmlformats.org/drawingml/2006/table">
            <a:tbl>
              <a:tblPr/>
              <a:tblGrid>
                <a:gridCol w="3291840"/>
                <a:gridCol w="2176272"/>
              </a:tblGrid>
              <a:tr h="384048">
                <a:tc>
                  <a:txBody>
                    <a:bodyPr/>
                    <a:lstStyle/>
                    <a:p>
                      <a:pPr indent="0" marL="0">
                        <a:buNone/>
                      </a:pPr>
                      <a:r>
                        <a:rPr lang="en-US" sz="1300" b="1" dirty="0">
                          <a:solidFill>
                            <a:schemeClr val="bg1"/>
                          </a:solidFill>
                        </a:rPr>
                        <a:t>Command</a:t>
                      </a:r>
                      <a:endParaRPr lang="en-US" sz="13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Use</a:t>
                      </a:r>
                      <a:endParaRPr lang="en-US" sz="1300" dirty="0"/>
                    </a:p>
                  </a:txBody>
                  <a:tcPr marL="127000" marR="127000" marT="50800" marB="508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rollout status|undo deploy/x</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Watch or revert a release</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scale deploy x --replicas=N</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Change replica count</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port-forward svc/x 8080:80</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Local access to a Service</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top pods</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CPU and memory usage</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auth can-i &lt;verb&gt; &lt;res&gt;</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 RBAC</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2"/>
                    </a:solidFill>
                  </a:tcPr>
                </a:tc>
              </a:tr>
              <a:tr h="594360">
                <a:tc>
                  <a:txBody>
                    <a:bodyPr/>
                    <a:lstStyle/>
                    <a:p>
                      <a:pPr indent="0" marL="0">
                        <a:buNone/>
                      </a:pPr>
                      <a:r>
                        <a:rPr lang="en-US" sz="1150" b="1" dirty="0">
                          <a:solidFill>
                            <a:schemeClr val="accent1"/>
                          </a:solidFill>
                          <a:latin typeface="Courier New" pitchFamily="34" charset="0"/>
                          <a:ea typeface="Courier New" pitchFamily="34" charset="-122"/>
                          <a:cs typeface="Courier New" pitchFamily="34" charset="-120"/>
                        </a:rPr>
                        <a:t>kubectl config use-context kind-winter-arc</a:t>
                      </a:r>
                      <a:endParaRPr lang="en-US" sz="1150" dirty="0">
                        <a:latin typeface="Courier New" charset="0"/>
                        <a:ea typeface="Courier New" charset="0"/>
                        <a:cs typeface="Courier New" charset="0"/>
                      </a:endParaRPr>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Switch cluster</a:t>
                      </a:r>
                      <a:endParaRPr lang="en-US" sz="1400" dirty="0"/>
                    </a:p>
                  </a:txBody>
                  <a:tcPr marL="101600" marR="101600" marT="38100" marB="3810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r>
            </a:tbl>
          </a:graphicData>
        </a:graphic>
      </p:graphicFrame>
      <p:sp>
        <p:nvSpPr>
          <p:cNvPr id="6" name="cheat note"/>
          <p:cNvSpPr/>
          <p:nvPr/>
        </p:nvSpPr>
        <p:spPr>
          <a:xfrm>
            <a:off x="548640" y="5486400"/>
            <a:ext cx="11094415" cy="685800"/>
          </a:xfrm>
          <a:prstGeom prst="roundRect">
            <a:avLst>
              <a:gd name="adj" fmla="val 10667"/>
            </a:avLst>
          </a:prstGeom>
          <a:solidFill>
            <a:schemeClr val="accent2">
              <a:alpha val="22000"/>
            </a:schemeClr>
          </a:solidFill>
          <a:ln w="9525">
            <a:solidFill>
              <a:schemeClr val="accent2"/>
            </a:solidFill>
            <a:prstDash val="solid"/>
          </a:ln>
        </p:spPr>
      </p:sp>
      <p:sp>
        <p:nvSpPr>
          <p:cNvPr id="7" name="Text 3"/>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600" b="1" dirty="0">
                <a:solidFill>
                  <a:schemeClr val="tx2"/>
                </a:solidFill>
              </a:rPr>
              <a:t>Debug order: </a:t>
            </a:r>
            <a:pPr indent="0" marL="0">
              <a:buNone/>
            </a:pPr>
            <a:r>
              <a:rPr lang="en-US" sz="1600" dirty="0">
                <a:solidFill>
                  <a:schemeClr val="tx1"/>
                </a:solidFill>
              </a:rPr>
              <a:t>get → describe → logs → events → exec. Read the Events first.</a:t>
            </a:r>
            <a:endParaRPr lang="en-US" sz="16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48640" y="256032"/>
            <a:ext cx="8229600" cy="237744"/>
          </a:xfrm>
          <a:prstGeom prst="rect">
            <a:avLst/>
          </a:prstGeom>
          <a:noFill/>
          <a:ln/>
        </p:spPr>
        <p:txBody>
          <a:bodyPr wrap="square" lIns="0" tIns="0" rIns="0" bIns="0" rtlCol="0" anchor="t"/>
          <a:lstStyle/>
          <a:p>
            <a:pPr indent="0" marL="0">
              <a:buNone/>
            </a:pPr>
            <a:r>
              <a:rPr lang="en-US" sz="1200" b="1" spc="300" kern="0" dirty="0">
                <a:solidFill>
                  <a:schemeClr val="accent1"/>
                </a:solidFill>
              </a:rPr>
              <a:t>WEEK 3 WRAP-UP</a:t>
            </a:r>
            <a:endParaRPr lang="en-US" sz="1200" dirty="0"/>
          </a:p>
        </p:txBody>
      </p:sp>
      <p:sp>
        <p:nvSpPr>
          <p:cNvPr id="3" name="Text 0"/>
          <p:cNvSpPr/>
          <p:nvPr>
            <p:ph idx="100" type="title" hasCustomPrompt="1"/>
          </p:nvPr>
        </p:nvSpPr>
        <p:spPr>
          <a:xfrm>
            <a:off x="548640" y="502920"/>
            <a:ext cx="10058400" cy="685800"/>
          </a:xfrm>
          <a:prstGeom prst="rect">
            <a:avLst/>
          </a:prstGeom>
          <a:noFill/>
          <a:ln/>
        </p:spPr>
        <p:txBody>
          <a:bodyPr wrap="square" lIns="0" tIns="0" rIns="0" bIns="0" rtlCol="0" anchor="ctr"/>
          <a:lstStyle/>
          <a:p>
            <a:pPr algn="l" indent="0" marL="0">
              <a:buNone/>
            </a:pPr>
            <a:r>
              <a:rPr lang="en-US" sz="3400" b="1" dirty="0">
                <a:solidFill>
                  <a:schemeClr val="tx2"/>
                </a:solidFill>
              </a:rPr>
              <a:t>Clean up and ship it</a:t>
            </a:r>
            <a:endParaRPr lang="en-US" sz="3400" dirty="0"/>
          </a:p>
        </p:txBody>
      </p:sp>
      <p:sp>
        <p:nvSpPr>
          <p:cNvPr id="4" name="terminal clean up"/>
          <p:cNvSpPr/>
          <p:nvPr/>
        </p:nvSpPr>
        <p:spPr>
          <a:xfrm>
            <a:off x="548640" y="1371600"/>
            <a:ext cx="5577840" cy="1417320"/>
          </a:xfrm>
          <a:prstGeom prst="roundRect">
            <a:avLst>
              <a:gd name="adj" fmla="val 3871"/>
            </a:avLst>
          </a:prstGeom>
          <a:solidFill>
            <a:schemeClr val="tx2"/>
          </a:solidFill>
          <a:ln w="9525">
            <a:solidFill>
              <a:schemeClr val="accent1"/>
            </a:solidFill>
            <a:prstDash val="solid"/>
          </a:ln>
        </p:spPr>
      </p:sp>
      <p:sp>
        <p:nvSpPr>
          <p:cNvPr id="5" name="dot"/>
          <p:cNvSpPr/>
          <p:nvPr/>
        </p:nvSpPr>
        <p:spPr>
          <a:xfrm>
            <a:off x="749808" y="1527048"/>
            <a:ext cx="100584" cy="100584"/>
          </a:xfrm>
          <a:prstGeom prst="ellipse">
            <a:avLst/>
          </a:prstGeom>
          <a:solidFill>
            <a:schemeClr val="accent4"/>
          </a:solidFill>
          <a:ln w="12700">
            <a:solidFill>
              <a:schemeClr val="accent4"/>
            </a:solidFill>
            <a:prstDash val="solid"/>
          </a:ln>
        </p:spPr>
      </p:sp>
      <p:sp>
        <p:nvSpPr>
          <p:cNvPr id="6" name="dot"/>
          <p:cNvSpPr/>
          <p:nvPr/>
        </p:nvSpPr>
        <p:spPr>
          <a:xfrm>
            <a:off x="932688" y="1527048"/>
            <a:ext cx="100584" cy="100584"/>
          </a:xfrm>
          <a:prstGeom prst="ellipse">
            <a:avLst/>
          </a:prstGeom>
          <a:solidFill>
            <a:schemeClr val="accent2"/>
          </a:solidFill>
          <a:ln w="12700">
            <a:solidFill>
              <a:schemeClr val="accent2"/>
            </a:solidFill>
            <a:prstDash val="solid"/>
          </a:ln>
        </p:spPr>
      </p:sp>
      <p:sp>
        <p:nvSpPr>
          <p:cNvPr id="7" name="dot"/>
          <p:cNvSpPr/>
          <p:nvPr/>
        </p:nvSpPr>
        <p:spPr>
          <a:xfrm>
            <a:off x="1115568" y="1527048"/>
            <a:ext cx="100584" cy="100584"/>
          </a:xfrm>
          <a:prstGeom prst="ellipse">
            <a:avLst/>
          </a:prstGeom>
          <a:solidFill>
            <a:schemeClr val="accent3"/>
          </a:solidFill>
          <a:ln w="12700">
            <a:solidFill>
              <a:schemeClr val="accent3"/>
            </a:solidFill>
            <a:prstDash val="solid"/>
          </a:ln>
        </p:spPr>
      </p:sp>
      <p:sp>
        <p:nvSpPr>
          <p:cNvPr id="8" name="Text 6"/>
          <p:cNvSpPr txBox="1"/>
          <p:nvPr/>
        </p:nvSpPr>
        <p:spPr>
          <a:xfrm>
            <a:off x="1417320" y="1463040"/>
            <a:ext cx="4480560"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clean up</a:t>
            </a:r>
            <a:endParaRPr lang="en-US" sz="1100" dirty="0"/>
          </a:p>
        </p:txBody>
      </p:sp>
      <p:sp>
        <p:nvSpPr>
          <p:cNvPr id="9" name="terminal text"/>
          <p:cNvSpPr txBox="1"/>
          <p:nvPr/>
        </p:nvSpPr>
        <p:spPr>
          <a:xfrm>
            <a:off x="749808" y="1828800"/>
            <a:ext cx="5175504" cy="868680"/>
          </a:xfrm>
          <a:prstGeom prst="rect">
            <a:avLst/>
          </a:prstGeom>
          <a:noFill/>
          <a:ln/>
        </p:spPr>
        <p:txBody>
          <a:bodyPr wrap="square" lIns="0" tIns="0" rIns="0" bIns="0" rtlCol="0" anchor="t"/>
          <a:lstStyle/>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delete ns dev prod secure lab</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kubectl delete pvc --all</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kind delete cluster --name winter-arc</a:t>
            </a:r>
            <a:endParaRPr lang="en-US" sz="1200" dirty="0"/>
          </a:p>
          <a:p>
            <a:pPr indent="0" marL="0">
              <a:buNone/>
            </a:pPr>
            <a:r>
              <a:rPr lang="en-US" sz="1200" b="1"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docker ps        </a:t>
            </a:r>
            <a:pPr indent="0" marL="0">
              <a:buNone/>
            </a:pPr>
            <a:r>
              <a:rPr lang="en-US" sz="1200" dirty="0">
                <a:solidFill>
                  <a:schemeClr val="accent6"/>
                </a:solidFill>
                <a:latin typeface="Courier New" pitchFamily="34" charset="0"/>
                <a:ea typeface="Courier New" pitchFamily="34" charset="-122"/>
                <a:cs typeface="Courier New" pitchFamily="34" charset="-120"/>
              </a:rPr>
              <a:t> # the node containers are gone</a:t>
            </a:r>
            <a:endParaRPr lang="en-US" sz="1200" dirty="0"/>
          </a:p>
        </p:txBody>
      </p:sp>
      <p:sp>
        <p:nvSpPr>
          <p:cNvPr id="10" name="terminal repo layout"/>
          <p:cNvSpPr/>
          <p:nvPr/>
        </p:nvSpPr>
        <p:spPr>
          <a:xfrm>
            <a:off x="548640" y="3063240"/>
            <a:ext cx="5577840" cy="2331720"/>
          </a:xfrm>
          <a:prstGeom prst="roundRect">
            <a:avLst>
              <a:gd name="adj" fmla="val 2353"/>
            </a:avLst>
          </a:prstGeom>
          <a:solidFill>
            <a:schemeClr val="tx2"/>
          </a:solidFill>
          <a:ln w="9525">
            <a:solidFill>
              <a:schemeClr val="accent1"/>
            </a:solidFill>
            <a:prstDash val="solid"/>
          </a:ln>
        </p:spPr>
      </p:sp>
      <p:sp>
        <p:nvSpPr>
          <p:cNvPr id="11" name="dot"/>
          <p:cNvSpPr/>
          <p:nvPr/>
        </p:nvSpPr>
        <p:spPr>
          <a:xfrm>
            <a:off x="749808" y="3218688"/>
            <a:ext cx="100584" cy="100584"/>
          </a:xfrm>
          <a:prstGeom prst="ellipse">
            <a:avLst/>
          </a:prstGeom>
          <a:solidFill>
            <a:schemeClr val="accent4"/>
          </a:solidFill>
          <a:ln w="12700">
            <a:solidFill>
              <a:schemeClr val="accent4"/>
            </a:solidFill>
            <a:prstDash val="solid"/>
          </a:ln>
        </p:spPr>
      </p:sp>
      <p:sp>
        <p:nvSpPr>
          <p:cNvPr id="12" name="dot"/>
          <p:cNvSpPr/>
          <p:nvPr/>
        </p:nvSpPr>
        <p:spPr>
          <a:xfrm>
            <a:off x="932688" y="3218688"/>
            <a:ext cx="100584" cy="100584"/>
          </a:xfrm>
          <a:prstGeom prst="ellipse">
            <a:avLst/>
          </a:prstGeom>
          <a:solidFill>
            <a:schemeClr val="accent2"/>
          </a:solidFill>
          <a:ln w="12700">
            <a:solidFill>
              <a:schemeClr val="accent2"/>
            </a:solidFill>
            <a:prstDash val="solid"/>
          </a:ln>
        </p:spPr>
      </p:sp>
      <p:sp>
        <p:nvSpPr>
          <p:cNvPr id="13" name="dot"/>
          <p:cNvSpPr/>
          <p:nvPr/>
        </p:nvSpPr>
        <p:spPr>
          <a:xfrm>
            <a:off x="1115568" y="3218688"/>
            <a:ext cx="100584" cy="100584"/>
          </a:xfrm>
          <a:prstGeom prst="ellipse">
            <a:avLst/>
          </a:prstGeom>
          <a:solidFill>
            <a:schemeClr val="accent3"/>
          </a:solidFill>
          <a:ln w="12700">
            <a:solidFill>
              <a:schemeClr val="accent3"/>
            </a:solidFill>
            <a:prstDash val="solid"/>
          </a:ln>
        </p:spPr>
      </p:sp>
      <p:sp>
        <p:nvSpPr>
          <p:cNvPr id="14" name="Text 12"/>
          <p:cNvSpPr txBox="1"/>
          <p:nvPr/>
        </p:nvSpPr>
        <p:spPr>
          <a:xfrm>
            <a:off x="1417320" y="3154680"/>
            <a:ext cx="4480560" cy="237744"/>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repo layout</a:t>
            </a:r>
            <a:endParaRPr lang="en-US" sz="1100" dirty="0"/>
          </a:p>
        </p:txBody>
      </p:sp>
      <p:sp>
        <p:nvSpPr>
          <p:cNvPr id="15" name="terminal text"/>
          <p:cNvSpPr txBox="1"/>
          <p:nvPr/>
        </p:nvSpPr>
        <p:spPr>
          <a:xfrm>
            <a:off x="749808" y="3520440"/>
            <a:ext cx="5175504" cy="17830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week3-kubernetes/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day1-k8s-basics/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day2-deployments/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day3-services/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day4-config/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day5-storage/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day6-health-scaling/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day7-security-debug/</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README.md</a:t>
            </a:r>
            <a:endParaRPr lang="en-US" sz="1200" dirty="0"/>
          </a:p>
        </p:txBody>
      </p:sp>
      <p:sp>
        <p:nvSpPr>
          <p:cNvPr id="16" name="not covered"/>
          <p:cNvSpPr/>
          <p:nvPr/>
        </p:nvSpPr>
        <p:spPr>
          <a:xfrm>
            <a:off x="6492240" y="1371600"/>
            <a:ext cx="5150815" cy="4800600"/>
          </a:xfrm>
          <a:prstGeom prst="roundRect">
            <a:avLst>
              <a:gd name="adj" fmla="val 1524"/>
            </a:avLst>
          </a:prstGeom>
          <a:solidFill>
            <a:schemeClr val="accent1">
              <a:alpha val="10000"/>
            </a:schemeClr>
          </a:solidFill>
          <a:ln w="9525">
            <a:solidFill>
              <a:schemeClr val="accent1"/>
            </a:solidFill>
            <a:prstDash val="solid"/>
          </a:ln>
        </p:spPr>
      </p:sp>
      <p:sp>
        <p:nvSpPr>
          <p:cNvPr id="17" name="rocket icon"/>
          <p:cNvSpPr/>
          <p:nvPr/>
        </p:nvSpPr>
        <p:spPr>
          <a:xfrm>
            <a:off x="6720840" y="1572768"/>
            <a:ext cx="502920" cy="502920"/>
          </a:xfrm>
          <a:prstGeom prst="ellipse">
            <a:avLst/>
          </a:prstGeom>
          <a:solidFill>
            <a:schemeClr val="accent1"/>
          </a:solidFill>
          <a:ln w="12700">
            <a:solidFill>
              <a:schemeClr val="accent1"/>
            </a:solidFill>
            <a:prstDash val="solid"/>
          </a:ln>
        </p:spPr>
      </p:sp>
      <p:pic>
        <p:nvPicPr>
          <p:cNvPr id="18" name="icon FaRocket" descr="FaRocket">    </p:cNvPr>
          <p:cNvPicPr>
            <a:picLocks noChangeAspect="1"/>
          </p:cNvPicPr>
          <p:nvPr/>
        </p:nvPicPr>
        <p:blipFill>
          <a:blip r:embed="rId1"/>
          <a:stretch>
            <a:fillRect/>
          </a:stretch>
        </p:blipFill>
        <p:spPr>
          <a:xfrm>
            <a:off x="6851599" y="1703527"/>
            <a:ext cx="241402" cy="241402"/>
          </a:xfrm>
          <a:prstGeom prst="rect">
            <a:avLst/>
          </a:prstGeom>
        </p:spPr>
      </p:pic>
      <p:sp>
        <p:nvSpPr>
          <p:cNvPr id="19" name="Text 16"/>
          <p:cNvSpPr txBox="1"/>
          <p:nvPr/>
        </p:nvSpPr>
        <p:spPr>
          <a:xfrm>
            <a:off x="7452360" y="1572768"/>
            <a:ext cx="3962095" cy="502920"/>
          </a:xfrm>
          <a:prstGeom prst="rect">
            <a:avLst/>
          </a:prstGeom>
          <a:noFill/>
          <a:ln/>
        </p:spPr>
        <p:txBody>
          <a:bodyPr wrap="square" lIns="0" tIns="0" rIns="0" bIns="0" rtlCol="0" anchor="ctr"/>
          <a:lstStyle/>
          <a:p>
            <a:pPr indent="0" marL="0">
              <a:buNone/>
            </a:pPr>
            <a:r>
              <a:rPr lang="en-US" sz="1900" b="1" dirty="0">
                <a:solidFill>
                  <a:schemeClr val="tx2"/>
                </a:solidFill>
              </a:rPr>
              <a:t>Not covered this week</a:t>
            </a:r>
            <a:endParaRPr lang="en-US" sz="1900" dirty="0"/>
          </a:p>
        </p:txBody>
      </p:sp>
      <p:sp>
        <p:nvSpPr>
          <p:cNvPr id="20" name="Text 17"/>
          <p:cNvSpPr txBox="1"/>
          <p:nvPr/>
        </p:nvSpPr>
        <p:spPr>
          <a:xfrm>
            <a:off x="6766560" y="2240280"/>
            <a:ext cx="4602175" cy="320040"/>
          </a:xfrm>
          <a:prstGeom prst="rect">
            <a:avLst/>
          </a:prstGeom>
          <a:noFill/>
          <a:ln/>
        </p:spPr>
        <p:txBody>
          <a:bodyPr wrap="square" lIns="0" tIns="0" rIns="0" bIns="0" rtlCol="0" anchor="t"/>
          <a:lstStyle/>
          <a:p>
            <a:pPr indent="0" marL="0">
              <a:buNone/>
            </a:pPr>
            <a:r>
              <a:rPr lang="en-US" sz="1400" dirty="0">
                <a:solidFill>
                  <a:schemeClr val="tx1"/>
                </a:solidFill>
              </a:rPr>
              <a:t>Left out on purpose, so core objects stay clear:</a:t>
            </a:r>
            <a:endParaRPr lang="en-US" sz="1400" dirty="0"/>
          </a:p>
        </p:txBody>
      </p:sp>
      <p:sp>
        <p:nvSpPr>
          <p:cNvPr id="21" name="bullet dot"/>
          <p:cNvSpPr/>
          <p:nvPr/>
        </p:nvSpPr>
        <p:spPr>
          <a:xfrm>
            <a:off x="6784848" y="2788920"/>
            <a:ext cx="146304" cy="146304"/>
          </a:xfrm>
          <a:prstGeom prst="ellipse">
            <a:avLst/>
          </a:prstGeom>
          <a:solidFill>
            <a:schemeClr val="accent1"/>
          </a:solidFill>
          <a:ln w="12700">
            <a:solidFill>
              <a:schemeClr val="accent1"/>
            </a:solidFill>
            <a:prstDash val="solid"/>
          </a:ln>
        </p:spPr>
      </p:sp>
      <p:sp>
        <p:nvSpPr>
          <p:cNvPr id="22" name="Text 19"/>
          <p:cNvSpPr txBox="1"/>
          <p:nvPr/>
        </p:nvSpPr>
        <p:spPr>
          <a:xfrm>
            <a:off x="7086600" y="2697480"/>
            <a:ext cx="4282135" cy="365760"/>
          </a:xfrm>
          <a:prstGeom prst="rect">
            <a:avLst/>
          </a:prstGeom>
          <a:noFill/>
          <a:ln/>
        </p:spPr>
        <p:txBody>
          <a:bodyPr wrap="square" lIns="0" tIns="0" rIns="0" bIns="0" rtlCol="0" anchor="ctr"/>
          <a:lstStyle/>
          <a:p>
            <a:pPr indent="0" marL="0">
              <a:buNone/>
            </a:pPr>
            <a:r>
              <a:rPr lang="en-US" sz="1500" dirty="0">
                <a:solidFill>
                  <a:schemeClr val="tx1"/>
                </a:solidFill>
              </a:rPr>
              <a:t>Ingress and Gateway API</a:t>
            </a:r>
            <a:endParaRPr lang="en-US" sz="1500" dirty="0"/>
          </a:p>
        </p:txBody>
      </p:sp>
      <p:sp>
        <p:nvSpPr>
          <p:cNvPr id="23" name="bullet dot"/>
          <p:cNvSpPr/>
          <p:nvPr/>
        </p:nvSpPr>
        <p:spPr>
          <a:xfrm>
            <a:off x="6784848" y="3246120"/>
            <a:ext cx="146304" cy="146304"/>
          </a:xfrm>
          <a:prstGeom prst="ellipse">
            <a:avLst/>
          </a:prstGeom>
          <a:solidFill>
            <a:schemeClr val="accent1"/>
          </a:solidFill>
          <a:ln w="12700">
            <a:solidFill>
              <a:schemeClr val="accent1"/>
            </a:solidFill>
            <a:prstDash val="solid"/>
          </a:ln>
        </p:spPr>
      </p:sp>
      <p:sp>
        <p:nvSpPr>
          <p:cNvPr id="24" name="Text 21"/>
          <p:cNvSpPr txBox="1"/>
          <p:nvPr/>
        </p:nvSpPr>
        <p:spPr>
          <a:xfrm>
            <a:off x="7086600" y="3154680"/>
            <a:ext cx="4282135" cy="365760"/>
          </a:xfrm>
          <a:prstGeom prst="rect">
            <a:avLst/>
          </a:prstGeom>
          <a:noFill/>
          <a:ln/>
        </p:spPr>
        <p:txBody>
          <a:bodyPr wrap="square" lIns="0" tIns="0" rIns="0" bIns="0" rtlCol="0" anchor="ctr"/>
          <a:lstStyle/>
          <a:p>
            <a:pPr indent="0" marL="0">
              <a:buNone/>
            </a:pPr>
            <a:r>
              <a:rPr lang="en-US" sz="1500" dirty="0">
                <a:solidFill>
                  <a:schemeClr val="tx1"/>
                </a:solidFill>
              </a:rPr>
              <a:t>LoadBalancer on kind (MetalLB, cloud-provider-kind)</a:t>
            </a:r>
            <a:endParaRPr lang="en-US" sz="1500" dirty="0"/>
          </a:p>
        </p:txBody>
      </p:sp>
      <p:sp>
        <p:nvSpPr>
          <p:cNvPr id="25" name="bullet dot"/>
          <p:cNvSpPr/>
          <p:nvPr/>
        </p:nvSpPr>
        <p:spPr>
          <a:xfrm>
            <a:off x="6784848" y="3703320"/>
            <a:ext cx="146304" cy="146304"/>
          </a:xfrm>
          <a:prstGeom prst="ellipse">
            <a:avLst/>
          </a:prstGeom>
          <a:solidFill>
            <a:schemeClr val="accent1"/>
          </a:solidFill>
          <a:ln w="12700">
            <a:solidFill>
              <a:schemeClr val="accent1"/>
            </a:solidFill>
            <a:prstDash val="solid"/>
          </a:ln>
        </p:spPr>
      </p:sp>
      <p:sp>
        <p:nvSpPr>
          <p:cNvPr id="26" name="Text 23"/>
          <p:cNvSpPr txBox="1"/>
          <p:nvPr/>
        </p:nvSpPr>
        <p:spPr>
          <a:xfrm>
            <a:off x="7086600" y="3611880"/>
            <a:ext cx="4282135" cy="365760"/>
          </a:xfrm>
          <a:prstGeom prst="rect">
            <a:avLst/>
          </a:prstGeom>
          <a:noFill/>
          <a:ln/>
        </p:spPr>
        <p:txBody>
          <a:bodyPr wrap="square" lIns="0" tIns="0" rIns="0" bIns="0" rtlCol="0" anchor="ctr"/>
          <a:lstStyle/>
          <a:p>
            <a:pPr indent="0" marL="0">
              <a:buNone/>
            </a:pPr>
            <a:r>
              <a:rPr lang="en-US" sz="1500" dirty="0">
                <a:solidFill>
                  <a:schemeClr val="tx1"/>
                </a:solidFill>
              </a:rPr>
              <a:t>Helm and Kustomize</a:t>
            </a:r>
            <a:endParaRPr lang="en-US" sz="1500" dirty="0"/>
          </a:p>
        </p:txBody>
      </p:sp>
      <p:sp>
        <p:nvSpPr>
          <p:cNvPr id="27" name="bullet dot"/>
          <p:cNvSpPr/>
          <p:nvPr/>
        </p:nvSpPr>
        <p:spPr>
          <a:xfrm>
            <a:off x="6784848" y="4160520"/>
            <a:ext cx="146304" cy="146304"/>
          </a:xfrm>
          <a:prstGeom prst="ellipse">
            <a:avLst/>
          </a:prstGeom>
          <a:solidFill>
            <a:schemeClr val="accent1"/>
          </a:solidFill>
          <a:ln w="12700">
            <a:solidFill>
              <a:schemeClr val="accent1"/>
            </a:solidFill>
            <a:prstDash val="solid"/>
          </a:ln>
        </p:spPr>
      </p:sp>
      <p:sp>
        <p:nvSpPr>
          <p:cNvPr id="28" name="Text 25"/>
          <p:cNvSpPr txBox="1"/>
          <p:nvPr/>
        </p:nvSpPr>
        <p:spPr>
          <a:xfrm>
            <a:off x="7086600" y="4069080"/>
            <a:ext cx="4282135" cy="365760"/>
          </a:xfrm>
          <a:prstGeom prst="rect">
            <a:avLst/>
          </a:prstGeom>
          <a:noFill/>
          <a:ln/>
        </p:spPr>
        <p:txBody>
          <a:bodyPr wrap="square" lIns="0" tIns="0" rIns="0" bIns="0" rtlCol="0" anchor="ctr"/>
          <a:lstStyle/>
          <a:p>
            <a:pPr indent="0" marL="0">
              <a:buNone/>
            </a:pPr>
            <a:r>
              <a:rPr lang="en-US" sz="1500" dirty="0">
                <a:solidFill>
                  <a:schemeClr val="tx1"/>
                </a:solidFill>
              </a:rPr>
              <a:t>GitOps with Argo CD</a:t>
            </a:r>
            <a:endParaRPr lang="en-US" sz="1500" dirty="0"/>
          </a:p>
        </p:txBody>
      </p:sp>
      <p:sp>
        <p:nvSpPr>
          <p:cNvPr id="29" name="bullet dot"/>
          <p:cNvSpPr/>
          <p:nvPr/>
        </p:nvSpPr>
        <p:spPr>
          <a:xfrm>
            <a:off x="6784848" y="4617720"/>
            <a:ext cx="146304" cy="146304"/>
          </a:xfrm>
          <a:prstGeom prst="ellipse">
            <a:avLst/>
          </a:prstGeom>
          <a:solidFill>
            <a:schemeClr val="accent1"/>
          </a:solidFill>
          <a:ln w="12700">
            <a:solidFill>
              <a:schemeClr val="accent1"/>
            </a:solidFill>
            <a:prstDash val="solid"/>
          </a:ln>
        </p:spPr>
      </p:sp>
      <p:sp>
        <p:nvSpPr>
          <p:cNvPr id="30" name="Text 27"/>
          <p:cNvSpPr txBox="1"/>
          <p:nvPr/>
        </p:nvSpPr>
        <p:spPr>
          <a:xfrm>
            <a:off x="7086600" y="4526280"/>
            <a:ext cx="4282135" cy="365760"/>
          </a:xfrm>
          <a:prstGeom prst="rect">
            <a:avLst/>
          </a:prstGeom>
          <a:noFill/>
          <a:ln/>
        </p:spPr>
        <p:txBody>
          <a:bodyPr wrap="square" lIns="0" tIns="0" rIns="0" bIns="0" rtlCol="0" anchor="ctr"/>
          <a:lstStyle/>
          <a:p>
            <a:pPr indent="0" marL="0">
              <a:buNone/>
            </a:pPr>
            <a:r>
              <a:rPr lang="en-US" sz="1500" dirty="0">
                <a:solidFill>
                  <a:schemeClr val="tx1"/>
                </a:solidFill>
              </a:rPr>
              <a:t>NetworkPolicy</a:t>
            </a:r>
            <a:endParaRPr lang="en-US" sz="1500" dirty="0"/>
          </a:p>
        </p:txBody>
      </p:sp>
      <p:sp>
        <p:nvSpPr>
          <p:cNvPr id="31" name="bullet dot"/>
          <p:cNvSpPr/>
          <p:nvPr/>
        </p:nvSpPr>
        <p:spPr>
          <a:xfrm>
            <a:off x="6784848" y="5074920"/>
            <a:ext cx="146304" cy="146304"/>
          </a:xfrm>
          <a:prstGeom prst="ellipse">
            <a:avLst/>
          </a:prstGeom>
          <a:solidFill>
            <a:schemeClr val="accent1"/>
          </a:solidFill>
          <a:ln w="12700">
            <a:solidFill>
              <a:schemeClr val="accent1"/>
            </a:solidFill>
            <a:prstDash val="solid"/>
          </a:ln>
        </p:spPr>
      </p:sp>
      <p:sp>
        <p:nvSpPr>
          <p:cNvPr id="32" name="Text 29"/>
          <p:cNvSpPr txBox="1"/>
          <p:nvPr/>
        </p:nvSpPr>
        <p:spPr>
          <a:xfrm>
            <a:off x="7086600" y="4983480"/>
            <a:ext cx="4282135" cy="365760"/>
          </a:xfrm>
          <a:prstGeom prst="rect">
            <a:avLst/>
          </a:prstGeom>
          <a:noFill/>
          <a:ln/>
        </p:spPr>
        <p:txBody>
          <a:bodyPr wrap="square" lIns="0" tIns="0" rIns="0" bIns="0" rtlCol="0" anchor="ctr"/>
          <a:lstStyle/>
          <a:p>
            <a:pPr indent="0" marL="0">
              <a:buNone/>
            </a:pPr>
            <a:r>
              <a:rPr lang="en-US" sz="1500" dirty="0">
                <a:solidFill>
                  <a:schemeClr val="tx1"/>
                </a:solidFill>
              </a:rPr>
              <a:t>Operators and CRDs</a:t>
            </a:r>
            <a:endParaRPr lang="en-US" sz="1500" dirty="0"/>
          </a:p>
        </p:txBody>
      </p:sp>
      <p:sp>
        <p:nvSpPr>
          <p:cNvPr id="33" name="Text 30"/>
          <p:cNvSpPr txBox="1"/>
          <p:nvPr/>
        </p:nvSpPr>
        <p:spPr>
          <a:xfrm>
            <a:off x="6766560" y="5577840"/>
            <a:ext cx="4602175" cy="457200"/>
          </a:xfrm>
          <a:prstGeom prst="rect">
            <a:avLst/>
          </a:prstGeom>
          <a:noFill/>
          <a:ln/>
        </p:spPr>
        <p:txBody>
          <a:bodyPr wrap="square" lIns="0" tIns="0" rIns="0" bIns="0" rtlCol="0" anchor="t"/>
          <a:lstStyle/>
          <a:p>
            <a:pPr indent="0" marL="0">
              <a:buNone/>
            </a:pPr>
            <a:r>
              <a:rPr lang="en-US" sz="1500" b="1" dirty="0">
                <a:solidFill>
                  <a:schemeClr val="tx2"/>
                </a:solidFill>
              </a:rPr>
              <a:t>Commit all 7 folders to GitHub and share your progress.</a:t>
            </a:r>
            <a:endParaRPr lang="en-US" sz="1500" dirty="0"/>
          </a:p>
        </p:txBody>
      </p:sp>
      <p:sp>
        <p:nvSpPr>
          <p:cNvPr id="25" name="Slide Number Placeholder 0"/>
          <p:cNvSpPr>
            <a:spLocks noGrp="1"/>
          </p:cNvSpPr>
          <p:nvPr>
            <p:ph type="sldNum" sz="quarter" idx="4294967295"/>
          </p:nvPr>
        </p:nvSpPr>
        <p:spPr>
          <a:xfrm>
            <a:off x="11094415" y="642823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731520" y="1371600"/>
            <a:ext cx="7315200" cy="365760"/>
          </a:xfrm>
          <a:prstGeom prst="rect">
            <a:avLst/>
          </a:prstGeom>
          <a:noFill/>
          <a:ln/>
        </p:spPr>
        <p:txBody>
          <a:bodyPr wrap="square" lIns="0" tIns="0" rIns="0" bIns="0" rtlCol="0" anchor="t"/>
          <a:lstStyle/>
          <a:p>
            <a:pPr indent="0" marL="0">
              <a:buNone/>
            </a:pPr>
            <a:r>
              <a:rPr lang="en-US" sz="1800" b="1" spc="500" kern="0" dirty="0">
                <a:solidFill>
                  <a:schemeClr val="accent2"/>
                </a:solidFill>
              </a:rPr>
              <a:t>WEEK 3 COMPLETE</a:t>
            </a:r>
            <a:endParaRPr lang="en-US" sz="1800" dirty="0"/>
          </a:p>
        </p:txBody>
      </p:sp>
      <p:sp>
        <p:nvSpPr>
          <p:cNvPr id="3" name="Text 0"/>
          <p:cNvSpPr/>
          <p:nvPr>
            <p:ph idx="100" type="title" hasCustomPrompt="1"/>
          </p:nvPr>
        </p:nvSpPr>
        <p:spPr>
          <a:xfrm>
            <a:off x="731520" y="2103120"/>
            <a:ext cx="10515600" cy="1188720"/>
          </a:xfrm>
          <a:prstGeom prst="rect">
            <a:avLst/>
          </a:prstGeom>
          <a:noFill/>
          <a:ln/>
        </p:spPr>
        <p:txBody>
          <a:bodyPr wrap="square" lIns="0" tIns="0" rIns="0" bIns="0" rtlCol="0" anchor="t"/>
          <a:lstStyle/>
          <a:p>
            <a:pPr algn="l" indent="0" marL="0">
              <a:buNone/>
            </a:pPr>
            <a:r>
              <a:rPr lang="en-US" sz="6000" b="1" dirty="0">
                <a:solidFill>
                  <a:schemeClr val="bg1"/>
                </a:solidFill>
              </a:rPr>
              <a:t>You can run Kubernetes.</a:t>
            </a:r>
            <a:endParaRPr lang="en-US" sz="6000" dirty="0"/>
          </a:p>
        </p:txBody>
      </p:sp>
      <p:sp>
        <p:nvSpPr>
          <p:cNvPr id="4" name="Text 2"/>
          <p:cNvSpPr txBox="1"/>
          <p:nvPr/>
        </p:nvSpPr>
        <p:spPr>
          <a:xfrm>
            <a:off x="731520" y="3657600"/>
            <a:ext cx="10058400" cy="502920"/>
          </a:xfrm>
          <a:prstGeom prst="rect">
            <a:avLst/>
          </a:prstGeom>
          <a:noFill/>
          <a:ln/>
        </p:spPr>
        <p:txBody>
          <a:bodyPr wrap="square" lIns="0" tIns="0" rIns="0" bIns="0" rtlCol="0" anchor="t"/>
          <a:lstStyle/>
          <a:p>
            <a:pPr indent="0" marL="0">
              <a:buNone/>
            </a:pPr>
            <a:r>
              <a:rPr lang="en-US" sz="2600" b="1" dirty="0">
                <a:solidFill>
                  <a:schemeClr val="accent2"/>
                </a:solidFill>
              </a:rPr>
              <a:t>Learn → Build → Break → Fix → Explain</a:t>
            </a:r>
            <a:endParaRPr lang="en-US" sz="2600" dirty="0"/>
          </a:p>
        </p:txBody>
      </p:sp>
      <p:sp>
        <p:nvSpPr>
          <p:cNvPr id="5" name="Text 3"/>
          <p:cNvSpPr txBox="1"/>
          <p:nvPr/>
        </p:nvSpPr>
        <p:spPr>
          <a:xfrm>
            <a:off x="731520" y="4297680"/>
            <a:ext cx="10058400" cy="457200"/>
          </a:xfrm>
          <a:prstGeom prst="rect">
            <a:avLst/>
          </a:prstGeom>
          <a:noFill/>
          <a:ln/>
        </p:spPr>
        <p:txBody>
          <a:bodyPr wrap="square" lIns="0" tIns="0" rIns="0" bIns="0" rtlCol="0" anchor="t"/>
          <a:lstStyle/>
          <a:p>
            <a:pPr indent="0" marL="0">
              <a:buNone/>
            </a:pPr>
            <a:r>
              <a:rPr lang="en-US" sz="2000" i="1" dirty="0">
                <a:solidFill>
                  <a:schemeClr val="bg2"/>
                </a:solidFill>
              </a:rPr>
              <a:t>Now do it again without the slides.</a:t>
            </a:r>
            <a:endParaRPr lang="en-US" sz="2000" dirty="0"/>
          </a:p>
        </p:txBody>
      </p:sp>
      <p:sp>
        <p:nvSpPr>
          <p:cNvPr id="6" name="Text 4"/>
          <p:cNvSpPr txBox="1"/>
          <p:nvPr/>
        </p:nvSpPr>
        <p:spPr>
          <a:xfrm>
            <a:off x="731520" y="5669280"/>
            <a:ext cx="7315200" cy="365760"/>
          </a:xfrm>
          <a:prstGeom prst="rect">
            <a:avLst/>
          </a:prstGeom>
          <a:noFill/>
          <a:ln/>
        </p:spPr>
        <p:txBody>
          <a:bodyPr wrap="square" lIns="0" tIns="0" rIns="0" bIns="0" rtlCol="0" anchor="t"/>
          <a:lstStyle/>
          <a:p>
            <a:pPr indent="0" marL="0">
              <a:buNone/>
            </a:pPr>
            <a:r>
              <a:rPr lang="en-US" sz="1800" dirty="0">
                <a:solidFill>
                  <a:schemeClr val="bg1"/>
                </a:solidFill>
              </a:rPr>
              <a:t>youtube.com/@Devops_jadeja</a:t>
            </a:r>
            <a:endParaRPr lang="en-US" sz="1800" dirty="0"/>
          </a:p>
        </p:txBody>
      </p:sp>
    </p:spTree>
  </p:cSld>
  <p:clrMapOvr>
    <a:masterClrMapping/>
  </p:clrMapOvr>
</p:sld>
</file>

<file path=ppt/theme/theme1.xml><?xml version="1.0" encoding="utf-8"?>
<a:theme xmlns:a="http://schemas.openxmlformats.org/drawingml/2006/main" name="Winter Arc Kubernetes">
  <a:themeElements>
    <a:clrScheme name="Winter Arc Kubernetes">
      <a:dk1>
        <a:srgbClr val="1B2640"/>
      </a:dk1>
      <a:lt1>
        <a:srgbClr val="FFFFFF"/>
      </a:lt1>
      <a:dk2>
        <a:srgbClr val="0F1F3F"/>
      </a:dk2>
      <a:lt2>
        <a:srgbClr val="EEF3FA"/>
      </a:lt2>
      <a:accent1>
        <a:srgbClr val="2F6FB5"/>
      </a:accent1>
      <a:accent2>
        <a:srgbClr val="F5C542"/>
      </a:accent2>
      <a:accent3>
        <a:srgbClr val="3FBF7F"/>
      </a:accent3>
      <a:accent4>
        <a:srgbClr val="EE8A3B"/>
      </a:accent4>
      <a:accent5>
        <a:srgbClr val="8B6FD6"/>
      </a:accent5>
      <a:accent6>
        <a:srgbClr val="5BC0EB"/>
      </a:accent6>
      <a:hlink>
        <a:srgbClr val="2F6FB5"/>
      </a:hlink>
      <a:folHlink>
        <a:srgbClr val="8B6FD6"/>
      </a:folHlink>
    </a:clrScheme>
    <a:fontScheme name="Winter Arc Kubernet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Winter Arc · Week 3 · Kubernetes on kind</dc:title>
  <dc:subject>PptxGenJS Presentation</dc:subject>
  <dc:creator>DevOps Winter Arc</dc:creator>
  <cp:lastModifiedBy>DevOps Winter Arc</cp:lastModifiedBy>
  <cp:revision>1</cp:revision>
  <dcterms:created xsi:type="dcterms:W3CDTF">2026-10-16T11:20:11Z</dcterms:created>
  <dcterms:modified xsi:type="dcterms:W3CDTF">2026-10-16T11:20:11Z</dcterms:modified>
</cp:coreProperties>
</file>